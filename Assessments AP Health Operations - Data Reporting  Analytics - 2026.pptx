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  <p:sldMasterId id="2147483680" r:id="rId5"/>
  </p:sldMasterIdLst>
  <p:notesMasterIdLst>
    <p:notesMasterId r:id="rId10"/>
  </p:notesMasterIdLst>
  <p:sldIdLst>
    <p:sldId id="339" r:id="rId6"/>
    <p:sldId id="412" r:id="rId7"/>
    <p:sldId id="413" r:id="rId8"/>
    <p:sldId id="41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72427B-86F0-42B7-B896-602D625C2217}" v="7" dt="2026-05-04T12:15:30.392"/>
    <p1510:client id="{C11266E9-611D-4947-AA67-BCA1DE23FAC0}" v="1" dt="2026-05-04T12:17:56.084"/>
    <p1510:client id="{E2C83853-5182-4DC7-885D-3E19E0E1FFE1}" v="5" dt="2026-05-04T10:51:59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, Mr Amr (Allianz Partners)" userId="750be2dd-5e12-4460-aec4-492fc7694607" providerId="ADAL" clId="{137702AF-0BA1-4093-A9CF-DE097FABFD56}"/>
    <pc:docChg chg="modSld">
      <pc:chgData name="Ahmad, Mr Amr (Allianz Partners)" userId="750be2dd-5e12-4460-aec4-492fc7694607" providerId="ADAL" clId="{137702AF-0BA1-4093-A9CF-DE097FABFD56}" dt="2026-05-04T12:15:30.418" v="160"/>
      <pc:docMkLst>
        <pc:docMk/>
      </pc:docMkLst>
      <pc:sldChg chg="addSp modSp mod">
        <pc:chgData name="Ahmad, Mr Amr (Allianz Partners)" userId="750be2dd-5e12-4460-aec4-492fc7694607" providerId="ADAL" clId="{137702AF-0BA1-4093-A9CF-DE097FABFD56}" dt="2026-05-04T12:15:30.418" v="160"/>
        <pc:sldMkLst>
          <pc:docMk/>
          <pc:sldMk cId="3817040611" sldId="412"/>
        </pc:sldMkLst>
        <pc:spChg chg="mod">
          <ac:chgData name="Ahmad, Mr Amr (Allianz Partners)" userId="750be2dd-5e12-4460-aec4-492fc7694607" providerId="ADAL" clId="{137702AF-0BA1-4093-A9CF-DE097FABFD56}" dt="2026-05-04T12:15:30.418" v="160"/>
          <ac:spMkLst>
            <pc:docMk/>
            <pc:sldMk cId="3817040611" sldId="412"/>
            <ac:spMk id="9" creationId="{978D8A96-33D8-5B89-3AC7-DBF9E557910E}"/>
          </ac:spMkLst>
        </pc:spChg>
        <pc:graphicFrameChg chg="add mod">
          <ac:chgData name="Ahmad, Mr Amr (Allianz Partners)" userId="750be2dd-5e12-4460-aec4-492fc7694607" providerId="ADAL" clId="{137702AF-0BA1-4093-A9CF-DE097FABFD56}" dt="2026-05-04T12:15:19.240" v="153"/>
          <ac:graphicFrameMkLst>
            <pc:docMk/>
            <pc:sldMk cId="3817040611" sldId="412"/>
            <ac:graphicFrameMk id="3" creationId="{E90BE6E1-B25E-33EF-05CC-A5066036EE8A}"/>
          </ac:graphicFrameMkLst>
        </pc:graphicFrameChg>
        <pc:graphicFrameChg chg="add mod">
          <ac:chgData name="Ahmad, Mr Amr (Allianz Partners)" userId="750be2dd-5e12-4460-aec4-492fc7694607" providerId="ADAL" clId="{137702AF-0BA1-4093-A9CF-DE097FABFD56}" dt="2026-05-04T12:15:23.266" v="155"/>
          <ac:graphicFrameMkLst>
            <pc:docMk/>
            <pc:sldMk cId="3817040611" sldId="412"/>
            <ac:graphicFrameMk id="7" creationId="{7595D9F3-C896-8F22-2DE1-4D445CFDCCF7}"/>
          </ac:graphicFrameMkLst>
        </pc:graphicFrameChg>
        <pc:graphicFrameChg chg="add mod">
          <ac:chgData name="Ahmad, Mr Amr (Allianz Partners)" userId="750be2dd-5e12-4460-aec4-492fc7694607" providerId="ADAL" clId="{137702AF-0BA1-4093-A9CF-DE097FABFD56}" dt="2026-05-04T12:15:27.680" v="159"/>
          <ac:graphicFrameMkLst>
            <pc:docMk/>
            <pc:sldMk cId="3817040611" sldId="412"/>
            <ac:graphicFrameMk id="8" creationId="{65750422-80A4-8167-E945-137EDB93E192}"/>
          </ac:graphicFrameMkLst>
        </pc:graphicFrameChg>
        <pc:graphicFrameChg chg="mod">
          <ac:chgData name="Ahmad, Mr Amr (Allianz Partners)" userId="750be2dd-5e12-4460-aec4-492fc7694607" providerId="ADAL" clId="{137702AF-0BA1-4093-A9CF-DE097FABFD56}" dt="2026-05-04T12:07:54.656" v="0"/>
          <ac:graphicFrameMkLst>
            <pc:docMk/>
            <pc:sldMk cId="3817040611" sldId="412"/>
            <ac:graphicFrameMk id="11" creationId="{473BA6CE-3C6C-AE31-CB10-13B85768623A}"/>
          </ac:graphicFrameMkLst>
        </pc:graphicFrameChg>
      </pc:sldChg>
    </pc:docChg>
  </pc:docChgLst>
  <pc:docChgLst>
    <pc:chgData name="Assaf, Mohamad (NEXTCARE Claims Management LLC)" userId="7853d84d-ea43-4bd5-a20a-e778561fa676" providerId="ADAL" clId="{DB7FA8E8-3D1D-4282-8381-0035F23F4273}"/>
    <pc:docChg chg="delSld modSld">
      <pc:chgData name="Assaf, Mohamad (NEXTCARE Claims Management LLC)" userId="7853d84d-ea43-4bd5-a20a-e778561fa676" providerId="ADAL" clId="{DB7FA8E8-3D1D-4282-8381-0035F23F4273}" dt="2026-05-04T12:28:41.644" v="69" actId="14100"/>
      <pc:docMkLst>
        <pc:docMk/>
      </pc:docMkLst>
      <pc:sldChg chg="modSp mod">
        <pc:chgData name="Assaf, Mohamad (NEXTCARE Claims Management LLC)" userId="7853d84d-ea43-4bd5-a20a-e778561fa676" providerId="ADAL" clId="{DB7FA8E8-3D1D-4282-8381-0035F23F4273}" dt="2026-05-04T12:28:41.644" v="69" actId="14100"/>
        <pc:sldMkLst>
          <pc:docMk/>
          <pc:sldMk cId="3817040611" sldId="412"/>
        </pc:sldMkLst>
        <pc:spChg chg="mod">
          <ac:chgData name="Assaf, Mohamad (NEXTCARE Claims Management LLC)" userId="7853d84d-ea43-4bd5-a20a-e778561fa676" providerId="ADAL" clId="{DB7FA8E8-3D1D-4282-8381-0035F23F4273}" dt="2026-05-04T12:28:41.644" v="69" actId="14100"/>
          <ac:spMkLst>
            <pc:docMk/>
            <pc:sldMk cId="3817040611" sldId="412"/>
            <ac:spMk id="9" creationId="{978D8A96-33D8-5B89-3AC7-DBF9E557910E}"/>
          </ac:spMkLst>
        </pc:spChg>
        <pc:graphicFrameChg chg="mod">
          <ac:chgData name="Assaf, Mohamad (NEXTCARE Claims Management LLC)" userId="7853d84d-ea43-4bd5-a20a-e778561fa676" providerId="ADAL" clId="{DB7FA8E8-3D1D-4282-8381-0035F23F4273}" dt="2026-05-04T12:17:56.083" v="65"/>
          <ac:graphicFrameMkLst>
            <pc:docMk/>
            <pc:sldMk cId="3817040611" sldId="412"/>
            <ac:graphicFrameMk id="11" creationId="{473BA6CE-3C6C-AE31-CB10-13B85768623A}"/>
          </ac:graphicFrameMkLst>
        </pc:graphicFrameChg>
      </pc:sldChg>
      <pc:sldChg chg="addSp modSp mod">
        <pc:chgData name="Assaf, Mohamad (NEXTCARE Claims Management LLC)" userId="7853d84d-ea43-4bd5-a20a-e778561fa676" providerId="ADAL" clId="{DB7FA8E8-3D1D-4282-8381-0035F23F4273}" dt="2026-05-04T10:48:17.266" v="9" actId="1076"/>
        <pc:sldMkLst>
          <pc:docMk/>
          <pc:sldMk cId="3823627305" sldId="413"/>
        </pc:sldMkLst>
        <pc:spChg chg="mod">
          <ac:chgData name="Assaf, Mohamad (NEXTCARE Claims Management LLC)" userId="7853d84d-ea43-4bd5-a20a-e778561fa676" providerId="ADAL" clId="{DB7FA8E8-3D1D-4282-8381-0035F23F4273}" dt="2026-05-04T10:48:00.145" v="6" actId="1076"/>
          <ac:spMkLst>
            <pc:docMk/>
            <pc:sldMk cId="3823627305" sldId="413"/>
            <ac:spMk id="3" creationId="{1F881801-1E16-1594-3590-2BE454674BC3}"/>
          </ac:spMkLst>
        </pc:spChg>
        <pc:spChg chg="add mod">
          <ac:chgData name="Assaf, Mohamad (NEXTCARE Claims Management LLC)" userId="7853d84d-ea43-4bd5-a20a-e778561fa676" providerId="ADAL" clId="{DB7FA8E8-3D1D-4282-8381-0035F23F4273}" dt="2026-05-04T10:48:08.664" v="8" actId="1076"/>
          <ac:spMkLst>
            <pc:docMk/>
            <pc:sldMk cId="3823627305" sldId="413"/>
            <ac:spMk id="6" creationId="{6706B736-EE07-D552-AD1C-05325E6F00A3}"/>
          </ac:spMkLst>
        </pc:spChg>
        <pc:graphicFrameChg chg="mod">
          <ac:chgData name="Assaf, Mohamad (NEXTCARE Claims Management LLC)" userId="7853d84d-ea43-4bd5-a20a-e778561fa676" providerId="ADAL" clId="{DB7FA8E8-3D1D-4282-8381-0035F23F4273}" dt="2026-05-04T10:48:17.266" v="9" actId="1076"/>
          <ac:graphicFrameMkLst>
            <pc:docMk/>
            <pc:sldMk cId="3823627305" sldId="413"/>
            <ac:graphicFrameMk id="7" creationId="{D5076332-F715-0296-D76D-655B643CC53A}"/>
          </ac:graphicFrameMkLst>
        </pc:graphicFrameChg>
      </pc:sldChg>
      <pc:sldChg chg="modSp mod">
        <pc:chgData name="Assaf, Mohamad (NEXTCARE Claims Management LLC)" userId="7853d84d-ea43-4bd5-a20a-e778561fa676" providerId="ADAL" clId="{DB7FA8E8-3D1D-4282-8381-0035F23F4273}" dt="2026-05-04T10:48:57.656" v="24" actId="14100"/>
        <pc:sldMkLst>
          <pc:docMk/>
          <pc:sldMk cId="1850633962" sldId="414"/>
        </pc:sldMkLst>
        <pc:spChg chg="mod">
          <ac:chgData name="Assaf, Mohamad (NEXTCARE Claims Management LLC)" userId="7853d84d-ea43-4bd5-a20a-e778561fa676" providerId="ADAL" clId="{DB7FA8E8-3D1D-4282-8381-0035F23F4273}" dt="2026-05-04T10:48:53.778" v="23" actId="114"/>
          <ac:spMkLst>
            <pc:docMk/>
            <pc:sldMk cId="1850633962" sldId="414"/>
            <ac:spMk id="9" creationId="{978D8A96-33D8-5B89-3AC7-DBF9E557910E}"/>
          </ac:spMkLst>
        </pc:spChg>
        <pc:picChg chg="mod">
          <ac:chgData name="Assaf, Mohamad (NEXTCARE Claims Management LLC)" userId="7853d84d-ea43-4bd5-a20a-e778561fa676" providerId="ADAL" clId="{DB7FA8E8-3D1D-4282-8381-0035F23F4273}" dt="2026-05-04T10:48:57.656" v="24" actId="14100"/>
          <ac:picMkLst>
            <pc:docMk/>
            <pc:sldMk cId="1850633962" sldId="414"/>
            <ac:picMk id="6" creationId="{464E4E20-DD75-5619-9EF6-822B42B955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5F603-F544-4E9E-B320-681A8354425B}" type="datetimeFigureOut">
              <a:rPr lang="en-US" smtClean="0"/>
              <a:t>04-May-2026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000863-5E2D-4CE0-AF04-44240B9FCB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4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85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rgbClr val="F86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  <a:p>
            <a:pPr lvl="0"/>
            <a:r>
              <a:rPr lang="de-DE"/>
              <a:t>Zweite Zeile</a:t>
            </a:r>
          </a:p>
        </p:txBody>
      </p:sp>
      <p:pic>
        <p:nvPicPr>
          <p:cNvPr id="12" name="Graphique 9">
            <a:extLst>
              <a:ext uri="{FF2B5EF4-FFF2-40B4-BE49-F238E27FC236}">
                <a16:creationId xmlns:a16="http://schemas.microsoft.com/office/drawing/2014/main" id="{A97719B3-82AF-4246-A4DB-D30EBB64A81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897" y="466843"/>
            <a:ext cx="2768159" cy="373268"/>
          </a:xfrm>
          <a:prstGeom prst="rect">
            <a:avLst/>
          </a:prstGeom>
        </p:spPr>
      </p:pic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2E55144F-4AAD-4811-B0A2-6225D3C7DC6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7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8800" y="2315702"/>
            <a:ext cx="11233776" cy="28876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bg1"/>
                </a:solidFill>
              </a:defRPr>
            </a:lvl1pPr>
            <a:lvl2pPr marL="0" indent="0" algn="l">
              <a:lnSpc>
                <a:spcPts val="8500"/>
              </a:lnSpc>
              <a:buNone/>
              <a:defRPr sz="8500">
                <a:solidFill>
                  <a:srgbClr val="F86000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Mastertitel</a:t>
            </a:r>
          </a:p>
          <a:p>
            <a:pPr lvl="1"/>
            <a:r>
              <a:rPr lang="de-DE"/>
              <a:t>Untertitelformat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7" name="Graphique 7">
            <a:extLst>
              <a:ext uri="{FF2B5EF4-FFF2-40B4-BE49-F238E27FC236}">
                <a16:creationId xmlns:a16="http://schemas.microsoft.com/office/drawing/2014/main" id="{97176CD5-33C7-450D-82D3-E18B1074611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04899" y="466843"/>
            <a:ext cx="2768155" cy="373268"/>
          </a:xfrm>
          <a:prstGeom prst="rect">
            <a:avLst/>
          </a:prstGeom>
        </p:spPr>
      </p:pic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80535800-474E-42EC-B398-E58D9089C21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72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4000" y="0"/>
            <a:ext cx="6858000" cy="6858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680000" cy="2400235"/>
          </a:xfrm>
        </p:spPr>
        <p:txBody>
          <a:bodyPr rIns="216000" anchor="ctr" anchorCtr="0"/>
          <a:lstStyle>
            <a:lvl1pPr algn="l">
              <a:lnSpc>
                <a:spcPts val="7000"/>
              </a:lnSpc>
              <a:defRPr sz="7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4788000"/>
            <a:ext cx="4680000" cy="562065"/>
          </a:xfrm>
        </p:spPr>
        <p:txBody>
          <a:bodyPr rIns="216000"/>
          <a:lstStyle>
            <a:lvl1pPr marL="0" indent="0" algn="l">
              <a:buNone/>
              <a:defRPr sz="1600"/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010BB3A1-81DC-451B-8834-303DDC61D1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C2200793-2927-4E26-AE27-C3EF192AC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40D1-96ED-4CFB-AC33-EC4F0668311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dirty="0"/>
              <a:t>© Copyright Allianz Partners</a:t>
            </a:r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2373E-328B-4A26-801A-A0C61300185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299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92110-7759-4818-B8AB-E43CF4F0B5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F63EA58-623B-4C98-B0B3-106149A95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84ABCF1-F66C-42C3-892B-72AE24E22D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ADF52492-D1FB-4AD1-B290-0BEEE271ACA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79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28A5C0F-76A3-4DA0-9F81-A12F1964D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C13493-086D-4789-9703-1D3FC71378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1">
            <a:extLst>
              <a:ext uri="{FF2B5EF4-FFF2-40B4-BE49-F238E27FC236}">
                <a16:creationId xmlns:a16="http://schemas.microsoft.com/office/drawing/2014/main" id="{1BA65A86-BA21-45C0-B4B4-62068C40FBA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9929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BDB62-A86B-4312-84AC-605A043A52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9D2575-F934-4AA7-8FDB-F583B1E8E3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7A1C0ECB-E7FD-4CFC-BB65-99367A5A0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475B9EC6-5A62-4E11-B641-D9FE27C2423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112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E807FE-5BC5-4806-B587-BCDD6C4B17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8D43DDA6-9E28-4292-8A58-91764D9BF3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5198EE82-8C78-45CC-88CB-8B75FA9540E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6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E807FE-5BC5-4806-B587-BCDD6C4B17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4185851"/>
            <a:ext cx="3600451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F6E1E7D-62F9-4031-8EDE-4D54A0DCE1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425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92E55E2-AF52-4C0E-A959-DF683F5CEFE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9577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34A88299-44D9-4594-9216-B685B545498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C551487E-C11A-4467-98A1-8C3C5A14A9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6" name="Datumsplatzhalter 1">
            <a:extLst>
              <a:ext uri="{FF2B5EF4-FFF2-40B4-BE49-F238E27FC236}">
                <a16:creationId xmlns:a16="http://schemas.microsoft.com/office/drawing/2014/main" id="{C88A2AE9-691E-4F92-A15C-43CCA96DF75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38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8928000" cy="6084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2000" y="1332000"/>
            <a:ext cx="2460575" cy="4752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626A08E-050C-4C68-BDE6-F1BB5A27A3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6BBE777D-AD22-4707-B245-00BD1DA67C6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889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89E36F-7715-457D-8887-3CAB56AFC0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D342ADCC-47A9-4A70-94F6-6F25959A120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03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+ head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5775" y="-1"/>
            <a:ext cx="7896225" cy="4968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2563200"/>
            <a:ext cx="3600449" cy="2404799"/>
          </a:xfrm>
        </p:spPr>
        <p:txBody>
          <a:bodyPr anchor="b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E0780CC6-0AAA-43D9-B97A-2EF6ED7D8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A2E984FF-2B48-4497-BA61-A25E0A6E4540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798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8050" y="1008001"/>
            <a:ext cx="6203950" cy="5850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168000"/>
            <a:ext cx="3600449" cy="2997850"/>
          </a:xfrm>
        </p:spPr>
        <p:txBody>
          <a:bodyPr anchor="t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DB4B0E92-1B2C-41F7-B669-32B6FD5663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0" name="Datumsplatzhalter 1">
            <a:extLst>
              <a:ext uri="{FF2B5EF4-FFF2-40B4-BE49-F238E27FC236}">
                <a16:creationId xmlns:a16="http://schemas.microsoft.com/office/drawing/2014/main" id="{E494958C-F0E4-4F87-815C-F2D1FA69D4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9128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+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2" y="1044000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5508626" cy="1439863"/>
          </a:xfrm>
        </p:spPr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176000"/>
            <a:ext cx="3816349" cy="1989850"/>
          </a:xfrm>
        </p:spPr>
        <p:txBody>
          <a:bodyPr anchor="t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838915D-D3FB-443D-B066-9871FCA0D9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40000" y="1044000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53DA06E5-3D83-444D-925F-F4A41465D64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3952" y="3582001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A4C057F-21D1-4235-9674-D17DA9EE80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40000" y="3582001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89F8AF55-CD46-430D-AC56-3428F98D0C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550862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8FA025FB-596B-4D65-B1D2-CC989A95B70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83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</a:extLst>
          </p:cNvPr>
          <p:cNvSpPr/>
          <p:nvPr userDrawn="1"/>
        </p:nvSpPr>
        <p:spPr>
          <a:xfrm>
            <a:off x="0" y="0"/>
            <a:ext cx="8112125" cy="6858000"/>
          </a:xfrm>
          <a:prstGeom prst="rect">
            <a:avLst/>
          </a:prstGeom>
          <a:solidFill>
            <a:srgbClr val="F86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E423D4-7901-4F8B-B075-3D0E7C20A6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2525" y="1808163"/>
            <a:ext cx="2940050" cy="4357687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00EDD0-042C-48C5-946C-9122C18A11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65CB8C84-525E-4B57-BAF4-5CD06402D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476250"/>
            <a:ext cx="572452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60074D28-6F6D-438C-AFA4-4023BB9ADCB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98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F86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E423D4-7901-4F8B-B075-3D0E7C20A6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94692A65-7785-472D-B2FE-69F2D8612A6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745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FADADE11-7BDB-4B7E-B253-DE5FE19B84E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413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E58946-949A-488B-8C82-A425EDC09E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EF778734-8626-472C-B8D6-61174CBC80E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7760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F6E46-F87C-4B64-99C8-86D0AD8F84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238627-407D-4004-A6C9-31955AAD8E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Datumsplatzhalter 1">
            <a:extLst>
              <a:ext uri="{FF2B5EF4-FFF2-40B4-BE49-F238E27FC236}">
                <a16:creationId xmlns:a16="http://schemas.microsoft.com/office/drawing/2014/main" id="{7F7223B5-9568-4AF1-B0C9-59F48013C54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8567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800" y="-152396"/>
            <a:ext cx="1104853" cy="937345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864DFD-E38D-49D7-BB64-174EB574BF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68A33C7-022A-46B7-AC45-09A692D08C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5610" y="1808162"/>
            <a:ext cx="7400615" cy="4357687"/>
          </a:xfrm>
        </p:spPr>
        <p:txBody>
          <a:bodyPr/>
          <a:lstStyle>
            <a:lvl1pPr>
              <a:lnSpc>
                <a:spcPts val="3800"/>
              </a:lnSpc>
              <a:spcAft>
                <a:spcPts val="3000"/>
              </a:spcAft>
              <a:defRPr sz="3800"/>
            </a:lvl1pPr>
            <a:lvl2pPr marL="0" indent="0"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0E780E-8236-45DA-A6AF-143D4C7283C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1">
            <a:extLst>
              <a:ext uri="{FF2B5EF4-FFF2-40B4-BE49-F238E27FC236}">
                <a16:creationId xmlns:a16="http://schemas.microsoft.com/office/drawing/2014/main" id="{8D6EC9CC-D8A4-4AA7-8E12-098383C9DBA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0432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767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a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8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D1BC4-FEF0-4830-B116-C4AAB3BFE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0" y="3024000"/>
            <a:ext cx="5232125" cy="2248991"/>
          </a:xfrm>
        </p:spPr>
        <p:txBody>
          <a:bodyPr/>
          <a:lstStyle>
            <a:lvl1pPr>
              <a:lnSpc>
                <a:spcPts val="3800"/>
              </a:lnSpc>
              <a:defRPr sz="3800">
                <a:solidFill>
                  <a:schemeClr val="tx1"/>
                </a:solidFill>
              </a:defRPr>
            </a:lvl1pPr>
            <a:lvl2pPr marL="0" indent="0" algn="r">
              <a:lnSpc>
                <a:spcPts val="3800"/>
              </a:lnSpc>
              <a:buNone/>
              <a:defRPr sz="3800">
                <a:solidFill>
                  <a:srgbClr val="13A0D3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1AAF74-D43E-4774-9DEC-557D0F40A2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Graphique 9">
            <a:extLst>
              <a:ext uri="{FF2B5EF4-FFF2-40B4-BE49-F238E27FC236}">
                <a16:creationId xmlns:a16="http://schemas.microsoft.com/office/drawing/2014/main" id="{4D746C93-F157-431B-BDCC-AF8993127AD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897" y="466843"/>
            <a:ext cx="2768159" cy="373268"/>
          </a:xfrm>
          <a:prstGeom prst="rect">
            <a:avLst/>
          </a:prstGeom>
        </p:spPr>
      </p:pic>
      <p:sp>
        <p:nvSpPr>
          <p:cNvPr id="12" name="Datumsplatzhalter 1">
            <a:extLst>
              <a:ext uri="{FF2B5EF4-FFF2-40B4-BE49-F238E27FC236}">
                <a16:creationId xmlns:a16="http://schemas.microsoft.com/office/drawing/2014/main" id="{ED4DC642-8621-4EAF-98BA-42CB3F81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/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022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1DF75E5-F9FE-4B14-8C90-B1BF90164CF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24691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E809D7-298E-4784-9AE3-F5FC40D204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7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B7EEF68F-5357-4EC1-854D-F85E9950B8D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34104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F40182DB-D138-4445-9088-170FAB7AB943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15739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4FD059CA-F54D-436B-83BF-7C80E05A47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77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3F0C00D3-5C3B-4DEC-B521-74B05D0D8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7955563-D116-42F8-9493-607FD96D8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18" name="Datumsplatzhalter 1">
            <a:extLst>
              <a:ext uri="{FF2B5EF4-FFF2-40B4-BE49-F238E27FC236}">
                <a16:creationId xmlns:a16="http://schemas.microsoft.com/office/drawing/2014/main" id="{3C73C8F7-FD59-4586-BBF2-F24786DECEA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804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 Copyright Allianz Partners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1AB99-4DF3-9444-A115-546B216C76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9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AE4B599-91AB-1233-CB50-C1DAEE2CFF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933103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82" imgH="282" progId="TCLayout.ActiveDocument.1">
                  <p:embed/>
                </p:oleObj>
              </mc:Choice>
              <mc:Fallback>
                <p:oleObj name="think-cell Slide" r:id="rId6" imgW="282" imgH="282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AE4B599-91AB-1233-CB50-C1DAEE2CFF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Ebenen 7 bis 9 nicht verwenden</a:t>
            </a:r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de-DE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Datumsplatzhalter 1">
            <a:extLst>
              <a:ext uri="{FF2B5EF4-FFF2-40B4-BE49-F238E27FC236}">
                <a16:creationId xmlns:a16="http://schemas.microsoft.com/office/drawing/2014/main" id="{571476DA-78A0-4E6D-A63B-291AC62E6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9985461" y="4440432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965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DFCEC5C-33BC-1016-777A-03EB52F81B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282" imgH="282" progId="TCLayout.ActiveDocument.1">
                  <p:embed/>
                </p:oleObj>
              </mc:Choice>
              <mc:Fallback>
                <p:oleObj name="think-cell Slide" r:id="rId22" imgW="282" imgH="282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DFCEC5C-33BC-1016-777A-03EB52F81B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Ebenen 7 bis 9 nicht verwenden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de-DE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Datumsplatzhalter 1">
            <a:extLst>
              <a:ext uri="{FF2B5EF4-FFF2-40B4-BE49-F238E27FC236}">
                <a16:creationId xmlns:a16="http://schemas.microsoft.com/office/drawing/2014/main" id="{B71A0F2E-4207-4C44-AFDB-889A47448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9985461" y="4445569"/>
            <a:ext cx="3384550" cy="468312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Copyright Allianz Partners</a:t>
            </a:r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99BE3-6B1F-62AE-93F9-3FDF2E56D070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4401" y="479032"/>
            <a:ext cx="1707671" cy="2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11.w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E4772D0-7A08-56CA-F608-5CFA7B7097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2" imgH="282" progId="TCLayout.ActiveDocument.1">
                  <p:embed/>
                </p:oleObj>
              </mc:Choice>
              <mc:Fallback>
                <p:oleObj name="think-cell Slide" r:id="rId4" imgW="282" imgH="282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E4772D0-7A08-56CA-F608-5CFA7B709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8">
            <a:extLst>
              <a:ext uri="{FF2B5EF4-FFF2-40B4-BE49-F238E27FC236}">
                <a16:creationId xmlns:a16="http://schemas.microsoft.com/office/drawing/2014/main" id="{76202536-4FCC-4BD6-8326-FA8A25D89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653" r="16653"/>
          <a:stretch/>
        </p:blipFill>
        <p:spPr bwMode="auto">
          <a:xfrm>
            <a:off x="5333999" y="0"/>
            <a:ext cx="685800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A06503-A281-EC01-E22F-9B3A275DCA11}"/>
              </a:ext>
            </a:extLst>
          </p:cNvPr>
          <p:cNvSpPr/>
          <p:nvPr/>
        </p:nvSpPr>
        <p:spPr>
          <a:xfrm rot="10800000">
            <a:off x="5332799" y="4236235"/>
            <a:ext cx="6858000" cy="2621762"/>
          </a:xfrm>
          <a:prstGeom prst="rect">
            <a:avLst/>
          </a:prstGeom>
          <a:gradFill flip="none" rotWithShape="1">
            <a:gsLst>
              <a:gs pos="35000">
                <a:srgbClr val="000000">
                  <a:alpha val="39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AD26D70-5616-4C05-9FA2-2E5524608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02" y="1836000"/>
            <a:ext cx="5727940" cy="2400235"/>
          </a:xfrm>
        </p:spPr>
        <p:txBody>
          <a:bodyPr vert="horz"/>
          <a:lstStyle/>
          <a:p>
            <a:pPr>
              <a:lnSpc>
                <a:spcPct val="100000"/>
              </a:lnSpc>
            </a:pPr>
            <a:r>
              <a:rPr lang="de-DE" sz="2800" b="1" dirty="0">
                <a:latin typeface="Allianz Neo" panose="020B0504020203020204" pitchFamily="34" charset="0"/>
              </a:rPr>
              <a:t>Health &amp; Benefits Operations</a:t>
            </a:r>
            <a:br>
              <a:rPr lang="de-DE" sz="2800" b="1" dirty="0">
                <a:latin typeface="Allianz Neo" panose="020B0504020203020204" pitchFamily="34" charset="0"/>
              </a:rPr>
            </a:br>
            <a:r>
              <a:rPr lang="en-US" sz="2000" b="1" dirty="0">
                <a:solidFill>
                  <a:srgbClr val="00908D"/>
                </a:solidFill>
                <a:latin typeface="Allianz Neo" panose="020B0504020203020204" pitchFamily="34" charset="0"/>
              </a:rPr>
              <a:t>Global Data &amp; Analytics Team</a:t>
            </a:r>
            <a:br>
              <a:rPr lang="en-US" sz="2000" b="1" dirty="0">
                <a:solidFill>
                  <a:srgbClr val="00908D"/>
                </a:solidFill>
                <a:latin typeface="Allianz Neo" panose="020B0504020203020204" pitchFamily="34" charset="0"/>
              </a:rPr>
            </a:br>
            <a:r>
              <a:rPr lang="en-US" sz="2000" b="1" dirty="0">
                <a:solidFill>
                  <a:srgbClr val="00908D"/>
                </a:solidFill>
                <a:latin typeface="Allianz Neo" panose="020B0504020203020204" pitchFamily="34" charset="0"/>
              </a:rPr>
              <a:t>Recruiting Assignment</a:t>
            </a:r>
            <a:endParaRPr lang="de-DE" sz="2800" b="1" dirty="0">
              <a:solidFill>
                <a:srgbClr val="00908D"/>
              </a:solidFill>
              <a:latin typeface="Allianz Neo" panose="020B0504020203020204" pitchFamily="34" charset="0"/>
            </a:endParaRP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D57B8FD9-B4C3-47DC-BF32-3A803969B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902" y="3541025"/>
            <a:ext cx="4680000" cy="2195541"/>
          </a:xfrm>
        </p:spPr>
        <p:txBody>
          <a:bodyPr/>
          <a:lstStyle/>
          <a:p>
            <a:r>
              <a:rPr lang="de-DE" sz="1800" b="1" dirty="0">
                <a:latin typeface="Allianz Neo" panose="020B0504020203020204" pitchFamily="34" charset="0"/>
              </a:rPr>
              <a:t>Roles covered:</a:t>
            </a:r>
          </a:p>
          <a:p>
            <a:r>
              <a:rPr lang="de-DE" sz="1400" dirty="0">
                <a:latin typeface="Allianz Neo" panose="020B0504020203020204" pitchFamily="34" charset="0"/>
              </a:rPr>
              <a:t>Data Intelligence Reporting Speciliast</a:t>
            </a:r>
          </a:p>
          <a:p>
            <a:r>
              <a:rPr lang="de-DE" sz="1400" dirty="0">
                <a:latin typeface="Allianz Neo" panose="020B0504020203020204" pitchFamily="34" charset="0"/>
              </a:rPr>
              <a:t>Data Intelligence Reporting Lead</a:t>
            </a:r>
          </a:p>
          <a:p>
            <a:r>
              <a:rPr lang="en-US" sz="1400" dirty="0">
                <a:latin typeface="Allianz Neo" panose="020B0504020203020204" pitchFamily="34" charset="0"/>
              </a:rPr>
              <a:t>Data Insights Analytics Specialist</a:t>
            </a:r>
          </a:p>
          <a:p>
            <a:r>
              <a:rPr lang="en-US" sz="1400" dirty="0">
                <a:latin typeface="Allianz Neo" panose="020B0504020203020204" pitchFamily="34" charset="0"/>
              </a:rPr>
              <a:t>Data Analytics &amp; Insights Lead</a:t>
            </a:r>
          </a:p>
          <a:p>
            <a:r>
              <a:rPr lang="de-DE" sz="1400" dirty="0">
                <a:latin typeface="Allianz Neo" panose="020B0504020203020204" pitchFamily="34" charset="0"/>
              </a:rPr>
              <a:t>Data Intelligence Analyst</a:t>
            </a:r>
          </a:p>
          <a:p>
            <a:r>
              <a:rPr lang="de-DE" sz="1400" dirty="0">
                <a:latin typeface="Allianz Neo" panose="020B0504020203020204" pitchFamily="34" charset="0"/>
              </a:rPr>
              <a:t>Data Analyst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C6C4A-25D7-B72F-BF59-557FA4BD1F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799" y="478023"/>
            <a:ext cx="2982779" cy="48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64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FF1A407-ED55-E27B-DF4D-08DD9E9A83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2" imgH="282" progId="TCLayout.ActiveDocument.1">
                  <p:embed/>
                </p:oleObj>
              </mc:Choice>
              <mc:Fallback>
                <p:oleObj name="think-cell Slide" r:id="rId3" imgW="282" imgH="282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FF1A407-ED55-E27B-DF4D-08DD9E9A8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A397D45-26D7-46B4-F336-1AA9E83933AD}"/>
              </a:ext>
            </a:extLst>
          </p:cNvPr>
          <p:cNvSpPr/>
          <p:nvPr/>
        </p:nvSpPr>
        <p:spPr>
          <a:xfrm>
            <a:off x="1" y="1424620"/>
            <a:ext cx="2498102" cy="4745791"/>
          </a:xfrm>
          <a:prstGeom prst="rect">
            <a:avLst/>
          </a:prstGeom>
          <a:solidFill>
            <a:srgbClr val="DFEF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B256BA-B72D-E426-BD38-1943151CC4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449F3-BD9D-48DC-BFF1-0F66671DA7C6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9A7A182-EF37-4E98-82D0-9EC00BBD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32" y="342000"/>
            <a:ext cx="11233148" cy="1079913"/>
          </a:xfrm>
        </p:spPr>
        <p:txBody>
          <a:bodyPr vert="horz"/>
          <a:lstStyle/>
          <a:p>
            <a:r>
              <a:rPr lang="de-DE" sz="3200" dirty="0"/>
              <a:t>1. Claims case study (with sample data)</a:t>
            </a:r>
            <a:endParaRPr lang="de-DE" sz="3200" dirty="0">
              <a:solidFill>
                <a:srgbClr val="00908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D8A96-33D8-5B89-3AC7-DBF9E557910E}"/>
              </a:ext>
            </a:extLst>
          </p:cNvPr>
          <p:cNvSpPr txBox="1"/>
          <p:nvPr/>
        </p:nvSpPr>
        <p:spPr>
          <a:xfrm>
            <a:off x="2708534" y="1421913"/>
            <a:ext cx="8201513" cy="21378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Using the provided raw claim data file, please provide your solution to the tasks mentioned.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Criteria of the data provided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 data is for one policy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 data contains 2 UWY’s with start date on 1</a:t>
            </a:r>
            <a:r>
              <a:rPr lang="en-US" sz="1600" baseline="30000" dirty="0">
                <a:solidFill>
                  <a:schemeClr val="bg1"/>
                </a:solidFill>
              </a:rPr>
              <a:t>st</a:t>
            </a:r>
            <a:r>
              <a:rPr lang="en-US" sz="1600" dirty="0">
                <a:solidFill>
                  <a:schemeClr val="bg1"/>
                </a:solidFill>
              </a:rPr>
              <a:t> of November.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The data is on claim level.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bg1"/>
                </a:solidFill>
              </a:rPr>
              <a:t>Create a Power BI data model from the provided Excel data, clearly identifying tables, joins, primary and foreign keys, and relationship cardinalities.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D84E670-9B0C-1CE7-07F7-F3CCC58409DA}"/>
              </a:ext>
            </a:extLst>
          </p:cNvPr>
          <p:cNvSpPr/>
          <p:nvPr/>
        </p:nvSpPr>
        <p:spPr>
          <a:xfrm>
            <a:off x="-2" y="3448321"/>
            <a:ext cx="2603319" cy="1337095"/>
          </a:xfrm>
          <a:prstGeom prst="round2Diag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01953" tIns="101953" rIns="101953" bIns="1019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Key competencies / skills being assessed:</a:t>
            </a:r>
          </a:p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Insights &amp; Investigative Analysis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Presentation &amp; Communications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Technical dashboard development 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Data Handling and Manipulations 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Attention to Detail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Problem-Solving Abilities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Knowledge of Industry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" panose="020B0604020202020204" pitchFamily="34" charset="0"/>
              <a:buChar char="•"/>
              <a:defRPr/>
            </a:pPr>
            <a:endParaRPr lang="en-US" sz="1350" b="1" dirty="0">
              <a:solidFill>
                <a:srgbClr val="FF0000"/>
              </a:solidFill>
              <a:latin typeface="Allianz Neo"/>
              <a:cs typeface="Arial"/>
            </a:endParaRPr>
          </a:p>
          <a:p>
            <a:pPr marR="0" lvl="0" algn="r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 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D37256-4780-7529-F506-667A40562E6E}"/>
              </a:ext>
            </a:extLst>
          </p:cNvPr>
          <p:cNvSpPr txBox="1"/>
          <p:nvPr/>
        </p:nvSpPr>
        <p:spPr>
          <a:xfrm>
            <a:off x="2708534" y="3664783"/>
            <a:ext cx="8814816" cy="101566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Tasks: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1- Prepare an interactive claims insights performance dashboard for this policy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2- Visualizations should highlight any abnormal findings.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3- Analyze the data to understand the high utilization reasons.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prstClr val="white"/>
                </a:solidFill>
              </a:rPr>
              <a:t>4- The visualization should contain a trend analysis.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4D134-5347-707F-2614-BEBCFBE87BB2}"/>
              </a:ext>
            </a:extLst>
          </p:cNvPr>
          <p:cNvSpPr txBox="1"/>
          <p:nvPr/>
        </p:nvSpPr>
        <p:spPr>
          <a:xfrm>
            <a:off x="2708533" y="4785416"/>
            <a:ext cx="4460017" cy="1384995"/>
          </a:xfrm>
          <a:prstGeom prst="rect">
            <a:avLst/>
          </a:prstGeom>
          <a:solidFill>
            <a:srgbClr val="002060"/>
          </a:solidFill>
        </p:spPr>
        <p:txBody>
          <a:bodyPr wrap="square" numCol="2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Format task 1: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Format task 2 &amp; 3:</a:t>
            </a:r>
          </a:p>
          <a:p>
            <a:r>
              <a:rPr lang="en-US" sz="1200" kern="0" dirty="0">
                <a:solidFill>
                  <a:prstClr val="white"/>
                </a:solidFill>
              </a:rPr>
              <a:t>Presentation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Time: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Medium: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Power BI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Max of 2 slides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15 Min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USB Stick, laptop and email ahead of interview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473BA6CE-3C6C-AE31-CB10-13B857686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940609"/>
              </p:ext>
            </p:extLst>
          </p:nvPr>
        </p:nvGraphicFramePr>
        <p:xfrm>
          <a:off x="8569067" y="515524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71525" progId="Excel.Sheet.12">
                  <p:embed/>
                </p:oleObj>
              </mc:Choice>
              <mc:Fallback>
                <p:oleObj name="Worksheet" showAsIcon="1" r:id="rId5" imgW="914400" imgH="771525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473BA6CE-3C6C-AE31-CB10-13B857686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69067" y="515524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04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FF1A407-ED55-E27B-DF4D-08DD9E9A83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2" imgH="282" progId="TCLayout.ActiveDocument.1">
                  <p:embed/>
                </p:oleObj>
              </mc:Choice>
              <mc:Fallback>
                <p:oleObj name="think-cell Slide" r:id="rId3" imgW="282" imgH="282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FF1A407-ED55-E27B-DF4D-08DD9E9A8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A397D45-26D7-46B4-F336-1AA9E83933AD}"/>
              </a:ext>
            </a:extLst>
          </p:cNvPr>
          <p:cNvSpPr/>
          <p:nvPr/>
        </p:nvSpPr>
        <p:spPr>
          <a:xfrm>
            <a:off x="1" y="1424620"/>
            <a:ext cx="2498102" cy="4745791"/>
          </a:xfrm>
          <a:prstGeom prst="rect">
            <a:avLst/>
          </a:prstGeom>
          <a:solidFill>
            <a:srgbClr val="DFEF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B256BA-B72D-E426-BD38-1943151CC4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449F3-BD9D-48DC-BFF1-0F66671DA7C6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9A7A182-EF37-4E98-82D0-9EC00BBD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32" y="342000"/>
            <a:ext cx="11233148" cy="1079913"/>
          </a:xfrm>
        </p:spPr>
        <p:txBody>
          <a:bodyPr vert="horz"/>
          <a:lstStyle/>
          <a:p>
            <a:r>
              <a:rPr lang="de-DE" sz="3200" dirty="0"/>
              <a:t>2. Helpline Dashboard (with sample data)</a:t>
            </a:r>
            <a:endParaRPr lang="de-DE" sz="3200" dirty="0">
              <a:solidFill>
                <a:srgbClr val="00908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D8A96-33D8-5B89-3AC7-DBF9E557910E}"/>
              </a:ext>
            </a:extLst>
          </p:cNvPr>
          <p:cNvSpPr txBox="1"/>
          <p:nvPr/>
        </p:nvSpPr>
        <p:spPr>
          <a:xfrm>
            <a:off x="2708534" y="1421913"/>
            <a:ext cx="9169880" cy="30019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Using the provided helpline data, please prepare a dashboard visualization addressing the below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5 to 10 data points / KPI to be displayed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Interactive Dashboard / Visualizations to display above KPIs within multiple periods / time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User should be able to filter / drill down to check data points by Hotline # (Application Name)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User should be able to filter / drill down to check data points by Queue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D84E670-9B0C-1CE7-07F7-F3CCC58409DA}"/>
              </a:ext>
            </a:extLst>
          </p:cNvPr>
          <p:cNvSpPr/>
          <p:nvPr/>
        </p:nvSpPr>
        <p:spPr>
          <a:xfrm>
            <a:off x="52607" y="3086811"/>
            <a:ext cx="2603319" cy="1337095"/>
          </a:xfrm>
          <a:prstGeom prst="round2Diag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01953" tIns="101953" rIns="101953" bIns="1019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Key competencies / skills being assessed:</a:t>
            </a:r>
          </a:p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R="0" lvl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Presentation &amp; Communications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Technical dashboard de</a:t>
            </a: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velopment 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Data Handling and Manipulations 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,Sans-Serif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Attention to Detail</a:t>
            </a: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,Sans-Serif" panose="020B0604020202020204" pitchFamily="34" charset="0"/>
              <a:buChar char="•"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indent="-285750" defTabSz="1151072">
              <a:spcBef>
                <a:spcPts val="94"/>
              </a:spcBef>
              <a:spcAft>
                <a:spcPts val="94"/>
              </a:spcAft>
              <a:buFont typeface="Arial,Sans-Serif" panose="020B0604020202020204" pitchFamily="34" charset="0"/>
              <a:buChar char="•"/>
              <a:defRPr/>
            </a:pPr>
            <a:r>
              <a:rPr lang="en-US" sz="1350" b="1" dirty="0">
                <a:solidFill>
                  <a:srgbClr val="DFEFF2">
                    <a:lumMod val="50000"/>
                  </a:srgbClr>
                </a:solidFill>
                <a:latin typeface="Allianz Neo"/>
                <a:cs typeface="Arial"/>
              </a:rPr>
              <a:t>Problem-Solving Abilities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R="0" lvl="0" algn="r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 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81801-1E16-1594-3590-2BE454674BC3}"/>
              </a:ext>
            </a:extLst>
          </p:cNvPr>
          <p:cNvSpPr txBox="1"/>
          <p:nvPr/>
        </p:nvSpPr>
        <p:spPr>
          <a:xfrm>
            <a:off x="2655926" y="3920986"/>
            <a:ext cx="3683912" cy="1005840"/>
          </a:xfrm>
          <a:prstGeom prst="rect">
            <a:avLst/>
          </a:prstGeom>
          <a:solidFill>
            <a:srgbClr val="002060"/>
          </a:solidFill>
        </p:spPr>
        <p:txBody>
          <a:bodyPr wrap="square" numCol="2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Format: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Presentation Time: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Medium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Power BI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15 Min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USB Stick, laptop and email ahead of interview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5076332-F715-0296-D76D-655B643CC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542407"/>
              </p:ext>
            </p:extLst>
          </p:nvPr>
        </p:nvGraphicFramePr>
        <p:xfrm>
          <a:off x="7737526" y="40381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71480" progId="Excel.Sheet.12">
                  <p:embed/>
                </p:oleObj>
              </mc:Choice>
              <mc:Fallback>
                <p:oleObj name="Worksheet" showAsIcon="1" r:id="rId5" imgW="914400" imgH="771480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5076332-F715-0296-D76D-655B643CC5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37526" y="40381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06B736-EE07-D552-AD1C-05325E6F00A3}"/>
              </a:ext>
            </a:extLst>
          </p:cNvPr>
          <p:cNvSpPr txBox="1"/>
          <p:nvPr/>
        </p:nvSpPr>
        <p:spPr>
          <a:xfrm>
            <a:off x="2655926" y="5436087"/>
            <a:ext cx="6953962" cy="73866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prstClr val="white"/>
                </a:solidFill>
              </a:rPr>
              <a:t>Bonus Tasks: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50" kern="0" dirty="0">
              <a:solidFill>
                <a:prstClr val="white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 dirty="0">
                <a:solidFill>
                  <a:prstClr val="white"/>
                </a:solidFill>
              </a:rPr>
              <a:t>Considering the model you have provided in the Task 1, how would you use the data provided In task 2 and 3 to build an efficiency focused productivity model.</a:t>
            </a:r>
          </a:p>
        </p:txBody>
      </p:sp>
    </p:spTree>
    <p:extLst>
      <p:ext uri="{BB962C8B-B14F-4D97-AF65-F5344CB8AC3E}">
        <p14:creationId xmlns:p14="http://schemas.microsoft.com/office/powerpoint/2010/main" val="382362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FF1A407-ED55-E27B-DF4D-08DD9E9A83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2" imgH="282" progId="TCLayout.ActiveDocument.1">
                  <p:embed/>
                </p:oleObj>
              </mc:Choice>
              <mc:Fallback>
                <p:oleObj name="think-cell Slide" r:id="rId3" imgW="282" imgH="282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FF1A407-ED55-E27B-DF4D-08DD9E9A8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A397D45-26D7-46B4-F336-1AA9E83933AD}"/>
              </a:ext>
            </a:extLst>
          </p:cNvPr>
          <p:cNvSpPr/>
          <p:nvPr/>
        </p:nvSpPr>
        <p:spPr>
          <a:xfrm>
            <a:off x="1" y="1424620"/>
            <a:ext cx="2498102" cy="4745791"/>
          </a:xfrm>
          <a:prstGeom prst="rect">
            <a:avLst/>
          </a:prstGeom>
          <a:solidFill>
            <a:srgbClr val="DFEFF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B256BA-B72D-E426-BD38-1943151CC44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449F3-BD9D-48DC-BFF1-0F66671DA7C6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9A7A182-EF37-4E98-82D0-9EC00BBD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32" y="342000"/>
            <a:ext cx="11233148" cy="1079913"/>
          </a:xfrm>
        </p:spPr>
        <p:txBody>
          <a:bodyPr vert="horz"/>
          <a:lstStyle/>
          <a:p>
            <a:r>
              <a:rPr lang="de-DE" sz="3200" dirty="0"/>
              <a:t>3. General SQL </a:t>
            </a:r>
            <a:endParaRPr lang="de-DE" sz="3200" dirty="0">
              <a:solidFill>
                <a:srgbClr val="00908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D8A96-33D8-5B89-3AC7-DBF9E557910E}"/>
              </a:ext>
            </a:extLst>
          </p:cNvPr>
          <p:cNvSpPr txBox="1"/>
          <p:nvPr/>
        </p:nvSpPr>
        <p:spPr>
          <a:xfrm>
            <a:off x="2708534" y="1421913"/>
            <a:ext cx="9169880" cy="30019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Using the fictional data-base below, please provide the following: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select statement showing staff details for staff 105, 108, 110 and 113.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select statement showing member full name, the number of orders for that member and total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 select statement showing the order details,  name and last name of the member and the order promotion if it exists.</a:t>
            </a:r>
          </a:p>
          <a:p>
            <a:r>
              <a:rPr lang="en-US" sz="1100" i="1" dirty="0">
                <a:solidFill>
                  <a:schemeClr val="bg1"/>
                </a:solidFill>
              </a:rPr>
              <a:t>* Query will be evaluated based on the optimization technique and minimum load time expected.</a:t>
            </a:r>
          </a:p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4D84E670-9B0C-1CE7-07F7-F3CCC58409DA}"/>
              </a:ext>
            </a:extLst>
          </p:cNvPr>
          <p:cNvSpPr/>
          <p:nvPr/>
        </p:nvSpPr>
        <p:spPr>
          <a:xfrm>
            <a:off x="-52608" y="1895423"/>
            <a:ext cx="2603319" cy="1337095"/>
          </a:xfrm>
          <a:prstGeom prst="round2Diag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101953" tIns="101953" rIns="101953" bIns="1019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Key competencies / skills being assessed:</a:t>
            </a:r>
          </a:p>
          <a:p>
            <a:pPr marL="0" marR="0" lvl="0" indent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R="0" lvl="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tabLst/>
              <a:defRPr/>
            </a:pPr>
            <a:endParaRPr lang="en-US" sz="1350" b="1" dirty="0">
              <a:solidFill>
                <a:srgbClr val="DFEFF2">
                  <a:lumMod val="50000"/>
                </a:srgbClr>
              </a:solidFill>
              <a:latin typeface="Allianz Neo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Technical programming &amp; coding</a:t>
            </a: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L="285750" marR="0" lvl="0" indent="-285750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llianz Neo"/>
              <a:ea typeface="+mn-ea"/>
              <a:cs typeface="Arial"/>
            </a:endParaRPr>
          </a:p>
          <a:p>
            <a:pPr marR="0" lvl="0" algn="r" defTabSz="1151072" rtl="0" eaLnBrk="1" fontAlgn="auto" latinLnBrk="0" hangingPunct="1">
              <a:lnSpc>
                <a:spcPct val="100000"/>
              </a:lnSpc>
              <a:spcBef>
                <a:spcPts val="94"/>
              </a:spcBef>
              <a:spcAft>
                <a:spcPts val="94"/>
              </a:spcAft>
              <a:buClrTx/>
              <a:buSzTx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FEFF2">
                    <a:lumMod val="50000"/>
                  </a:srgbClr>
                </a:solidFill>
                <a:effectLst/>
                <a:uLnTx/>
                <a:uFillTx/>
                <a:latin typeface="Allianz Neo"/>
                <a:ea typeface="+mn-ea"/>
                <a:cs typeface="Arial"/>
              </a:rPr>
              <a:t> </a:t>
            </a:r>
            <a:endParaRPr kumimoji="0" lang="en-US" sz="1350" b="1" i="0" u="none" strike="noStrike" kern="1200" cap="none" spc="0" normalizeH="0" baseline="0" noProof="0" dirty="0">
              <a:ln>
                <a:noFill/>
              </a:ln>
              <a:solidFill>
                <a:srgbClr val="DFEFF2">
                  <a:lumMod val="50000"/>
                </a:srgbClr>
              </a:solidFill>
              <a:effectLst/>
              <a:uLnTx/>
              <a:uFillTx/>
              <a:latin typeface="Allianz Neo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E4E20-DD75-5619-9EF6-822B42B955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535" y="3142324"/>
            <a:ext cx="5107597" cy="33440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BE933D-CFA7-F4EA-FE5C-AA1DEC612C62}"/>
              </a:ext>
            </a:extLst>
          </p:cNvPr>
          <p:cNvSpPr txBox="1"/>
          <p:nvPr/>
        </p:nvSpPr>
        <p:spPr>
          <a:xfrm>
            <a:off x="8361688" y="4704640"/>
            <a:ext cx="3683912" cy="1200329"/>
          </a:xfrm>
          <a:prstGeom prst="rect">
            <a:avLst/>
          </a:prstGeom>
          <a:solidFill>
            <a:srgbClr val="002060"/>
          </a:solidFill>
        </p:spPr>
        <p:txBody>
          <a:bodyPr wrap="square" numCol="2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Format: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Presentation Time: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Medium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 document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5 Min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USB Stick, laptop and email ahead of interview</a:t>
            </a:r>
          </a:p>
        </p:txBody>
      </p:sp>
    </p:spTree>
    <p:extLst>
      <p:ext uri="{BB962C8B-B14F-4D97-AF65-F5344CB8AC3E}">
        <p14:creationId xmlns:p14="http://schemas.microsoft.com/office/powerpoint/2010/main" val="18506339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itle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2.xml><?xml version="1.0" encoding="utf-8"?>
<a:theme xmlns:a="http://schemas.openxmlformats.org/drawingml/2006/main" name="2_Content charts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Custom 1">
      <a:majorFont>
        <a:latin typeface="Allianz Neo"/>
        <a:ea typeface=""/>
        <a:cs typeface=""/>
      </a:majorFont>
      <a:minorFont>
        <a:latin typeface="Allianz Ne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9573E116D5DB4789A6B99E54DFC48D" ma:contentTypeVersion="10" ma:contentTypeDescription="Create a new document." ma:contentTypeScope="" ma:versionID="3c3d0cb352ce860ae0e5ebdcc5871d95">
  <xsd:schema xmlns:xsd="http://www.w3.org/2001/XMLSchema" xmlns:xs="http://www.w3.org/2001/XMLSchema" xmlns:p="http://schemas.microsoft.com/office/2006/metadata/properties" xmlns:ns2="1df5227e-d0d2-4f2f-b6d7-a7666746605f" xmlns:ns3="95b6a9b7-6b38-4012-aea5-0887115bdabd" targetNamespace="http://schemas.microsoft.com/office/2006/metadata/properties" ma:root="true" ma:fieldsID="0a747945838cb38d4b276a6d80ab1a59" ns2:_="" ns3:_="">
    <xsd:import namespace="1df5227e-d0d2-4f2f-b6d7-a7666746605f"/>
    <xsd:import namespace="95b6a9b7-6b38-4012-aea5-0887115bda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f5227e-d0d2-4f2f-b6d7-a766674660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b6a9b7-6b38-4012-aea5-0887115bdab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D48C64-32BB-4F34-BDBB-655A7DD78947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95b6a9b7-6b38-4012-aea5-0887115bdabd"/>
    <ds:schemaRef ds:uri="http://schemas.openxmlformats.org/package/2006/metadata/core-properties"/>
    <ds:schemaRef ds:uri="1df5227e-d0d2-4f2f-b6d7-a7666746605f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2957A87-27BA-4E5D-B086-EC90D73255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f5227e-d0d2-4f2f-b6d7-a7666746605f"/>
    <ds:schemaRef ds:uri="95b6a9b7-6b38-4012-aea5-0887115b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FAFB95-F9BF-4545-8410-7377B56137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509</Words>
  <Application>Microsoft Office PowerPoint</Application>
  <PresentationFormat>Widescreen</PresentationFormat>
  <Paragraphs>109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Allianz Neo</vt:lpstr>
      <vt:lpstr>Aptos</vt:lpstr>
      <vt:lpstr>Arial</vt:lpstr>
      <vt:lpstr>Arial,Sans-Serif</vt:lpstr>
      <vt:lpstr>Calibri</vt:lpstr>
      <vt:lpstr>Symbol</vt:lpstr>
      <vt:lpstr>1_Title charts</vt:lpstr>
      <vt:lpstr>2_Content charts white</vt:lpstr>
      <vt:lpstr>think-cell Slide</vt:lpstr>
      <vt:lpstr>Microsoft Excel Worksheet</vt:lpstr>
      <vt:lpstr>Worksheet</vt:lpstr>
      <vt:lpstr>Health &amp; Benefits Operations Global Data &amp; Analytics Team Recruiting Assignment</vt:lpstr>
      <vt:lpstr>1. Claims case study (with sample data)</vt:lpstr>
      <vt:lpstr>2. Helpline Dashboard (with sample data)</vt:lpstr>
      <vt:lpstr>3. General SQL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Recruiting Assignment – Senior Data Analyst</dc:title>
  <dc:creator>Olga Ilunga</dc:creator>
  <cp:lastModifiedBy>Assaf, Mohamad (NEXTCARE Claims Management LLC)</cp:lastModifiedBy>
  <cp:revision>118</cp:revision>
  <dcterms:created xsi:type="dcterms:W3CDTF">2023-01-16T11:17:31Z</dcterms:created>
  <dcterms:modified xsi:type="dcterms:W3CDTF">2026-05-04T12:28:45Z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MSIP_Label_ce5f591a-3248-43e9-9b70-1ad50135772d_Enabled">
    <vt:lpwstr>true</vt:lpwstr>
  </property>
  <property fmtid="{D5CDD505-2E9C-101B-9397-08002B2CF9AE}" pid="4" name="MSIP_Label_ce5f591a-3248-43e9-9b70-1ad50135772d_SetDate">
    <vt:lpwstr>2024-04-18T06:22:13Z</vt:lpwstr>
  </property>
  <property fmtid="{D5CDD505-2E9C-101B-9397-08002B2CF9AE}" pid="5" name="MSIP_Label_ce5f591a-3248-43e9-9b70-1ad50135772d_Method">
    <vt:lpwstr>Privileged</vt:lpwstr>
  </property>
  <property fmtid="{D5CDD505-2E9C-101B-9397-08002B2CF9AE}" pid="6" name="MSIP_Label_ce5f591a-3248-43e9-9b70-1ad50135772d_Name">
    <vt:lpwstr>ce5f591a-3248-43e9-9b70-1ad50135772d</vt:lpwstr>
  </property>
  <property fmtid="{D5CDD505-2E9C-101B-9397-08002B2CF9AE}" pid="7" name="MSIP_Label_ce5f591a-3248-43e9-9b70-1ad50135772d_SiteId">
    <vt:lpwstr>6e06e42d-6925-47c6-b9e7-9581c7ca302a</vt:lpwstr>
  </property>
  <property fmtid="{D5CDD505-2E9C-101B-9397-08002B2CF9AE}" pid="8" name="MSIP_Label_ce5f591a-3248-43e9-9b70-1ad50135772d_ActionId">
    <vt:lpwstr>cd131ec1-67cf-42ad-8215-0eca5220de9b</vt:lpwstr>
  </property>
  <property fmtid="{D5CDD505-2E9C-101B-9397-08002B2CF9AE}" pid="9" name="MSIP_Label_ce5f591a-3248-43e9-9b70-1ad50135772d_ContentBits">
    <vt:lpwstr>0</vt:lpwstr>
  </property>
  <property fmtid="{D5CDD505-2E9C-101B-9397-08002B2CF9AE}" pid="10" name="ContentTypeId">
    <vt:lpwstr>0x010100449573E116D5DB4789A6B99E54DFC48D</vt:lpwstr>
  </property>
</Properties>
</file>