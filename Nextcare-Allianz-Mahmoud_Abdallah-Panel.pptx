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83" autoAdjust="0"/>
  </p:normalViewPr>
  <p:slideViewPr>
    <p:cSldViewPr snapToGrid="0" snapToObjects="1">
      <p:cViewPr varScale="1">
        <p:scale>
          <a:sx n="93" d="100"/>
          <a:sy n="93" d="100"/>
        </p:scale>
        <p:origin x="13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6945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OPENING (about 1 minute).
"Good afternoon. I'm Mahmoud Abdallah, and this is my submission for the Data Intelligence Reporting Specialist role in IPMI: two Power BI dashboards and a set of SQL queries. I'll walk the two dashboards page by </a:t>
            </a:r>
            <a:r>
              <a:rPr lang="en-US"/>
              <a:t>page - </a:t>
            </a:r>
            <a:r>
              <a:rPr lang="en-US" dirty="0"/>
              <a:t>every visual and every KPI on the page, and what it actually tells </a:t>
            </a:r>
            <a:r>
              <a:rPr lang="en-US"/>
              <a:t>us - </a:t>
            </a:r>
            <a:r>
              <a:rPr lang="en-US" dirty="0"/>
              <a:t>then the SQL from the PDF, and then it is your time."
Set expectations on time: about 20 minutes on the claims dashboard, 15 on the helpline dashboard, 10 on the SQL, and 40 minutes kept for the panel. Offer to open the live .pbix at any point.
BEFORE THIS SESSION (do not skip):
1) Task1.pbix: remove the "Top 20 Member_ID" visual-level filter from the 8 visuals it sits on (</a:t>
            </a:r>
            <a:r>
              <a:rPr lang="en-US"/>
              <a:t>Cost Concentration, </a:t>
            </a:r>
            <a:r>
              <a:rPr lang="en-US" dirty="0"/>
              <a:t>the three Trend </a:t>
            </a:r>
            <a:r>
              <a:rPr lang="en-US"/>
              <a:t>Analysis charts, </a:t>
            </a:r>
            <a:r>
              <a:rPr lang="en-US" dirty="0"/>
              <a:t>Top </a:t>
            </a:r>
            <a:r>
              <a:rPr lang="en-US"/>
              <a:t>10 Diagnoses, Interactive Centrepiece, Outliers Finder, </a:t>
            </a:r>
            <a:r>
              <a:rPr lang="en-US" dirty="0"/>
              <a:t>Claim detail table). Until then those visuals show a tenth of the book. Every number in this deck comes from the full dataset.
2) Task1.pbix: sort "Total Paid by policy month" and "The October Spike" by UWY Month No ascending (they export sorted by value).
3) Task2.pbix: hide or delete the disconnected CallID_</a:t>
            </a:r>
            <a:r>
              <a:rPr lang="en-US"/>
              <a:t>Counts table, </a:t>
            </a:r>
            <a:r>
              <a:rPr lang="en-US" dirty="0"/>
              <a:t>rename "Page 1" to "Helpline performance".
4) Re-export Task 1 to PDF and swap the interim charts on slides 8, 10, 11, 12 and 13 for the real screenshots.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AGENDA (about 1 minute).
Walk the bar: 5 minutes opening, 20 minutes on the claims dashboard (five pages, 22 visuals), 15 on the helpline dashboard (one page, nine visuals), 10 on the SQL from the PDF, and 40 minutes for the panel.
Say the method once: for every </a:t>
            </a:r>
            <a:r>
              <a:rPr lang="en-US"/>
              <a:t>visual - </a:t>
            </a:r>
            <a:r>
              <a:rPr lang="en-US" dirty="0"/>
              <a:t>what it is, what we found, what it means. Then stop and take questions before moving on. If the panel prefers to interrupt as you go, </a:t>
            </a:r>
            <a:r>
              <a:rPr lang="en-US"/>
              <a:t>agree immediately, </a:t>
            </a:r>
            <a:r>
              <a:rPr lang="en-US" dirty="0"/>
              <a:t>the 40-minute buffer makes that safe.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TASK </a:t>
            </a:r>
            <a:r>
              <a:rPr lang="en-US"/>
              <a:t>1 - </a:t>
            </a:r>
            <a:r>
              <a:rPr lang="en-US" dirty="0"/>
              <a:t>MAP (about 1 minute). Start the 20-minute block here.
Lead with the number: "Over two policy </a:t>
            </a:r>
            <a:r>
              <a:rPr lang="en-US"/>
              <a:t>years - </a:t>
            </a:r>
            <a:r>
              <a:rPr lang="en-US" dirty="0"/>
              <a:t>1 November to 31 </a:t>
            </a:r>
            <a:r>
              <a:rPr lang="en-US"/>
              <a:t>October - </a:t>
            </a:r>
            <a:r>
              <a:rPr lang="en-US" dirty="0"/>
              <a:t>we paid AED 51.3 million across about 105,000 claim lines for 3,468 covered members."
Then the five pages in the order the brief asked for: policy performance, abnormal findings, high-utilisation drivers, trend analysis, and a drill-through to the claim line. 22 visuals </a:t>
            </a:r>
            <a:r>
              <a:rPr lang="en-US"/>
              <a:t>in total, </a:t>
            </a:r>
            <a:r>
              <a:rPr lang="en-US" dirty="0"/>
              <a:t>I'll take them page by page.
Data behind it: sheet_1.xlsx, four </a:t>
            </a:r>
            <a:r>
              <a:rPr lang="en-US"/>
              <a:t>tables - </a:t>
            </a:r>
            <a:r>
              <a:rPr lang="en-US" dirty="0"/>
              <a:t>Claims (one row per claim line), Enrolment (one row per member per year), Member, </a:t>
            </a:r>
            <a:r>
              <a:rPr lang="en-US"/>
              <a:t>Provider - </a:t>
            </a:r>
            <a:r>
              <a:rPr lang="en-US" dirty="0"/>
              <a:t>plus a calendar table, a UWY table, an ICD reference and a policy reference.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PAGE </a:t>
            </a:r>
            <a:r>
              <a:rPr lang="en-US"/>
              <a:t>1 - </a:t>
            </a:r>
            <a:r>
              <a:rPr lang="en-US" dirty="0"/>
              <a:t>KPI STRIP (about 2 minutes). One card visual with six measures.
Total Paid AED </a:t>
            </a:r>
            <a:r>
              <a:rPr lang="en-US"/>
              <a:t>51.3M - </a:t>
            </a:r>
            <a:r>
              <a:rPr lang="en-US" dirty="0"/>
              <a:t>24.3M in year one, 27.0M in year two.
Claim Count 104,985 </a:t>
            </a:r>
            <a:r>
              <a:rPr lang="en-US"/>
              <a:t>lines - </a:t>
            </a:r>
            <a:r>
              <a:rPr lang="en-US" dirty="0"/>
              <a:t>103,499 claim numbers, because a claim can have more than </a:t>
            </a:r>
            <a:r>
              <a:rPr lang="en-US"/>
              <a:t>one line, </a:t>
            </a:r>
            <a:r>
              <a:rPr lang="en-US" dirty="0"/>
              <a:t>50,504 → 54,461 (+7.8%).
Covered Members </a:t>
            </a:r>
            <a:r>
              <a:rPr lang="en-US"/>
              <a:t>3,468 - </a:t>
            </a:r>
            <a:r>
              <a:rPr lang="en-US" dirty="0"/>
              <a:t>read from Enrolment, not Claims, on purpose: Enrolment has everyone who was covered, Claims only the people who claimed. In this dataset both are 3,468, but reading the wrong table would break silently the moment a member does not claim. 2,992 members in year one, 3,160 in year two.
Cost per Member AED 14,793 on the card = both years together. Per policy year: 8,113 → 8,551, up 5.4%. Split: frequency 16.9 → 17.2 claims per member (+2.1%), severity AED 481 → 496 per claim (+3.2%).
Avg TAT 23.4 </a:t>
            </a:r>
            <a:r>
              <a:rPr lang="en-US"/>
              <a:t>days - </a:t>
            </a:r>
            <a:r>
              <a:rPr lang="en-US" dirty="0"/>
              <a:t>average Total_TurnAroundTime_Days (received to settled); 25.9 in year one, 21.2 in </a:t>
            </a:r>
            <a:r>
              <a:rPr lang="en-US"/>
              <a:t>year two, </a:t>
            </a:r>
            <a:r>
              <a:rPr lang="en-US" dirty="0"/>
              <a:t>about a quarter of settled claims exceed 30 days (the SLA Breach % measure exists in the model for that).
Paid YoY +11.3</a:t>
            </a:r>
            <a:r>
              <a:rPr lang="en-US"/>
              <a:t>% - </a:t>
            </a:r>
            <a:r>
              <a:rPr lang="en-US" dirty="0"/>
              <a:t>computed against the prior </a:t>
            </a:r>
            <a:r>
              <a:rPr lang="en-US"/>
              <a:t>UWY index, </a:t>
            </a:r>
            <a:r>
              <a:rPr lang="en-US" dirty="0"/>
              <a:t>half from members, half from cost per head.
If asked why the card shows AED 15K while the slide says 8,100 and 8,550: the card has no year filter, so it is two years of paid divided by the distinct </a:t>
            </a:r>
            <a:r>
              <a:rPr lang="en-US"/>
              <a:t>members - </a:t>
            </a:r>
            <a:r>
              <a:rPr lang="en-US" dirty="0"/>
              <a:t>select a UWY in the slicer and it reads 8.1K / 8.6K.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PAGE </a:t>
            </a:r>
            <a:r>
              <a:rPr lang="en-US"/>
              <a:t>1 - </a:t>
            </a:r>
            <a:r>
              <a:rPr lang="en-US" dirty="0"/>
              <a:t>LINE CHART AND SLICERS (about 2 minutes).
Total Paid by policy month: the X axis is policy-year month number, not the calendar date. The policy year runs 1 November to 31 October, so a calendar axis would split one policy year across two calendar years and hide </a:t>
            </a:r>
            <a:r>
              <a:rPr lang="en-US"/>
              <a:t>the pattern, </a:t>
            </a:r>
            <a:r>
              <a:rPr lang="en-US" dirty="0"/>
              <a:t>renumbering November as month 1 lines both years up like-for-like. Year two is above year one in 9 of </a:t>
            </a:r>
            <a:r>
              <a:rPr lang="en-US"/>
              <a:t>12 months, </a:t>
            </a:r>
            <a:r>
              <a:rPr lang="en-US" dirty="0"/>
              <a:t>both peak in month 12 (October) and dip </a:t>
            </a:r>
            <a:r>
              <a:rPr lang="en-US"/>
              <a:t>in December, </a:t>
            </a:r>
            <a:r>
              <a:rPr lang="en-US" dirty="0"/>
              <a:t>April of year one is the lowest month at AED 1.46M and April of year two is 52% </a:t>
            </a:r>
            <a:r>
              <a:rPr lang="en-US"/>
              <a:t>higher - </a:t>
            </a:r>
            <a:r>
              <a:rPr lang="en-US" dirty="0"/>
              <a:t>that is the single biggest year-on-year gap, followed by July (+34%). Year two is below year one only in January, February and June, and only just.
Slicer panel: UWY, Year Month, Sub_Policy_Number (12 sub-policies), Provider_Type (11 types) and Dependency (Principal, Spouse, Child). They are synced across all five </a:t>
            </a:r>
            <a:r>
              <a:rPr lang="en-US"/>
              <a:t>pages - </a:t>
            </a:r>
            <a:r>
              <a:rPr lang="en-US" dirty="0"/>
              <a:t>the hidden copies on pages 2–5 are what make the whole report follow one selection.
If asked why the exported axis reads 12, 4, 1, 11…: it was sorted by value </a:t>
            </a:r>
            <a:r>
              <a:rPr lang="en-US"/>
              <a:t>when exported, </a:t>
            </a:r>
            <a:r>
              <a:rPr lang="en-US" dirty="0"/>
              <a:t>the live file is sorted by UWY Month No ascending.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PAGE </a:t>
            </a:r>
            <a:r>
              <a:rPr lang="en-US"/>
              <a:t>1 - </a:t>
            </a:r>
            <a:r>
              <a:rPr lang="en-US" dirty="0"/>
              <a:t>BENEFIT MIX AND CLAIM TYPE (about 2 minutes).
Family of Benefit: out-patient AED 35.4M (69%), in-patient 9.8M (19%), dental 3.1M (6%), optical 2.9M (6%). Every family grew 10–13% year on year, so the cost rise is broad-based. In-patient is 1.4% of claim lines but 19% of </a:t>
            </a:r>
            <a:r>
              <a:rPr lang="en-US"/>
              <a:t>spend - </a:t>
            </a:r>
            <a:r>
              <a:rPr lang="en-US" dirty="0"/>
              <a:t>average AED 6,851 per claim against AED 378 out-patient.
Claim Type: provider claims (billed directly by the network) are 86% of lines but 70% </a:t>
            </a:r>
            <a:r>
              <a:rPr lang="en-US"/>
              <a:t>of value, </a:t>
            </a:r>
            <a:r>
              <a:rPr lang="en-US" dirty="0"/>
              <a:t>member claims (reimbursements) are 14% of lines but 30% of </a:t>
            </a:r>
            <a:r>
              <a:rPr lang="en-US"/>
              <a:t>value - </a:t>
            </a:r>
            <a:r>
              <a:rPr lang="en-US" dirty="0"/>
              <a:t>AED 1,046 per claim on average, 2.6× a network claim. That is worth a look: reimbursements are where the larger, less-controlled amounts sit, and they are also the manual channel.
The '0' category and the 0.02% slice are the same 20 incomplete rows flagged on page </a:t>
            </a:r>
            <a:r>
              <a:rPr lang="en-US"/>
              <a:t>2 - </a:t>
            </a:r>
            <a:r>
              <a:rPr lang="en-US" dirty="0"/>
              <a:t>kept so the totals reconcile to the source file.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PAGE </a:t>
            </a:r>
            <a:r>
              <a:rPr lang="en-US"/>
              <a:t>2 - </a:t>
            </a:r>
            <a:r>
              <a:rPr lang="en-US" dirty="0"/>
              <a:t>KPI STRIP, OCTOBER SPIKE, AUTOMATION RATE (about 2.5 minutes).
Auto Adjudicated % 51.4%: one processing-user ID covers 53,976 of the 104,985 lines. No human processes 54,000 claims in two years, so it had to be a </a:t>
            </a:r>
            <a:r>
              <a:rPr lang="en-US"/>
              <a:t>system account, </a:t>
            </a:r>
            <a:r>
              <a:rPr lang="en-US" dirty="0"/>
              <a:t>it was flagged as Processing_Channel in Power Query so the automated-versus-manual split is reusable on every visual, including the TAT comparison.
Zero Value Claims 7,398 and Zero Value % 7.0%: lines that pay nothing but still go through the </a:t>
            </a:r>
            <a:r>
              <a:rPr lang="en-US"/>
              <a:t>pipeline - </a:t>
            </a:r>
            <a:r>
              <a:rPr lang="en-US" dirty="0"/>
              <a:t>89% of them out-patient.
The October Spike: month 12 = 5,334 and 5,566 claims versus about 4,100 and 4,450 for an average </a:t>
            </a:r>
            <a:r>
              <a:rPr lang="en-US"/>
              <a:t>month - </a:t>
            </a:r>
            <a:r>
              <a:rPr lang="en-US" dirty="0"/>
              <a:t>+30% and +25%. Paid rises 18–19%. Members using benefits before they reset on </a:t>
            </a:r>
            <a:r>
              <a:rPr lang="en-US"/>
              <a:t>1 November, </a:t>
            </a:r>
            <a:r>
              <a:rPr lang="en-US" dirty="0"/>
              <a:t>it is predictable and it repeats.
Automation Rate: 51.41% automated. Median TAT 18 days automated versus 30 manual (means 19 and 28). Automated lines average AED 249, manual AED </a:t>
            </a:r>
            <a:r>
              <a:rPr lang="en-US"/>
              <a:t>743 - </a:t>
            </a:r>
            <a:r>
              <a:rPr lang="en-US" dirty="0"/>
              <a:t>so automation covers the small, frequent claims and the manual half holds 74% of the money.
Export note: the October Spike bars are sorted by value in the PDF (October first); live they are sorted 1 → 12 so the spike sits at the right-hand 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PAGE 2 - COST CONCENTRATION, ZERO VALUE, DATA QUALITY (about 2.5 minutes).
Cost Concentration: a ranked cumulative chart (Pareto) shows the SHAPE of the risk, not just a top-10 list. Top 1% of members = 13.2% of spend, top 5% = 30%; top 10% = 42%; top 20% = 59%. The top member alone is AED 751K, the top 20 are AED 5.09M (9.9%). The Cumulative Paid % measure ranks members with ALLSELECTED so the curve respects the slicers.
IMPORTANT: the exported visual still carries a 'Top 20 Member_ID' filter, which is why its line reaches 100% after 20 members. Remove the filter and re-export before the session, this slide shows the full-dataset curve in the meantime.
Zero Value Claims by benefit: 6,557 out-patient, 386 dental, 261 optical, 179 in-patient, 15 in the '0' bucket.
Data Quality Table: 104,965 complete + 20 incomplete = 104,985, matching the source file. The 20 rows are kept, not deleted, so the totals reconcile and the issue can go back to the data owner.
If asked about declined claims: Declined_Reasons is null on every complete row, so there is nothing to analyse on declines in this extract.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PAGE 3 - INTERACTIVE CENTREPIECE (about 2 minutes).
The decomposition tree analyses Total Paid and lets the reader expand by Family of Benefit, ICD chapter, ICD description and Provider type, Cumulative Paid % sits in the tooltip. Walk one path live if you can: Total 51.3M → Out-Patient 35.4M → chapter M (musculoskeletal) 8.55M → Low back pain 2.63M → Polyclinic 2.37M.
Other branches worth knowing: out-patient chapters after M are R (symptoms and signs, 4.94M), J (respiratory, 4.20M), E (endocrine, incl. diabetes, 3.47M), I (circulatory, 1.86M). In-patient: J 1.47M, O (pregnancy and childbirth) 1.14M, I 1.08M, K (digestive) 1.05M. Provider type overall: Hospital 20.5M, Polyclinic 18.3M, Pharmacy 8.5M, Optometry 2.6M, Dental centre 1.1M.
Back and neck pain together (M54.5 + M54.2): AED 4.56M, 8.9% of spend, +38% year on year, average claim AED 1,128 - three times a normal out-patient claim - 2,524 + 1,513 lines, 73% manual. This is where the physiotherapy review-step recommendation comes from.
IMPORTANT: in the exported PDF the tree root reads AED 5.09M because of the Top-10 filter, remove it before the session and the root reads AED 51.3M. Every number on this slide is from the full dataset.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PAGE </a:t>
            </a:r>
            <a:r>
              <a:rPr lang="en-US"/>
              <a:t>3 - </a:t>
            </a:r>
            <a:r>
              <a:rPr lang="en-US" dirty="0"/>
              <a:t>OUTLIERS FINDER AND THE OUTLIER CARD (about 2 minutes).
Outliers Finder: one bubble per </a:t>
            </a:r>
            <a:r>
              <a:rPr lang="en-US"/>
              <a:t>ICD description, </a:t>
            </a:r>
            <a:r>
              <a:rPr lang="en-US" dirty="0"/>
              <a:t>X = claims per member (Claim Count / Claimants), Y = paid per member (Total Paid / Claimants), bubble size = members affected. The reader looks at two corners.
Severity corner (top-left): multiple myeloma AED 368K per member (1 member, 39 claims); primary pulmonary hypertension 330K (1 member, 3 claims); acute lymphoblastic leukaemia 250K (1 member, 9 claims); secondary pulmonary </a:t>
            </a:r>
            <a:r>
              <a:rPr lang="en-US"/>
              <a:t>hypertension 230K, </a:t>
            </a:r>
            <a:r>
              <a:rPr lang="en-US" dirty="0"/>
              <a:t>thoracolumbar scoliosis 124K (2 members); acromegaly 117K.
Frequency corner (bottom-right): sarcoidosis of lung 74 claims </a:t>
            </a:r>
            <a:r>
              <a:rPr lang="en-US"/>
              <a:t>per member, </a:t>
            </a:r>
            <a:r>
              <a:rPr lang="en-US" dirty="0"/>
              <a:t>other lack of coordination 74 (5 members, 368 claims); chronic / episodic cluster headache 63 </a:t>
            </a:r>
            <a:r>
              <a:rPr lang="en-US"/>
              <a:t>and 59, </a:t>
            </a:r>
            <a:r>
              <a:rPr lang="en-US" dirty="0"/>
              <a:t>mixed receptive-expressive language disorder 51 (6 members); delayed milestone in childhood 42 (20 members, 834 claims, AED 1.13M).
Cross-referenced against ICD chapter: F/R developmental codes cluster separately from C oncology </a:t>
            </a:r>
            <a:r>
              <a:rPr lang="en-US"/>
              <a:t>codes - </a:t>
            </a:r>
            <a:r>
              <a:rPr lang="en-US" dirty="0"/>
              <a:t>two distinct groups, which is why the slides call them two clusters.
The Most Common Outlier Detected card: DAX scores every diagnosis as claims-per-member ÷ max + paid-per-member ÷ max and returns the top </a:t>
            </a:r>
            <a:r>
              <a:rPr lang="en-US"/>
              <a:t>one - </a:t>
            </a:r>
            <a:r>
              <a:rPr lang="en-US" dirty="0"/>
              <a:t>multiple myeloma. Same answer on the full data.
If asked "what would you do with the outliers": case management for the severity corner (few people, very high cost), a session-count review step for the frequency corner (therapy programmes).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PAGE 3 - TOP 10 DIAGNOSES AND DEMOGRAPHICS (about 2 minutes).
Top 10 Diagnoses, full data: low back pain AED 2.64M (5.1%), cervicalgia 1.92M (3.7%), delayed milestone in childhood 1.13M (2.2%), acute upper respiratory infection 1.05M, essential hypertension 1.00M, other disorders of refraction 1.00M, dental caries 0.89M, acute bronchitis 0.76M, bilateral myopia 0.68M, fever 0.65M. Severity (AED per claim): delayed milestone 1,350, cervicalgia 1,268, low back pain 1,045, refraction 873, myopia 768, caries 739, hypertension 412, bronchitis 217, fever 195, URTI 176.
Read: two kinds of cost - expensive-per-visit programmes (therapy, physio) and cheap-but-constant primary care (URTI 5,958 claims, bronchitis 3,509, fever 3,327).
IMPORTANT: the exported chart shows 'Delayed milestone in childhood' first only because of the Top-10 filter, on the full data it is low back pain. Fix before the session.
Demographics table (unaffected by the filter): Child F 25.5 / AED 8,605, Child M 26.4 / 11,043, Principal F 36.6 / 22,671, Principal M 29.9 / 15,780, Spouse F 37.1 / 19,559, Spouse M 33.4 / 20,006 (36 members only); total 30.3 / 14,793. Principal males are 1,321 of the 3,468 members and AED 20.8M of spend, children are 1,247 members and AED 12.3M.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PAGE 4 - KPI TILES AND THE SPLIT-BY-UWY LINE (about 2 minutes).
The five KPI visuals each carry Total Paid as the indicator with a category column as the trend axis: Family_of_Benefit (shows Out-Patient AED 35.4M), Provider_Type (Third Party Assistance Companies - AED 367, one claim), Provider_Network (Network_7 AED 2.6M, 5.1%; Network_3 is the largest at 41%, Network_5 24%, Network_1 20%), Dependency (Spouse AED 14.1M, 27%), Emergency (Yes AED 3.0M, 5.9%, 2,295 claims).
Be honest if asked about the "goal" shown on each tile: it is a count of the category column - a placeholder - so the +37,678% style variance means nothing. The fix is a real target measure (budget, or prior UWY paid) or removing the goal.
Total Paid by UWY Month No split by UWY: the same numbers as the page-1 line, but as overlapping areas so the year-two gap is visible: above year one in 9 of 12 months, April +52%, July +34%; slightly below in January, February and June, both peak in October.
IMPORTANT: the exported chart tops out at AED 0.61M because of the Top-10 filter (a tenth of the book) - fix before the session.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PAGE 4 - COST PER MEMBER TREND AND TAT BY SETTLEMENT MONTH (about 2 minutes).
Cost per Member with trend line: on the page it is daily - Total Paid on that date divided by covered members - so it is spiky by design, each spike is a large in-patient event landing on one date (largest day AED 388K on 14 Feb 2024, 10 Jul 2025 AED 349K, 27 Feb 2025 AED 290K, median day AED 66K). Monthly, cost per member is AED 490–840, year two is higher in 8 of 12 months and peaks in October (836) and November (791).
Average Turnaround time Days by settlement month: the measure uses USERELATIONSHIP to switch the calendar to Settled_Date, so this is 'how long did the claims we closed that month take'. Year one 25.0 days on average with peaks at 36.6 (April) and 33.3 (August); year two 22.4 days, in a 19–29 band. Run-off after October 2025: 5,375 claims at 23.9 days. Faster and steadier, driven by the automated half (median 18 days).
IMPORTANT: both exported charts carry the Top-10 filter (year-one values of AED 16.9K per member per day are 20 members' claims divided by 20). Fix before the session, this slide shows monthly full-dataset series in the meantime.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PAGE </a:t>
            </a:r>
            <a:r>
              <a:rPr lang="en-US"/>
              <a:t>5 - </a:t>
            </a:r>
            <a:r>
              <a:rPr lang="en-US" dirty="0"/>
              <a:t>CLAIM DETAIL DRILL-THROUGH (about 1.5 minutes).
A drill-through page bound to three </a:t>
            </a:r>
            <a:r>
              <a:rPr lang="en-US"/>
              <a:t>fields - </a:t>
            </a:r>
            <a:r>
              <a:rPr lang="en-US" dirty="0"/>
              <a:t>ICD_Description, Member_ID and Provider_</a:t>
            </a:r>
            <a:r>
              <a:rPr lang="en-US"/>
              <a:t>ID - </a:t>
            </a:r>
            <a:r>
              <a:rPr lang="en-US" dirty="0"/>
              <a:t>so any bar, bubble or table row on pages 1–4 can be right-clicked to open the claim lines behind it. Nine columns: Count of Claim_Line_Key, Claim_Number, Member_ID, Provider_ID, ICD_Description, Claim_Value, Sum of Total_TurnAroundTime_Days, Value_Band, Processing_Channel.
The export shows the drill from 'Delayed milestone in childhood': 834 lines, 20 members, all Manual, AED 26–5,000 per line, 3,991 turnaround days in total (4.8 days per </a:t>
            </a:r>
            <a:r>
              <a:rPr lang="en-US"/>
              <a:t>line - </a:t>
            </a:r>
            <a:r>
              <a:rPr lang="en-US" dirty="0"/>
              <a:t>these are fast, repetitive out-patient sessions). Low back pain drill: 2,524 lines, 695 members, 449 providers, median AED 406, average 1,045, 73% manual, 15.5 days average TAT.
Use in the interview: this is the list a case manager or a provider auditor would actually work from. Say the column name Total_TurnAroundTime_Days as it 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TASK </a:t>
            </a:r>
            <a:r>
              <a:rPr lang="en-US"/>
              <a:t>1 - </a:t>
            </a:r>
            <a:r>
              <a:rPr lang="en-US" dirty="0"/>
              <a:t>RECOMMENDATIONS (about 1 minute, then take questions before Task 2).
1. Review step on physio and long-running therapy after a few </a:t>
            </a:r>
            <a:r>
              <a:rPr lang="en-US"/>
              <a:t>sessions - </a:t>
            </a:r>
            <a:r>
              <a:rPr lang="en-US" dirty="0"/>
              <a:t>from the decomposition tree (M chapter, back/neck pain AED 4.6M, +38%) and the frequency corner of the outliers scatter (developmental therapy, +15%).
2. Case manager for the highest-cost </a:t>
            </a:r>
            <a:r>
              <a:rPr lang="en-US"/>
              <a:t>members - </a:t>
            </a:r>
            <a:r>
              <a:rPr lang="en-US" dirty="0"/>
              <a:t>from the Pareto (top 1% = 13%) and the severity corner of </a:t>
            </a:r>
            <a:r>
              <a:rPr lang="en-US"/>
              <a:t>the scatter, </a:t>
            </a:r>
            <a:r>
              <a:rPr lang="en-US" dirty="0"/>
              <a:t>page 5 is the hand-over list.
3. October pricing and benefit design before </a:t>
            </a:r>
            <a:r>
              <a:rPr lang="en-US"/>
              <a:t>renewal - </a:t>
            </a:r>
            <a:r>
              <a:rPr lang="en-US" dirty="0"/>
              <a:t>from the October Spike (+25–30% claims, +18–19% paid).
Say the limitation out loud: no premium or benefit-limit fields, so no loss ratio yet. Two more things the pages suggest: put a real target on the page-4 </a:t>
            </a:r>
            <a:r>
              <a:rPr lang="en-US"/>
              <a:t>KPI tiles, </a:t>
            </a:r>
            <a:r>
              <a:rPr lang="en-US" dirty="0"/>
              <a:t>and look at the reimbursement </a:t>
            </a:r>
            <a:r>
              <a:rPr lang="en-US"/>
              <a:t>channel - </a:t>
            </a:r>
            <a:r>
              <a:rPr lang="en-US" dirty="0"/>
              <a:t>14% of claims, 30% of paid, average AED 1,046.
Then: "That's the claims </a:t>
            </a:r>
            <a:r>
              <a:rPr lang="en-US"/>
              <a:t>dashboard - </a:t>
            </a:r>
            <a:r>
              <a:rPr lang="en-US" dirty="0"/>
              <a:t>happy to open the live file or take questions now before I move to the helpline."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TASK </a:t>
            </a:r>
            <a:r>
              <a:rPr lang="en-US"/>
              <a:t>2 - </a:t>
            </a:r>
            <a:r>
              <a:rPr lang="en-US" dirty="0"/>
              <a:t>MAP (about 1 minute). Start the 15-minute block.
Open with the number: "36,872 calls offered over nine days, about 29,000 handled, 21.7% abandoned. One in five callers hung up before we </a:t>
            </a:r>
            <a:r>
              <a:rPr lang="en-US"/>
              <a:t>answered - </a:t>
            </a:r>
            <a:r>
              <a:rPr lang="en-US" dirty="0"/>
              <a:t>and it isn't spread evenly."
One page, nine visuals, built to the brief: six KPIs on the strip (brief asked for 5–10); several time </a:t>
            </a:r>
            <a:r>
              <a:rPr lang="en-US"/>
              <a:t>frames - </a:t>
            </a:r>
            <a:r>
              <a:rPr lang="en-US" dirty="0"/>
              <a:t>hour of day, day of week, date, and a day × </a:t>
            </a:r>
            <a:r>
              <a:rPr lang="en-US"/>
              <a:t>hour matrix, </a:t>
            </a:r>
            <a:r>
              <a:rPr lang="en-US" dirty="0"/>
              <a:t>and the two drill-downs asked </a:t>
            </a:r>
            <a:r>
              <a:rPr lang="en-US"/>
              <a:t>for - </a:t>
            </a:r>
            <a:r>
              <a:rPr lang="en-US" dirty="0"/>
              <a:t>Hotline # (Application Name) and Queue </a:t>
            </a:r>
            <a:r>
              <a:rPr lang="en-US"/>
              <a:t>Name - </a:t>
            </a:r>
            <a:r>
              <a:rPr lang="en-US" dirty="0"/>
              <a:t>as slicer buttons that every visual responds to.
Data: sheet_2.xlsx, 36,991 rows, one row per call leg, 1–9 </a:t>
            </a:r>
            <a:r>
              <a:rPr lang="en-US"/>
              <a:t>January 2023, </a:t>
            </a:r>
            <a:r>
              <a:rPr lang="en-US" dirty="0"/>
              <a:t>DataTable as the fact plus a DateTable and a TimeTable, and a Measurements table for the DAX.</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HELPLINE - </a:t>
            </a:r>
            <a:r>
              <a:rPr lang="en-US" dirty="0"/>
              <a:t>KPI STRIP (about 2 minutes). One card visual, six measures.
Calls Offered </a:t>
            </a:r>
            <a:r>
              <a:rPr lang="en-US"/>
              <a:t>36,872 - </a:t>
            </a:r>
            <a:r>
              <a:rPr lang="en-US" dirty="0"/>
              <a:t>DISTINCTCOUNT of the call identifier ('Node ID - Session ID - Sequence Number'), not a row count. 117 calls were transferred between agents and appear as </a:t>
            </a:r>
            <a:r>
              <a:rPr lang="en-US"/>
              <a:t>two rows, </a:t>
            </a:r>
            <a:r>
              <a:rPr lang="en-US" dirty="0"/>
              <a:t>counting rows would inflate callers by 119. The difference (36,991 rows vs 36,872) is the proof the de-duplication works. No Is_Transfer_Leg column </a:t>
            </a:r>
            <a:r>
              <a:rPr lang="en-US"/>
              <a:t>exists - </a:t>
            </a:r>
            <a:r>
              <a:rPr lang="en-US" dirty="0"/>
              <a:t>the de-duplication is purely the measure.
Calls Handled 28,864 (78.3</a:t>
            </a:r>
            <a:r>
              <a:rPr lang="en-US"/>
              <a:t>%) - </a:t>
            </a:r>
            <a:r>
              <a:rPr lang="en-US" dirty="0"/>
              <a:t>120 distinct agent extensions, about 240 handled calls each.
Abandonment Rate 21.7</a:t>
            </a:r>
            <a:r>
              <a:rPr lang="en-US"/>
              <a:t>% - </a:t>
            </a:r>
            <a:r>
              <a:rPr lang="en-US" dirty="0"/>
              <a:t>8,008 callers. Abandoned callers waited a median of 75 seconds before hanging up (from Queue_Time); handled callers were answered in a median of 8 seconds.
Service Level 20s 50.3</a:t>
            </a:r>
            <a:r>
              <a:rPr lang="en-US"/>
              <a:t>% - </a:t>
            </a:r>
            <a:r>
              <a:rPr lang="en-US" dirty="0"/>
              <a:t>handled within 20 seconds ÷ offered. Hotline #1 52%, Hotline #3 39%.
ASA 42 </a:t>
            </a:r>
            <a:r>
              <a:rPr lang="en-US"/>
              <a:t>seconds - </a:t>
            </a:r>
            <a:r>
              <a:rPr lang="en-US" dirty="0"/>
              <a:t>average queue time of </a:t>
            </a:r>
            <a:r>
              <a:rPr lang="en-US"/>
              <a:t>handled calls, </a:t>
            </a:r>
            <a:r>
              <a:rPr lang="en-US" dirty="0"/>
              <a:t>median 8 s, p90 126 s.
AHT 215 </a:t>
            </a:r>
            <a:r>
              <a:rPr lang="en-US"/>
              <a:t>seconds - </a:t>
            </a:r>
            <a:r>
              <a:rPr lang="en-US" dirty="0"/>
              <a:t>talk 177 + hold 35 + work 3. Both ASA and AHT filter to handled calls only: an abandoned caller has no handle time, and including them would understate the service once connected.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HELPLINE - </a:t>
            </a:r>
            <a:r>
              <a:rPr lang="en-US" dirty="0"/>
              <a:t>CALLS BY HOUR (about 3 minutes). The most important helpline visual.
Read the columns: volume builds from 8 am (604), 9 am (1,320), 10 am (2,169), then 2,500–3,000 an hour from 11 am to 8 pm, then 1,932 at 9 pm, 1,029 at 10 pm, 610 at 11 pm.
Read the line: 19–22% through </a:t>
            </a:r>
            <a:r>
              <a:rPr lang="en-US"/>
              <a:t>business hours, </a:t>
            </a:r>
            <a:r>
              <a:rPr lang="en-US" dirty="0"/>
              <a:t>24.8% at 8 pm, 26.5% at 9 pm, 31.1% at 10 pm, 43.4% at 11 pm.
6–11 pm: 12,014 calls (33%) and 2,932 abandons (37%). 8–11 pm alone: 6,358 calls at 28% abandonment.
Small hours (midnight to 7 am): 89–271 calls an </a:t>
            </a:r>
            <a:r>
              <a:rPr lang="en-US"/>
              <a:t>hour - </a:t>
            </a:r>
            <a:r>
              <a:rPr lang="en-US" dirty="0"/>
              <a:t>the 30% at 6 am is 27 abandons on </a:t>
            </a:r>
            <a:r>
              <a:rPr lang="en-US"/>
              <a:t>89 calls, </a:t>
            </a:r>
            <a:r>
              <a:rPr lang="en-US" dirty="0"/>
              <a:t>do not over-read it.
Data prep, only if asked: the timestamp arrived as text ('Mon Jan 09 00:00:33 GST 2023'); converting it directly produced 36,991 errors, so it was parsed with custom M code before an Hour column existed.
The read: timing, not headcount. Recommendation 1 comes from here.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HELPLINE - </a:t>
            </a:r>
            <a:r>
              <a:rPr lang="en-US" dirty="0"/>
              <a:t>DAY OF WEEK AND HOTLINE (about 3 minutes).
Day of week (as submitted): "Mondays are almost double any other </a:t>
            </a:r>
            <a:r>
              <a:rPr lang="en-US"/>
              <a:t>day - </a:t>
            </a:r>
            <a:r>
              <a:rPr lang="en-US" dirty="0"/>
              <a:t>9,500 calls versus roughly 4,000 to 5,000 the rest of the week." Monday abandonment 21%, no better than average. Also visible: Friday is the quietest day (3,493) but the worst abandonment (26%). Day names sort alphabetically </a:t>
            </a:r>
            <a:r>
              <a:rPr lang="en-US"/>
              <a:t>by default, </a:t>
            </a:r>
            <a:r>
              <a:rPr lang="en-US" dirty="0"/>
              <a:t>a hidden Day Number column is the sort-by column so the axis reads Monday → Sunday.
</a:t>
            </a:r>
            <a:r>
              <a:rPr lang="en-US"/>
              <a:t>IMPORTANT - </a:t>
            </a:r>
            <a:r>
              <a:rPr lang="en-US" dirty="0"/>
              <a:t>BE READY FOR THIS QUESTION. The nine days run Sunday 1 Jan to Monday 9 Jan 2023, so the window contains TWO Mondays (Jan 2</a:t>
            </a:r>
            <a:r>
              <a:rPr lang="en-US"/>
              <a:t>: 4,433, </a:t>
            </a:r>
            <a:r>
              <a:rPr lang="en-US" dirty="0"/>
              <a:t>Jan 9: 5,047) and TWO Sundays (Jan 1: </a:t>
            </a:r>
            <a:r>
              <a:rPr lang="en-US"/>
              <a:t>1,572 - </a:t>
            </a:r>
            <a:r>
              <a:rPr lang="en-US" dirty="0"/>
              <a:t>New </a:t>
            </a:r>
            <a:r>
              <a:rPr lang="en-US"/>
              <a:t>Year's Day, </a:t>
            </a:r>
            <a:r>
              <a:rPr lang="en-US" dirty="0"/>
              <a:t>Jan 8: 3,730). The 9,500 is two Mondays </a:t>
            </a:r>
            <a:r>
              <a:rPr lang="en-US"/>
              <a:t>added together, </a:t>
            </a:r>
            <a:r>
              <a:rPr lang="en-US" dirty="0"/>
              <a:t>per Monday it is about 4,750, in line with Tuesday–Thursday (4,560–4,820). If a panellist raises it, own it in one sentence: "</a:t>
            </a:r>
            <a:r>
              <a:rPr lang="en-US"/>
              <a:t>Correct - </a:t>
            </a:r>
            <a:r>
              <a:rPr lang="en-US" dirty="0"/>
              <a:t>the day-of-week view sums </a:t>
            </a:r>
            <a:r>
              <a:rPr lang="en-US"/>
              <a:t>two Mondays, </a:t>
            </a:r>
            <a:r>
              <a:rPr lang="en-US" dirty="0"/>
              <a:t>per day, weekdays are flat at about 4,500–4,800 and Friday and Sunday are lighter. Nine days can't separate a real weekly pattern from one specific week, which is exactly why the recommendation says extend beyond nine days." Then move on. The evening-window finding is unaffected.
Hotline: #1 30,820 calls (83.6%), abandonment 19.5%, ASA 41 s, AHT 206 s, SL20 52%. #3 5,978 (16.2%), abandonment 33.5%, ASA 50 s, AHT 269 s, SL20 39</a:t>
            </a:r>
            <a:r>
              <a:rPr lang="en-US"/>
              <a:t>% - </a:t>
            </a:r>
            <a:r>
              <a:rPr lang="en-US" dirty="0"/>
              <a:t>worse on </a:t>
            </a:r>
            <a:r>
              <a:rPr lang="en-US"/>
              <a:t>every measure, </a:t>
            </a:r>
            <a:r>
              <a:rPr lang="en-US" dirty="0"/>
              <a:t>worth its own look. #2 74 distinct calls (76 rows</a:t>
            </a:r>
            <a:r>
              <a:rPr lang="en-US"/>
              <a:t>) - </a:t>
            </a:r>
            <a:r>
              <a:rPr lang="en-US" dirty="0"/>
              <a:t>too small. Each hotline is split about evenly across Member, Payer and Provider queues, so the hotline difference is not a queue-mix effect.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HELPLINE - </a:t>
            </a:r>
            <a:r>
              <a:rPr lang="en-US" dirty="0"/>
              <a:t>QUEUE TABLE, SLICERS, HEAT MAP (about 3 minutes).
Queue performance table: Member Line 12,309 offered / 9,613 handled / 2,696 abandoned / ASA 42 / AHT 213 / SL 49.7%; Payer Line 12,292 / 9,658 / 2,634 / 41 / 214 / 50.5%; Provider Line 12,352 / 9,674 / 2,678 / 43 / 217 / 50.2%; total 36,872 / 28,864 / 8,008 / 42 / 215 / 50.3%. The three queues are as alike as three queues can </a:t>
            </a:r>
            <a:r>
              <a:rPr lang="en-US"/>
              <a:t>be - </a:t>
            </a:r>
            <a:r>
              <a:rPr lang="en-US" dirty="0"/>
              <a:t>so nothing about a particular queue's process explains the abandonment. That rules out one hypothesis and points at timing.
Slicer buttons: Queue Name and Application Name (the brief's 'Hotline #'). Everything on the page responds. Demo: click Hotline #3 → abandonment 33.5%, SL20 39%; click Payer Line → nothing changes.
Heat map: rows Monday–Sunday, columns 0–23, value = Abandonment Rate. Reading rules: only trust cells with real volume. Worst cells with ≥150 calls: Thu 22h 39% (190 calls), Fri 21h 35% (192), Tue 21h 33% (283), Tue 20h 33% (436), Sat 20h 30% (395), Mon 22h 30% (240). Daytime cells 15–25% every day. Cells like Thursday 23h 74% or Tuesday 5–6 am 42–56% sit on under 100 </a:t>
            </a:r>
            <a:r>
              <a:rPr lang="en-US"/>
              <a:t>calls - </a:t>
            </a:r>
            <a:r>
              <a:rPr lang="en-US" dirty="0"/>
              <a:t>ignore them. Every day is red after 8 </a:t>
            </a:r>
            <a:r>
              <a:rPr lang="en-US"/>
              <a:t>pm - </a:t>
            </a:r>
            <a:r>
              <a:rPr lang="en-US" dirty="0"/>
              <a:t>that is what makes the evening finding robust even on nine days.
Export note: the heat map is cut off at hour 14 in the PDF because of the </a:t>
            </a:r>
            <a:r>
              <a:rPr lang="en-US"/>
              <a:t>visual's width, </a:t>
            </a:r>
            <a:r>
              <a:rPr lang="en-US" dirty="0"/>
              <a:t>in the live file it scrolls to 23.</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HELPLINE - </a:t>
            </a:r>
            <a:r>
              <a:rPr lang="en-US" dirty="0"/>
              <a:t>AHT vs ASA BY DATE (about 2 minutes).
AHT (navy): 198, 218, 213, 228, 216, 225, 205, 187, 227 </a:t>
            </a:r>
            <a:r>
              <a:rPr lang="en-US"/>
              <a:t>seconds - </a:t>
            </a:r>
            <a:r>
              <a:rPr lang="en-US" dirty="0"/>
              <a:t>a </a:t>
            </a:r>
            <a:r>
              <a:rPr lang="en-US"/>
              <a:t>flat band, </a:t>
            </a:r>
            <a:r>
              <a:rPr lang="en-US" dirty="0"/>
              <a:t>agents handle calls the same way every day.
ASA (green): 10, 32, 42, 19, 40, 62, 39, 87, 42 </a:t>
            </a:r>
            <a:r>
              <a:rPr lang="en-US"/>
              <a:t>seconds - </a:t>
            </a:r>
            <a:r>
              <a:rPr lang="en-US" dirty="0"/>
              <a:t>that is the variable, and it is a coverage variable.
Worst day: Sunday 8 </a:t>
            </a:r>
            <a:r>
              <a:rPr lang="en-US"/>
              <a:t>January - </a:t>
            </a:r>
            <a:r>
              <a:rPr lang="en-US" dirty="0"/>
              <a:t>3,730 calls (below average) but 87 s ASA, 24% abandonment and only 28% answered within </a:t>
            </a:r>
            <a:r>
              <a:rPr lang="en-US"/>
              <a:t>20 seconds, </a:t>
            </a:r>
            <a:r>
              <a:rPr lang="en-US" dirty="0"/>
              <a:t>AHT was also the lowest (187 s), which is what agents do under queue pressure. Friday 6 January is second-worst: 62 s ASA, 26% abandonment, 40% SL20. Best day: Sunday 1 </a:t>
            </a:r>
            <a:r>
              <a:rPr lang="en-US"/>
              <a:t>January - </a:t>
            </a:r>
            <a:r>
              <a:rPr lang="en-US" dirty="0"/>
              <a:t>New Year's </a:t>
            </a:r>
            <a:r>
              <a:rPr lang="en-US"/>
              <a:t>Day - </a:t>
            </a:r>
            <a:r>
              <a:rPr lang="en-US" dirty="0"/>
              <a:t>1,572 calls, 10 s ASA, 81% SL20.
Busiest day: Monday 9 January (5,047) was answered in 42 s at 22% </a:t>
            </a:r>
            <a:r>
              <a:rPr lang="en-US"/>
              <a:t>abandonment - </a:t>
            </a:r>
            <a:r>
              <a:rPr lang="en-US" dirty="0"/>
              <a:t>volume alone does not create </a:t>
            </a:r>
            <a:r>
              <a:rPr lang="en-US"/>
              <a:t>the problem, </a:t>
            </a:r>
            <a:r>
              <a:rPr lang="en-US" dirty="0"/>
              <a:t>the roster against the volume does.
Both measures filter to handled calls </a:t>
            </a:r>
            <a:r>
              <a:rPr lang="en-US"/>
              <a:t>only - </a:t>
            </a:r>
            <a:r>
              <a:rPr lang="en-US" dirty="0"/>
              <a:t>an abandoned caller has no handle time, so including them would corrupt both averages.
Recommendation 1 (evening window) and the day-level view both say the same thing: the loss is where coverage is thin, not where calls are many.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TASK </a:t>
            </a:r>
            <a:r>
              <a:rPr lang="en-US"/>
              <a:t>2 - </a:t>
            </a:r>
            <a:r>
              <a:rPr lang="en-US" dirty="0"/>
              <a:t>RECOMMENDATIONS (about 1 minute, then take questions before the SQL).
1. Shift some staff coverage into the evening window (hour chart + heat map).
2. Add coverage on Mondays specifically (day chart</a:t>
            </a:r>
            <a:r>
              <a:rPr lang="en-US"/>
              <a:t>) - </a:t>
            </a:r>
            <a:r>
              <a:rPr lang="en-US" dirty="0"/>
              <a:t>and if challenged on the two-Monday window, give the one-sentence answer from the day-of-week </a:t>
            </a:r>
            <a:r>
              <a:rPr lang="en-US"/>
              <a:t>slide's notes, </a:t>
            </a:r>
            <a:r>
              <a:rPr lang="en-US" dirty="0"/>
              <a:t>note Friday and Sunday 8 January as the thinnest-coverage days from the ASA-by-date chart.
3. Keep Hotline #1 the priority for any staffing or system investment (hotline chart); watch Hotline #3.
Close with: "Same team, same </a:t>
            </a:r>
            <a:r>
              <a:rPr lang="en-US"/>
              <a:t>skill - </a:t>
            </a:r>
            <a:r>
              <a:rPr lang="en-US" dirty="0"/>
              <a:t>just point more of them at the hours we're actually losing callers." And the limitation: nine </a:t>
            </a:r>
            <a:r>
              <a:rPr lang="en-US"/>
              <a:t>days only, </a:t>
            </a:r>
            <a:r>
              <a:rPr lang="en-US" dirty="0"/>
              <a:t>extend before locking a roster.
Bonus-task answer if it comes up ("how would you use tasks 2 and 3 to build an efficiency-focused productivity model on top of the task-1 model?"): add the helpline fact (one row per call leg) and a staff/roster dimension to the claims model, joined through the shared date table and, where the call relates to a member or claim, the member key. Productivity measures then sit next to claims measures: handled calls per agent-hour, TAT on claims that generated a call versus those that did not, cost-to-serve per member (claims paid + call-handling minutes). Agents Active and Calls per Agent already exist in the helpline model as the starting point.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TASK </a:t>
            </a:r>
            <a:r>
              <a:rPr lang="en-US"/>
              <a:t>3 - </a:t>
            </a:r>
            <a:r>
              <a:rPr lang="en-US" dirty="0"/>
              <a:t>SQL BRIDGE (10 minutes total, walked through from the PDF, not from slides).
Say: "The third task is SQL. I'll switch to the PDF I submitted and walk the three queries in order." Then share SQL Answer-Task3.pdf.
For each query lead with WHY, because the brief says the queries are graded on optimisation technique and minimum load time:
</a:t>
            </a:r>
            <a:r>
              <a:rPr lang="en-US"/>
              <a:t>Q1 - </a:t>
            </a:r>
            <a:r>
              <a:rPr lang="en-US" dirty="0"/>
              <a:t>explicit column list, not SELECT *; unquoted integers in the IN list because StaffNo is an INT primary key (quoting forces an implicit conversion that can block the index seek).
</a:t>
            </a:r>
            <a:r>
              <a:rPr lang="en-US"/>
              <a:t>Q2 - </a:t>
            </a:r>
            <a:r>
              <a:rPr lang="en-US" dirty="0"/>
              <a:t>GROUP BY on MemberOrder alone BEFORE the join, so the two text columns never go through </a:t>
            </a:r>
            <a:r>
              <a:rPr lang="en-US"/>
              <a:t>the aggregation, </a:t>
            </a:r>
            <a:r>
              <a:rPr lang="en-US" dirty="0"/>
              <a:t>COUNT_BIG rather than COUNT (no overflow past 2.1 billion rows, and required for an indexed view); the join is then one-to-one.
</a:t>
            </a:r>
            <a:r>
              <a:rPr lang="en-US"/>
              <a:t>Q3 - </a:t>
            </a:r>
            <a:r>
              <a:rPr lang="en-US" dirty="0"/>
              <a:t>two join types on purpose: a member is mandatory, so </a:t>
            </a:r>
            <a:r>
              <a:rPr lang="en-US"/>
              <a:t>INNER JOIN, </a:t>
            </a:r>
            <a:r>
              <a:rPr lang="en-US" dirty="0"/>
              <a:t>a promotion is optional ('if it exists'), so LEFT </a:t>
            </a:r>
            <a:r>
              <a:rPr lang="en-US"/>
              <a:t>JOIN - </a:t>
            </a:r>
            <a:r>
              <a:rPr lang="en-US" dirty="0"/>
              <a:t>otherwise every order without a promotion would silently disappear. MemberOrder drives the query because one row per order is the grain asked for.
Indexes: covering index on MemberOrder(MemberNo) INCLUDE (Price) </a:t>
            </a:r>
            <a:r>
              <a:rPr lang="en-US"/>
              <a:t>for Q2, </a:t>
            </a:r>
            <a:r>
              <a:rPr lang="en-US" dirty="0"/>
              <a:t>index on MemberOrder(PromotionID) for Q3. Confirm with execution plans and SET STATISTICS IO.
Most likely follow-up: "why LEFT JOIN on Promotion but INNER on Members</a:t>
            </a:r>
            <a:r>
              <a:rPr lang="en-US"/>
              <a:t>?" - </a:t>
            </a:r>
            <a:r>
              <a:rPr lang="en-US" dirty="0"/>
              <a:t>one sentence: a member is mandatory, a promotion is optional. Come back to this deck for the close.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CLOSE (about 1 minute), then the remaining time is the panel's.
One line per task, then: "That's everything I brought. I'm happy to open either dashboard live, walk through any measure, or take the discussion wherever is most useful to you."
Ground rules for the Q&amp;A:
- Lead every answer with the number, then the chart, then the mechanism. Do not open Power Query or a DAX formula unless asked to see it.
- Use the real names of the pages, visuals and columns: 'the drill-through page', 'the Outliers Finder', 'the queue table', 'Total_TurnAroundTime_Days', 'Calender_Table' (own the spelling in one line if it comes up).
- Say the limitations plainly when they come up: no premium data (no loss ratio), nine days of helpline data (no seasonality), the two-Monday window, Hotline #2 too small to judge, the placeholder goal on the page-4 KPI tiles.
- If the bonus task comes up, use the answer in the Task 2 recommendations notes.
Time check: this slide should be on screen by about minute 50. If the panel has run ahead with questions, that is </a:t>
            </a:r>
            <a:r>
              <a:rPr lang="en-US"/>
              <a:t>fine - </a:t>
            </a:r>
            <a:r>
              <a:rPr lang="en-US" dirty="0"/>
              <a:t>the buffer exists for exactly that.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jpe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jp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5.jp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6.jp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8.jp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7.jp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jpeg"/><Relationship Id="rId7" Type="http://schemas.openxmlformats.org/officeDocument/2006/relationships/image" Target="../media/image30.jp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9.jpg"/><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1 / 24</a:t>
            </a:r>
            <a:endParaRPr lang="en-US" sz="900" dirty="0"/>
          </a:p>
        </p:txBody>
      </p:sp>
      <p:sp>
        <p:nvSpPr>
          <p:cNvPr id="5" name="Shape 1"/>
          <p:cNvSpPr/>
          <p:nvPr/>
        </p:nvSpPr>
        <p:spPr>
          <a:xfrm>
            <a:off x="822960" y="1600200"/>
            <a:ext cx="10515600" cy="4572000"/>
          </a:xfrm>
          <a:prstGeom prst="roundRect">
            <a:avLst>
              <a:gd name="adj" fmla="val 2400"/>
            </a:avLst>
          </a:prstGeom>
          <a:solidFill>
            <a:srgbClr val="FFFFFF"/>
          </a:solidFill>
          <a:ln w="9525">
            <a:noFill/>
            <a:prstDash val="soli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endParaRPr lang="en-US"/>
          </a:p>
        </p:txBody>
      </p:sp>
      <p:sp>
        <p:nvSpPr>
          <p:cNvPr id="6" name="Text 2"/>
          <p:cNvSpPr txBox="1"/>
          <p:nvPr/>
        </p:nvSpPr>
        <p:spPr>
          <a:xfrm>
            <a:off x="1280160" y="1759379"/>
            <a:ext cx="5486400" cy="365760"/>
          </a:xfrm>
          <a:prstGeom prst="rect">
            <a:avLst/>
          </a:prstGeom>
          <a:noFill/>
          <a:ln/>
        </p:spPr>
        <p:txBody>
          <a:bodyPr wrap="square" lIns="0" tIns="0" rIns="0" bIns="0" rtlCol="0" anchor="ctr"/>
          <a:lstStyle/>
          <a:p>
            <a:pPr marL="0" indent="0">
              <a:buNone/>
            </a:pPr>
            <a:r>
              <a:rPr lang="en-US" sz="1300" b="1" kern="0" spc="300" dirty="0">
                <a:solidFill>
                  <a:srgbClr val="4BA38C"/>
                </a:solidFill>
                <a:latin typeface="Calibri" pitchFamily="34" charset="0"/>
                <a:ea typeface="Calibri" pitchFamily="34" charset="-122"/>
                <a:cs typeface="Calibri" pitchFamily="34" charset="-120"/>
              </a:rPr>
              <a:t>Panel Interview</a:t>
            </a:r>
            <a:endParaRPr lang="en-US" sz="1300" dirty="0"/>
          </a:p>
        </p:txBody>
      </p:sp>
      <p:sp>
        <p:nvSpPr>
          <p:cNvPr id="7" name="Text 3"/>
          <p:cNvSpPr txBox="1"/>
          <p:nvPr/>
        </p:nvSpPr>
        <p:spPr>
          <a:xfrm>
            <a:off x="1280160" y="2125139"/>
            <a:ext cx="9601200" cy="685800"/>
          </a:xfrm>
          <a:prstGeom prst="rect">
            <a:avLst/>
          </a:prstGeom>
          <a:noFill/>
          <a:ln/>
        </p:spPr>
        <p:txBody>
          <a:bodyPr wrap="square" lIns="0" tIns="0" rIns="0" bIns="0" rtlCol="0" anchor="ctr"/>
          <a:lstStyle/>
          <a:p>
            <a:pPr marL="0" indent="0">
              <a:buNone/>
            </a:pPr>
            <a:r>
              <a:rPr lang="en-US" sz="3800" b="1" dirty="0">
                <a:solidFill>
                  <a:srgbClr val="203370"/>
                </a:solidFill>
                <a:latin typeface="Calibri" pitchFamily="34" charset="0"/>
                <a:ea typeface="Calibri" pitchFamily="34" charset="-122"/>
                <a:cs typeface="Calibri" pitchFamily="34" charset="-120"/>
              </a:rPr>
              <a:t>Claims &amp; Helpline Dashboards</a:t>
            </a:r>
            <a:endParaRPr lang="en-US" sz="3800" dirty="0"/>
          </a:p>
        </p:txBody>
      </p:sp>
      <p:sp>
        <p:nvSpPr>
          <p:cNvPr id="8" name="Text 4"/>
          <p:cNvSpPr txBox="1"/>
          <p:nvPr/>
        </p:nvSpPr>
        <p:spPr>
          <a:xfrm>
            <a:off x="1280160" y="2810939"/>
            <a:ext cx="9601200" cy="457200"/>
          </a:xfrm>
          <a:prstGeom prst="rect">
            <a:avLst/>
          </a:prstGeom>
          <a:noFill/>
          <a:ln/>
        </p:spPr>
        <p:txBody>
          <a:bodyPr wrap="square" lIns="0" tIns="0" rIns="0" bIns="0" rtlCol="0" anchor="ctr"/>
          <a:lstStyle/>
          <a:p>
            <a:pPr marL="0" indent="0">
              <a:buNone/>
            </a:pPr>
            <a:r>
              <a:rPr lang="en-US" sz="1800" dirty="0">
                <a:solidFill>
                  <a:srgbClr val="33404F"/>
                </a:solidFill>
                <a:latin typeface="Calibri" pitchFamily="34" charset="0"/>
                <a:ea typeface="Calibri" pitchFamily="34" charset="-122"/>
                <a:cs typeface="Calibri" pitchFamily="34" charset="-120"/>
              </a:rPr>
              <a:t>Every visual, every KPI, every finding - read straight from the Power BI report pages</a:t>
            </a:r>
            <a:endParaRPr lang="en-US" sz="1800" dirty="0"/>
          </a:p>
        </p:txBody>
      </p:sp>
      <p:sp>
        <p:nvSpPr>
          <p:cNvPr id="9" name="Shape 5"/>
          <p:cNvSpPr/>
          <p:nvPr/>
        </p:nvSpPr>
        <p:spPr>
          <a:xfrm>
            <a:off x="1280160" y="3611880"/>
            <a:ext cx="9509760" cy="0"/>
          </a:xfrm>
          <a:prstGeom prst="line">
            <a:avLst/>
          </a:prstGeom>
          <a:noFill/>
          <a:ln w="12700">
            <a:solidFill>
              <a:srgbClr val="DCE5EC"/>
            </a:solidFill>
            <a:prstDash val="solid"/>
          </a:ln>
        </p:spPr>
        <p:txBody>
          <a:bodyPr/>
          <a:lstStyle/>
          <a:p>
            <a:endParaRPr lang="en-US"/>
          </a:p>
        </p:txBody>
      </p:sp>
      <p:sp>
        <p:nvSpPr>
          <p:cNvPr id="10" name="Text 6"/>
          <p:cNvSpPr txBox="1"/>
          <p:nvPr/>
        </p:nvSpPr>
        <p:spPr>
          <a:xfrm>
            <a:off x="1280160" y="3679619"/>
            <a:ext cx="1737360" cy="365760"/>
          </a:xfrm>
          <a:prstGeom prst="rect">
            <a:avLst/>
          </a:prstGeom>
          <a:noFill/>
          <a:ln/>
        </p:spPr>
        <p:txBody>
          <a:bodyPr wrap="square" lIns="0" tIns="0" rIns="0" bIns="0" rtlCol="0" anchor="ctr"/>
          <a:lstStyle/>
          <a:p>
            <a:pPr marL="0" indent="0">
              <a:buNone/>
            </a:pPr>
            <a:r>
              <a:rPr lang="en-US" sz="950" b="1" kern="0" spc="200" dirty="0">
                <a:solidFill>
                  <a:srgbClr val="55637A"/>
                </a:solidFill>
                <a:latin typeface="Calibri" pitchFamily="34" charset="0"/>
                <a:ea typeface="Calibri" pitchFamily="34" charset="-122"/>
                <a:cs typeface="Calibri" pitchFamily="34" charset="-120"/>
              </a:rPr>
              <a:t>CANDIDATE</a:t>
            </a:r>
            <a:endParaRPr lang="en-US" sz="950" dirty="0"/>
          </a:p>
        </p:txBody>
      </p:sp>
      <p:sp>
        <p:nvSpPr>
          <p:cNvPr id="11" name="Text 7"/>
          <p:cNvSpPr txBox="1"/>
          <p:nvPr/>
        </p:nvSpPr>
        <p:spPr>
          <a:xfrm>
            <a:off x="3017520" y="3679619"/>
            <a:ext cx="7772400" cy="365760"/>
          </a:xfrm>
          <a:prstGeom prst="rect">
            <a:avLst/>
          </a:prstGeom>
          <a:noFill/>
          <a:ln/>
        </p:spPr>
        <p:txBody>
          <a:bodyPr wrap="square" lIns="0" tIns="0" rIns="0" bIns="0" rtlCol="0" anchor="ctr"/>
          <a:lstStyle/>
          <a:p>
            <a:pPr marL="0" indent="0">
              <a:buNone/>
            </a:pPr>
            <a:r>
              <a:rPr lang="en-US" sz="1300" dirty="0">
                <a:solidFill>
                  <a:srgbClr val="33404F"/>
                </a:solidFill>
                <a:latin typeface="Calibri" pitchFamily="34" charset="0"/>
                <a:ea typeface="Calibri" pitchFamily="34" charset="-122"/>
                <a:cs typeface="Calibri" pitchFamily="34" charset="-120"/>
              </a:rPr>
              <a:t>Mahmoud Abdallah</a:t>
            </a:r>
            <a:endParaRPr lang="en-US" sz="1300" dirty="0"/>
          </a:p>
        </p:txBody>
      </p:sp>
      <p:sp>
        <p:nvSpPr>
          <p:cNvPr id="12" name="Text 8"/>
          <p:cNvSpPr txBox="1"/>
          <p:nvPr/>
        </p:nvSpPr>
        <p:spPr>
          <a:xfrm>
            <a:off x="1280160" y="4136819"/>
            <a:ext cx="1737360" cy="365760"/>
          </a:xfrm>
          <a:prstGeom prst="rect">
            <a:avLst/>
          </a:prstGeom>
          <a:noFill/>
          <a:ln/>
        </p:spPr>
        <p:txBody>
          <a:bodyPr wrap="square" lIns="0" tIns="0" rIns="0" bIns="0" rtlCol="0" anchor="ctr"/>
          <a:lstStyle/>
          <a:p>
            <a:pPr marL="0" indent="0">
              <a:buNone/>
            </a:pPr>
            <a:r>
              <a:rPr lang="en-US" sz="950" b="1" kern="0" spc="200" dirty="0">
                <a:solidFill>
                  <a:srgbClr val="55637A"/>
                </a:solidFill>
                <a:latin typeface="Calibri" pitchFamily="34" charset="0"/>
                <a:ea typeface="Calibri" pitchFamily="34" charset="-122"/>
                <a:cs typeface="Calibri" pitchFamily="34" charset="-120"/>
              </a:rPr>
              <a:t>ROLE</a:t>
            </a:r>
            <a:endParaRPr lang="en-US" sz="950" dirty="0"/>
          </a:p>
        </p:txBody>
      </p:sp>
      <p:sp>
        <p:nvSpPr>
          <p:cNvPr id="13" name="Text 9"/>
          <p:cNvSpPr txBox="1"/>
          <p:nvPr/>
        </p:nvSpPr>
        <p:spPr>
          <a:xfrm>
            <a:off x="3017520" y="4136819"/>
            <a:ext cx="7772400" cy="365760"/>
          </a:xfrm>
          <a:prstGeom prst="rect">
            <a:avLst/>
          </a:prstGeom>
          <a:noFill/>
          <a:ln/>
        </p:spPr>
        <p:txBody>
          <a:bodyPr wrap="square" lIns="0" tIns="0" rIns="0" bIns="0" rtlCol="0" anchor="ctr"/>
          <a:lstStyle/>
          <a:p>
            <a:pPr marL="0" indent="0">
              <a:buNone/>
            </a:pPr>
            <a:r>
              <a:rPr lang="en-US" sz="1300" dirty="0">
                <a:solidFill>
                  <a:srgbClr val="33404F"/>
                </a:solidFill>
                <a:latin typeface="Calibri" pitchFamily="34" charset="0"/>
                <a:ea typeface="Calibri" pitchFamily="34" charset="-122"/>
                <a:cs typeface="Calibri" pitchFamily="34" charset="-120"/>
              </a:rPr>
              <a:t>Data Intelligence Reporting Specialist – IPMI</a:t>
            </a:r>
            <a:endParaRPr lang="en-US" sz="1300" dirty="0"/>
          </a:p>
        </p:txBody>
      </p:sp>
      <p:sp>
        <p:nvSpPr>
          <p:cNvPr id="14" name="Text 10"/>
          <p:cNvSpPr txBox="1"/>
          <p:nvPr/>
        </p:nvSpPr>
        <p:spPr>
          <a:xfrm>
            <a:off x="1280160" y="4594019"/>
            <a:ext cx="1737360" cy="365760"/>
          </a:xfrm>
          <a:prstGeom prst="rect">
            <a:avLst/>
          </a:prstGeom>
          <a:noFill/>
          <a:ln/>
        </p:spPr>
        <p:txBody>
          <a:bodyPr wrap="square" lIns="0" tIns="0" rIns="0" bIns="0" rtlCol="0" anchor="ctr"/>
          <a:lstStyle/>
          <a:p>
            <a:pPr marL="0" indent="0">
              <a:buNone/>
            </a:pPr>
            <a:r>
              <a:rPr lang="en-US" sz="950" b="1" kern="0" spc="200" dirty="0">
                <a:solidFill>
                  <a:srgbClr val="55637A"/>
                </a:solidFill>
                <a:latin typeface="Calibri" pitchFamily="34" charset="0"/>
                <a:ea typeface="Calibri" pitchFamily="34" charset="-122"/>
                <a:cs typeface="Calibri" pitchFamily="34" charset="-120"/>
              </a:rPr>
              <a:t>PANEL</a:t>
            </a:r>
            <a:endParaRPr lang="en-US" sz="950" dirty="0"/>
          </a:p>
        </p:txBody>
      </p:sp>
      <p:sp>
        <p:nvSpPr>
          <p:cNvPr id="15" name="Text 11"/>
          <p:cNvSpPr txBox="1"/>
          <p:nvPr/>
        </p:nvSpPr>
        <p:spPr>
          <a:xfrm>
            <a:off x="3017520" y="4594019"/>
            <a:ext cx="7772400" cy="365760"/>
          </a:xfrm>
          <a:prstGeom prst="rect">
            <a:avLst/>
          </a:prstGeom>
          <a:noFill/>
          <a:ln/>
        </p:spPr>
        <p:txBody>
          <a:bodyPr wrap="square" lIns="0" tIns="0" rIns="0" bIns="0" rtlCol="0" anchor="ctr"/>
          <a:lstStyle/>
          <a:p>
            <a:pPr marL="0" indent="0">
              <a:buNone/>
            </a:pPr>
            <a:r>
              <a:rPr lang="en-US" sz="1300" dirty="0">
                <a:solidFill>
                  <a:srgbClr val="33404F"/>
                </a:solidFill>
                <a:latin typeface="Calibri" pitchFamily="34" charset="0"/>
                <a:ea typeface="Calibri" pitchFamily="34" charset="-122"/>
                <a:cs typeface="Calibri" pitchFamily="34" charset="-120"/>
              </a:rPr>
              <a:t>Monday 28 September 2026 · 3:00 PM Dubai · 90 minutes</a:t>
            </a:r>
            <a:endParaRPr lang="en-US" sz="1300" dirty="0"/>
          </a:p>
        </p:txBody>
      </p:sp>
      <p:sp>
        <p:nvSpPr>
          <p:cNvPr id="16" name="Text 12"/>
          <p:cNvSpPr txBox="1"/>
          <p:nvPr/>
        </p:nvSpPr>
        <p:spPr>
          <a:xfrm>
            <a:off x="1280160" y="5051219"/>
            <a:ext cx="1737360" cy="365760"/>
          </a:xfrm>
          <a:prstGeom prst="rect">
            <a:avLst/>
          </a:prstGeom>
          <a:noFill/>
          <a:ln/>
        </p:spPr>
        <p:txBody>
          <a:bodyPr wrap="square" lIns="0" tIns="0" rIns="0" bIns="0" rtlCol="0" anchor="ctr"/>
          <a:lstStyle/>
          <a:p>
            <a:pPr marL="0" indent="0">
              <a:buNone/>
            </a:pPr>
            <a:r>
              <a:rPr lang="en-US" sz="950" b="1" kern="0" spc="200" dirty="0">
                <a:solidFill>
                  <a:srgbClr val="55637A"/>
                </a:solidFill>
                <a:latin typeface="Calibri" pitchFamily="34" charset="0"/>
                <a:ea typeface="Calibri" pitchFamily="34" charset="-122"/>
                <a:cs typeface="Calibri" pitchFamily="34" charset="-120"/>
              </a:rPr>
              <a:t>REQ ID / PN</a:t>
            </a:r>
            <a:endParaRPr lang="en-US" sz="950" dirty="0"/>
          </a:p>
        </p:txBody>
      </p:sp>
      <p:sp>
        <p:nvSpPr>
          <p:cNvPr id="17" name="Text 13"/>
          <p:cNvSpPr txBox="1"/>
          <p:nvPr/>
        </p:nvSpPr>
        <p:spPr>
          <a:xfrm>
            <a:off x="3017520" y="5051219"/>
            <a:ext cx="7772400" cy="365760"/>
          </a:xfrm>
          <a:prstGeom prst="rect">
            <a:avLst/>
          </a:prstGeom>
          <a:noFill/>
          <a:ln/>
        </p:spPr>
        <p:txBody>
          <a:bodyPr wrap="square" lIns="0" tIns="0" rIns="0" bIns="0" rtlCol="0" anchor="ctr"/>
          <a:lstStyle/>
          <a:p>
            <a:pPr marL="0" indent="0">
              <a:buNone/>
            </a:pPr>
            <a:r>
              <a:rPr lang="en-US" sz="1300" dirty="0">
                <a:solidFill>
                  <a:srgbClr val="33404F"/>
                </a:solidFill>
                <a:latin typeface="Calibri" pitchFamily="34" charset="0"/>
                <a:ea typeface="Calibri" pitchFamily="34" charset="-122"/>
                <a:cs typeface="Calibri" pitchFamily="34" charset="-120"/>
              </a:rPr>
              <a:t>96969 / 5000136861</a:t>
            </a:r>
            <a:endParaRPr lang="en-US" sz="1300" dirty="0"/>
          </a:p>
        </p:txBody>
      </p:sp>
      <p:sp>
        <p:nvSpPr>
          <p:cNvPr id="18" name="Shape 14"/>
          <p:cNvSpPr/>
          <p:nvPr/>
        </p:nvSpPr>
        <p:spPr>
          <a:xfrm>
            <a:off x="1280160" y="5669280"/>
            <a:ext cx="9509760" cy="0"/>
          </a:xfrm>
          <a:prstGeom prst="line">
            <a:avLst/>
          </a:prstGeom>
          <a:noFill/>
          <a:ln w="12700">
            <a:solidFill>
              <a:srgbClr val="DCE5EC"/>
            </a:solidFill>
            <a:prstDash val="solid"/>
          </a:ln>
        </p:spPr>
        <p:txBody>
          <a:bodyPr/>
          <a:lstStyle/>
          <a:p>
            <a:endParaRPr lang="en-US"/>
          </a:p>
        </p:txBody>
      </p:sp>
      <p:sp>
        <p:nvSpPr>
          <p:cNvPr id="19" name="Text 15"/>
          <p:cNvSpPr txBox="1"/>
          <p:nvPr/>
        </p:nvSpPr>
        <p:spPr>
          <a:xfrm>
            <a:off x="1280160" y="5742432"/>
            <a:ext cx="9601200" cy="320040"/>
          </a:xfrm>
          <a:prstGeom prst="rect">
            <a:avLst/>
          </a:prstGeom>
          <a:noFill/>
          <a:ln/>
        </p:spPr>
        <p:txBody>
          <a:bodyPr wrap="square" lIns="0" tIns="0" rIns="0" bIns="0" rtlCol="0" anchor="ctr"/>
          <a:lstStyle/>
          <a:p>
            <a:pPr marL="0" indent="0">
              <a:buNone/>
            </a:pPr>
            <a:r>
              <a:rPr lang="en-US" sz="1050" dirty="0">
                <a:solidFill>
                  <a:srgbClr val="55637A"/>
                </a:solidFill>
                <a:latin typeface="Calibri" pitchFamily="34" charset="0"/>
                <a:ea typeface="Calibri" pitchFamily="34" charset="-122"/>
                <a:cs typeface="Calibri" pitchFamily="34" charset="-120"/>
              </a:rPr>
              <a:t>Task 1 · Claims &amp; Policy Performance :  5 pages, 22 visuals     Task 2 · Helpline Performance :  1 page, 9 visuals     Task 3 · SQL : walked through from the PDF</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412855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How we'll use the 90 minutes</a:t>
            </a:r>
            <a:endParaRPr lang="en-US" sz="2500" dirty="0"/>
          </a:p>
        </p:txBody>
      </p:sp>
      <p:sp>
        <p:nvSpPr>
          <p:cNvPr id="5" name="Shape 1"/>
          <p:cNvSpPr/>
          <p:nvPr/>
        </p:nvSpPr>
        <p:spPr>
          <a:xfrm>
            <a:off x="10963656" y="1069848"/>
            <a:ext cx="786384"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10963656" y="1069848"/>
            <a:ext cx="786384"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AGENDA</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2 / 24</a:t>
            </a:r>
            <a:endParaRPr lang="en-US" sz="900" dirty="0"/>
          </a:p>
        </p:txBody>
      </p:sp>
      <p:sp>
        <p:nvSpPr>
          <p:cNvPr id="8" name="Shape 4"/>
          <p:cNvSpPr/>
          <p:nvPr/>
        </p:nvSpPr>
        <p:spPr>
          <a:xfrm>
            <a:off x="457200" y="1783080"/>
            <a:ext cx="589788" cy="502920"/>
          </a:xfrm>
          <a:prstGeom prst="rect">
            <a:avLst/>
          </a:prstGeom>
          <a:solidFill>
            <a:srgbClr val="55637A"/>
          </a:solidFill>
          <a:ln w="12700">
            <a:solidFill>
              <a:srgbClr val="55637A"/>
            </a:solidFill>
            <a:prstDash val="solid"/>
          </a:ln>
        </p:spPr>
        <p:txBody>
          <a:bodyPr/>
          <a:lstStyle/>
          <a:p>
            <a:endParaRPr lang="en-US"/>
          </a:p>
        </p:txBody>
      </p:sp>
      <p:sp>
        <p:nvSpPr>
          <p:cNvPr id="9" name="Text 5"/>
          <p:cNvSpPr txBox="1"/>
          <p:nvPr/>
        </p:nvSpPr>
        <p:spPr>
          <a:xfrm>
            <a:off x="457200" y="1783080"/>
            <a:ext cx="589788"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 min</a:t>
            </a:r>
            <a:endParaRPr lang="en-US" sz="1100" dirty="0"/>
          </a:p>
        </p:txBody>
      </p:sp>
      <p:sp>
        <p:nvSpPr>
          <p:cNvPr id="10" name="Shape 6"/>
          <p:cNvSpPr/>
          <p:nvPr/>
        </p:nvSpPr>
        <p:spPr>
          <a:xfrm>
            <a:off x="1083564" y="1783080"/>
            <a:ext cx="2468880" cy="502920"/>
          </a:xfrm>
          <a:prstGeom prst="rect">
            <a:avLst/>
          </a:prstGeom>
          <a:solidFill>
            <a:srgbClr val="203370"/>
          </a:solidFill>
          <a:ln w="12700">
            <a:solidFill>
              <a:srgbClr val="203370"/>
            </a:solidFill>
            <a:prstDash val="solid"/>
          </a:ln>
        </p:spPr>
        <p:txBody>
          <a:bodyPr/>
          <a:lstStyle/>
          <a:p>
            <a:endParaRPr lang="en-US"/>
          </a:p>
        </p:txBody>
      </p:sp>
      <p:sp>
        <p:nvSpPr>
          <p:cNvPr id="11" name="Text 7"/>
          <p:cNvSpPr txBox="1"/>
          <p:nvPr/>
        </p:nvSpPr>
        <p:spPr>
          <a:xfrm>
            <a:off x="1083564" y="1783080"/>
            <a:ext cx="24688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 min</a:t>
            </a:r>
            <a:endParaRPr lang="en-US" sz="1100" dirty="0"/>
          </a:p>
        </p:txBody>
      </p:sp>
      <p:sp>
        <p:nvSpPr>
          <p:cNvPr id="12" name="Shape 8"/>
          <p:cNvSpPr/>
          <p:nvPr/>
        </p:nvSpPr>
        <p:spPr>
          <a:xfrm>
            <a:off x="3589020" y="1783080"/>
            <a:ext cx="1842516" cy="502920"/>
          </a:xfrm>
          <a:prstGeom prst="rect">
            <a:avLst/>
          </a:prstGeom>
          <a:solidFill>
            <a:srgbClr val="203370"/>
          </a:solidFill>
          <a:ln w="12700">
            <a:solidFill>
              <a:srgbClr val="203370"/>
            </a:solidFill>
            <a:prstDash val="solid"/>
          </a:ln>
        </p:spPr>
        <p:txBody>
          <a:bodyPr/>
          <a:lstStyle/>
          <a:p>
            <a:endParaRPr lang="en-US"/>
          </a:p>
        </p:txBody>
      </p:sp>
      <p:sp>
        <p:nvSpPr>
          <p:cNvPr id="13" name="Text 9"/>
          <p:cNvSpPr txBox="1"/>
          <p:nvPr/>
        </p:nvSpPr>
        <p:spPr>
          <a:xfrm>
            <a:off x="3589020" y="1783080"/>
            <a:ext cx="1842516"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15 min</a:t>
            </a:r>
            <a:endParaRPr lang="en-US" sz="1100" dirty="0"/>
          </a:p>
        </p:txBody>
      </p:sp>
      <p:sp>
        <p:nvSpPr>
          <p:cNvPr id="14" name="Shape 10"/>
          <p:cNvSpPr/>
          <p:nvPr/>
        </p:nvSpPr>
        <p:spPr>
          <a:xfrm>
            <a:off x="5468112" y="1783080"/>
            <a:ext cx="1216152" cy="502920"/>
          </a:xfrm>
          <a:prstGeom prst="rect">
            <a:avLst/>
          </a:prstGeom>
          <a:solidFill>
            <a:srgbClr val="2E8B78"/>
          </a:solidFill>
          <a:ln w="12700">
            <a:solidFill>
              <a:srgbClr val="2E8B78"/>
            </a:solidFill>
            <a:prstDash val="solid"/>
          </a:ln>
        </p:spPr>
        <p:txBody>
          <a:bodyPr/>
          <a:lstStyle/>
          <a:p>
            <a:endParaRPr lang="en-US"/>
          </a:p>
        </p:txBody>
      </p:sp>
      <p:sp>
        <p:nvSpPr>
          <p:cNvPr id="15" name="Text 11"/>
          <p:cNvSpPr txBox="1"/>
          <p:nvPr/>
        </p:nvSpPr>
        <p:spPr>
          <a:xfrm>
            <a:off x="5468112" y="1783080"/>
            <a:ext cx="1216152"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 min</a:t>
            </a:r>
            <a:endParaRPr lang="en-US" sz="1100" dirty="0"/>
          </a:p>
        </p:txBody>
      </p:sp>
      <p:sp>
        <p:nvSpPr>
          <p:cNvPr id="16" name="Shape 12"/>
          <p:cNvSpPr/>
          <p:nvPr/>
        </p:nvSpPr>
        <p:spPr>
          <a:xfrm>
            <a:off x="6720840" y="1783080"/>
            <a:ext cx="4974336" cy="502920"/>
          </a:xfrm>
          <a:prstGeom prst="rect">
            <a:avLst/>
          </a:prstGeom>
          <a:solidFill>
            <a:srgbClr val="4BA38C"/>
          </a:solidFill>
          <a:ln w="12700">
            <a:solidFill>
              <a:srgbClr val="4BA38C"/>
            </a:solidFill>
            <a:prstDash val="solid"/>
          </a:ln>
        </p:spPr>
        <p:txBody>
          <a:bodyPr/>
          <a:lstStyle/>
          <a:p>
            <a:endParaRPr lang="en-US"/>
          </a:p>
        </p:txBody>
      </p:sp>
      <p:sp>
        <p:nvSpPr>
          <p:cNvPr id="17" name="Text 13"/>
          <p:cNvSpPr txBox="1"/>
          <p:nvPr/>
        </p:nvSpPr>
        <p:spPr>
          <a:xfrm>
            <a:off x="6720840" y="1783080"/>
            <a:ext cx="4974336"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40 min</a:t>
            </a:r>
            <a:endParaRPr lang="en-US" sz="1100" dirty="0"/>
          </a:p>
        </p:txBody>
      </p:sp>
      <p:sp>
        <p:nvSpPr>
          <p:cNvPr id="18" name="Text 14"/>
          <p:cNvSpPr txBox="1"/>
          <p:nvPr/>
        </p:nvSpPr>
        <p:spPr>
          <a:xfrm>
            <a:off x="182880" y="2331720"/>
            <a:ext cx="548640" cy="228600"/>
          </a:xfrm>
          <a:prstGeom prst="rect">
            <a:avLst/>
          </a:prstGeom>
          <a:noFill/>
          <a:ln/>
        </p:spPr>
        <p:txBody>
          <a:bodyPr wrap="square" lIns="0" tIns="0" rIns="0" bIns="0" rtlCol="0" anchor="ctr"/>
          <a:lstStyle/>
          <a:p>
            <a:pPr marL="0" indent="0" algn="ctr">
              <a:buNone/>
            </a:pPr>
            <a:r>
              <a:rPr lang="en-US" sz="900" dirty="0">
                <a:solidFill>
                  <a:srgbClr val="55637A"/>
                </a:solidFill>
                <a:latin typeface="Calibri" pitchFamily="34" charset="0"/>
                <a:ea typeface="Calibri" pitchFamily="34" charset="-122"/>
                <a:cs typeface="Calibri" pitchFamily="34" charset="-120"/>
              </a:rPr>
              <a:t>0'</a:t>
            </a:r>
            <a:endParaRPr lang="en-US" sz="900" dirty="0"/>
          </a:p>
        </p:txBody>
      </p:sp>
      <p:sp>
        <p:nvSpPr>
          <p:cNvPr id="19" name="Text 15"/>
          <p:cNvSpPr txBox="1"/>
          <p:nvPr/>
        </p:nvSpPr>
        <p:spPr>
          <a:xfrm>
            <a:off x="809244" y="2331720"/>
            <a:ext cx="548640" cy="228600"/>
          </a:xfrm>
          <a:prstGeom prst="rect">
            <a:avLst/>
          </a:prstGeom>
          <a:noFill/>
          <a:ln/>
        </p:spPr>
        <p:txBody>
          <a:bodyPr wrap="square" lIns="0" tIns="0" rIns="0" bIns="0" rtlCol="0" anchor="ctr"/>
          <a:lstStyle/>
          <a:p>
            <a:pPr marL="0" indent="0" algn="ctr">
              <a:buNone/>
            </a:pPr>
            <a:r>
              <a:rPr lang="en-US" sz="900" dirty="0">
                <a:solidFill>
                  <a:srgbClr val="55637A"/>
                </a:solidFill>
                <a:latin typeface="Calibri" pitchFamily="34" charset="0"/>
                <a:ea typeface="Calibri" pitchFamily="34" charset="-122"/>
                <a:cs typeface="Calibri" pitchFamily="34" charset="-120"/>
              </a:rPr>
              <a:t>5'</a:t>
            </a:r>
            <a:endParaRPr lang="en-US" sz="900" dirty="0"/>
          </a:p>
        </p:txBody>
      </p:sp>
      <p:sp>
        <p:nvSpPr>
          <p:cNvPr id="20" name="Text 16"/>
          <p:cNvSpPr txBox="1"/>
          <p:nvPr/>
        </p:nvSpPr>
        <p:spPr>
          <a:xfrm>
            <a:off x="3314700" y="2331720"/>
            <a:ext cx="548640" cy="228600"/>
          </a:xfrm>
          <a:prstGeom prst="rect">
            <a:avLst/>
          </a:prstGeom>
          <a:noFill/>
          <a:ln/>
        </p:spPr>
        <p:txBody>
          <a:bodyPr wrap="square" lIns="0" tIns="0" rIns="0" bIns="0" rtlCol="0" anchor="ctr"/>
          <a:lstStyle/>
          <a:p>
            <a:pPr marL="0" indent="0" algn="ctr">
              <a:buNone/>
            </a:pPr>
            <a:r>
              <a:rPr lang="en-US" sz="900" dirty="0">
                <a:solidFill>
                  <a:srgbClr val="55637A"/>
                </a:solidFill>
                <a:latin typeface="Calibri" pitchFamily="34" charset="0"/>
                <a:ea typeface="Calibri" pitchFamily="34" charset="-122"/>
                <a:cs typeface="Calibri" pitchFamily="34" charset="-120"/>
              </a:rPr>
              <a:t>25'</a:t>
            </a:r>
            <a:endParaRPr lang="en-US" sz="900" dirty="0"/>
          </a:p>
        </p:txBody>
      </p:sp>
      <p:sp>
        <p:nvSpPr>
          <p:cNvPr id="21" name="Text 17"/>
          <p:cNvSpPr txBox="1"/>
          <p:nvPr/>
        </p:nvSpPr>
        <p:spPr>
          <a:xfrm>
            <a:off x="5193792" y="2331720"/>
            <a:ext cx="548640" cy="228600"/>
          </a:xfrm>
          <a:prstGeom prst="rect">
            <a:avLst/>
          </a:prstGeom>
          <a:noFill/>
          <a:ln/>
        </p:spPr>
        <p:txBody>
          <a:bodyPr wrap="square" lIns="0" tIns="0" rIns="0" bIns="0" rtlCol="0" anchor="ctr"/>
          <a:lstStyle/>
          <a:p>
            <a:pPr marL="0" indent="0" algn="ctr">
              <a:buNone/>
            </a:pPr>
            <a:r>
              <a:rPr lang="en-US" sz="900" dirty="0">
                <a:solidFill>
                  <a:srgbClr val="55637A"/>
                </a:solidFill>
                <a:latin typeface="Calibri" pitchFamily="34" charset="0"/>
                <a:ea typeface="Calibri" pitchFamily="34" charset="-122"/>
                <a:cs typeface="Calibri" pitchFamily="34" charset="-120"/>
              </a:rPr>
              <a:t>40'</a:t>
            </a:r>
            <a:endParaRPr lang="en-US" sz="900" dirty="0"/>
          </a:p>
        </p:txBody>
      </p:sp>
      <p:sp>
        <p:nvSpPr>
          <p:cNvPr id="22" name="Text 18"/>
          <p:cNvSpPr txBox="1"/>
          <p:nvPr/>
        </p:nvSpPr>
        <p:spPr>
          <a:xfrm>
            <a:off x="6446520" y="2331720"/>
            <a:ext cx="548640" cy="228600"/>
          </a:xfrm>
          <a:prstGeom prst="rect">
            <a:avLst/>
          </a:prstGeom>
          <a:noFill/>
          <a:ln/>
        </p:spPr>
        <p:txBody>
          <a:bodyPr wrap="square" lIns="0" tIns="0" rIns="0" bIns="0" rtlCol="0" anchor="ctr"/>
          <a:lstStyle/>
          <a:p>
            <a:pPr marL="0" indent="0" algn="ctr">
              <a:buNone/>
            </a:pPr>
            <a:r>
              <a:rPr lang="en-US" sz="900" dirty="0">
                <a:solidFill>
                  <a:srgbClr val="55637A"/>
                </a:solidFill>
                <a:latin typeface="Calibri" pitchFamily="34" charset="0"/>
                <a:ea typeface="Calibri" pitchFamily="34" charset="-122"/>
                <a:cs typeface="Calibri" pitchFamily="34" charset="-120"/>
              </a:rPr>
              <a:t>50'</a:t>
            </a:r>
            <a:endParaRPr lang="en-US" sz="900" dirty="0"/>
          </a:p>
        </p:txBody>
      </p:sp>
      <p:sp>
        <p:nvSpPr>
          <p:cNvPr id="23" name="Text 19"/>
          <p:cNvSpPr txBox="1"/>
          <p:nvPr/>
        </p:nvSpPr>
        <p:spPr>
          <a:xfrm>
            <a:off x="11457432" y="2331720"/>
            <a:ext cx="548640" cy="228600"/>
          </a:xfrm>
          <a:prstGeom prst="rect">
            <a:avLst/>
          </a:prstGeom>
          <a:noFill/>
          <a:ln/>
        </p:spPr>
        <p:txBody>
          <a:bodyPr wrap="square" lIns="0" tIns="0" rIns="0" bIns="0" rtlCol="0" anchor="ctr"/>
          <a:lstStyle/>
          <a:p>
            <a:pPr marL="0" indent="0" algn="ctr">
              <a:buNone/>
            </a:pPr>
            <a:r>
              <a:rPr lang="en-US" sz="900" dirty="0">
                <a:solidFill>
                  <a:srgbClr val="55637A"/>
                </a:solidFill>
                <a:latin typeface="Calibri" pitchFamily="34" charset="0"/>
                <a:ea typeface="Calibri" pitchFamily="34" charset="-122"/>
                <a:cs typeface="Calibri" pitchFamily="34" charset="-120"/>
              </a:rPr>
              <a:t>90'</a:t>
            </a:r>
            <a:endParaRPr lang="en-US" sz="900" dirty="0"/>
          </a:p>
        </p:txBody>
      </p:sp>
      <p:sp>
        <p:nvSpPr>
          <p:cNvPr id="24" name="Shape 20"/>
          <p:cNvSpPr/>
          <p:nvPr/>
        </p:nvSpPr>
        <p:spPr>
          <a:xfrm>
            <a:off x="457200" y="2788920"/>
            <a:ext cx="7498080" cy="512064"/>
          </a:xfrm>
          <a:prstGeom prst="roundRect">
            <a:avLst>
              <a:gd name="adj" fmla="val 2142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1"/>
          <p:cNvSpPr/>
          <p:nvPr/>
        </p:nvSpPr>
        <p:spPr>
          <a:xfrm>
            <a:off x="658368" y="2962656"/>
            <a:ext cx="164592" cy="164592"/>
          </a:xfrm>
          <a:prstGeom prst="ellipse">
            <a:avLst/>
          </a:prstGeom>
          <a:solidFill>
            <a:srgbClr val="55637A"/>
          </a:solidFill>
          <a:ln w="12700">
            <a:solidFill>
              <a:srgbClr val="55637A"/>
            </a:solidFill>
            <a:prstDash val="solid"/>
          </a:ln>
        </p:spPr>
        <p:txBody>
          <a:bodyPr/>
          <a:lstStyle/>
          <a:p>
            <a:endParaRPr lang="en-US"/>
          </a:p>
        </p:txBody>
      </p:sp>
      <p:sp>
        <p:nvSpPr>
          <p:cNvPr id="26" name="Text 22"/>
          <p:cNvSpPr txBox="1"/>
          <p:nvPr/>
        </p:nvSpPr>
        <p:spPr>
          <a:xfrm>
            <a:off x="960120" y="2788920"/>
            <a:ext cx="2926080" cy="512064"/>
          </a:xfrm>
          <a:prstGeom prst="rect">
            <a:avLst/>
          </a:prstGeom>
          <a:noFill/>
          <a:ln/>
        </p:spPr>
        <p:txBody>
          <a:bodyPr wrap="square" lIns="0" tIns="0" rIns="0" bIns="0" rtlCol="0" anchor="ctr"/>
          <a:lstStyle/>
          <a:p>
            <a:pPr marL="0" indent="0">
              <a:buNone/>
            </a:pPr>
            <a:r>
              <a:rPr lang="en-US" sz="1300" b="1" dirty="0">
                <a:solidFill>
                  <a:srgbClr val="33404F"/>
                </a:solidFill>
                <a:latin typeface="Calibri" pitchFamily="34" charset="0"/>
                <a:ea typeface="Calibri" pitchFamily="34" charset="-122"/>
                <a:cs typeface="Calibri" pitchFamily="34" charset="-120"/>
              </a:rPr>
              <a:t>Opening</a:t>
            </a:r>
            <a:endParaRPr lang="en-US" sz="1300" dirty="0"/>
          </a:p>
        </p:txBody>
      </p:sp>
      <p:sp>
        <p:nvSpPr>
          <p:cNvPr id="27" name="Text 23"/>
          <p:cNvSpPr txBox="1"/>
          <p:nvPr/>
        </p:nvSpPr>
        <p:spPr>
          <a:xfrm>
            <a:off x="3931920" y="2788920"/>
            <a:ext cx="3931920" cy="512064"/>
          </a:xfrm>
          <a:prstGeom prst="rect">
            <a:avLst/>
          </a:prstGeom>
          <a:noFill/>
          <a:ln/>
        </p:spPr>
        <p:txBody>
          <a:bodyPr wrap="square" lIns="0" tIns="0" rIns="0" bIns="0" rtlCol="0" anchor="ctr"/>
          <a:lstStyle/>
          <a:p>
            <a:pPr marL="0" indent="0">
              <a:buNone/>
            </a:pPr>
            <a:r>
              <a:rPr lang="en-US" sz="1100" dirty="0">
                <a:solidFill>
                  <a:srgbClr val="55637A"/>
                </a:solidFill>
                <a:latin typeface="Calibri" pitchFamily="34" charset="0"/>
                <a:ea typeface="Calibri" pitchFamily="34" charset="-122"/>
                <a:cs typeface="Calibri" pitchFamily="34" charset="-120"/>
              </a:rPr>
              <a:t>Who I am, the three tasks, how each visual is presented</a:t>
            </a:r>
            <a:endParaRPr lang="en-US" sz="1100" dirty="0"/>
          </a:p>
        </p:txBody>
      </p:sp>
      <p:sp>
        <p:nvSpPr>
          <p:cNvPr id="28" name="Shape 24"/>
          <p:cNvSpPr/>
          <p:nvPr/>
        </p:nvSpPr>
        <p:spPr>
          <a:xfrm>
            <a:off x="457200" y="3392424"/>
            <a:ext cx="7498080" cy="512064"/>
          </a:xfrm>
          <a:prstGeom prst="roundRect">
            <a:avLst>
              <a:gd name="adj" fmla="val 2142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9" name="Shape 25"/>
          <p:cNvSpPr/>
          <p:nvPr/>
        </p:nvSpPr>
        <p:spPr>
          <a:xfrm>
            <a:off x="658368" y="3566160"/>
            <a:ext cx="164592" cy="164592"/>
          </a:xfrm>
          <a:prstGeom prst="ellipse">
            <a:avLst/>
          </a:prstGeom>
          <a:solidFill>
            <a:srgbClr val="203370"/>
          </a:solidFill>
          <a:ln w="12700">
            <a:solidFill>
              <a:srgbClr val="203370"/>
            </a:solidFill>
            <a:prstDash val="solid"/>
          </a:ln>
        </p:spPr>
        <p:txBody>
          <a:bodyPr/>
          <a:lstStyle/>
          <a:p>
            <a:endParaRPr lang="en-US"/>
          </a:p>
        </p:txBody>
      </p:sp>
      <p:sp>
        <p:nvSpPr>
          <p:cNvPr id="30" name="Text 26"/>
          <p:cNvSpPr txBox="1"/>
          <p:nvPr/>
        </p:nvSpPr>
        <p:spPr>
          <a:xfrm>
            <a:off x="960120" y="3392424"/>
            <a:ext cx="2926080" cy="512064"/>
          </a:xfrm>
          <a:prstGeom prst="rect">
            <a:avLst/>
          </a:prstGeom>
          <a:noFill/>
          <a:ln/>
        </p:spPr>
        <p:txBody>
          <a:bodyPr wrap="square" lIns="0" tIns="0" rIns="0" bIns="0" rtlCol="0" anchor="ctr"/>
          <a:lstStyle/>
          <a:p>
            <a:pPr marL="0" indent="0">
              <a:buNone/>
            </a:pPr>
            <a:r>
              <a:rPr lang="en-US" sz="1300" b="1" dirty="0">
                <a:solidFill>
                  <a:srgbClr val="33404F"/>
                </a:solidFill>
                <a:latin typeface="Calibri" pitchFamily="34" charset="0"/>
                <a:ea typeface="Calibri" pitchFamily="34" charset="-122"/>
                <a:cs typeface="Calibri" pitchFamily="34" charset="-120"/>
              </a:rPr>
              <a:t>Task 1 · Claims dashboard</a:t>
            </a:r>
            <a:endParaRPr lang="en-US" sz="1300" dirty="0"/>
          </a:p>
        </p:txBody>
      </p:sp>
      <p:sp>
        <p:nvSpPr>
          <p:cNvPr id="31" name="Text 27"/>
          <p:cNvSpPr txBox="1"/>
          <p:nvPr/>
        </p:nvSpPr>
        <p:spPr>
          <a:xfrm>
            <a:off x="3931920" y="3392424"/>
            <a:ext cx="3931920" cy="512064"/>
          </a:xfrm>
          <a:prstGeom prst="rect">
            <a:avLst/>
          </a:prstGeom>
          <a:noFill/>
          <a:ln/>
        </p:spPr>
        <p:txBody>
          <a:bodyPr wrap="square" lIns="0" tIns="0" rIns="0" bIns="0" rtlCol="0" anchor="ctr"/>
          <a:lstStyle/>
          <a:p>
            <a:pPr marL="0" indent="0">
              <a:buNone/>
            </a:pPr>
            <a:r>
              <a:rPr lang="en-US" sz="1100" dirty="0">
                <a:solidFill>
                  <a:srgbClr val="55637A"/>
                </a:solidFill>
                <a:latin typeface="Calibri" pitchFamily="34" charset="0"/>
                <a:ea typeface="Calibri" pitchFamily="34" charset="-122"/>
                <a:cs typeface="Calibri" pitchFamily="34" charset="-120"/>
              </a:rPr>
              <a:t>5 pages · 22 visuals - each one as a finding</a:t>
            </a:r>
            <a:endParaRPr lang="en-US" sz="1100" dirty="0"/>
          </a:p>
        </p:txBody>
      </p:sp>
      <p:sp>
        <p:nvSpPr>
          <p:cNvPr id="32" name="Shape 28"/>
          <p:cNvSpPr/>
          <p:nvPr/>
        </p:nvSpPr>
        <p:spPr>
          <a:xfrm>
            <a:off x="457200" y="3995928"/>
            <a:ext cx="7498080" cy="512064"/>
          </a:xfrm>
          <a:prstGeom prst="roundRect">
            <a:avLst>
              <a:gd name="adj" fmla="val 2142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33" name="Shape 29"/>
          <p:cNvSpPr/>
          <p:nvPr/>
        </p:nvSpPr>
        <p:spPr>
          <a:xfrm>
            <a:off x="658368" y="4169664"/>
            <a:ext cx="164592" cy="164592"/>
          </a:xfrm>
          <a:prstGeom prst="ellipse">
            <a:avLst/>
          </a:prstGeom>
          <a:solidFill>
            <a:srgbClr val="203370"/>
          </a:solidFill>
          <a:ln w="12700">
            <a:solidFill>
              <a:srgbClr val="203370"/>
            </a:solidFill>
            <a:prstDash val="solid"/>
          </a:ln>
        </p:spPr>
        <p:txBody>
          <a:bodyPr/>
          <a:lstStyle/>
          <a:p>
            <a:endParaRPr lang="en-US"/>
          </a:p>
        </p:txBody>
      </p:sp>
      <p:sp>
        <p:nvSpPr>
          <p:cNvPr id="34" name="Text 30"/>
          <p:cNvSpPr txBox="1"/>
          <p:nvPr/>
        </p:nvSpPr>
        <p:spPr>
          <a:xfrm>
            <a:off x="960120" y="3995928"/>
            <a:ext cx="2926080" cy="512064"/>
          </a:xfrm>
          <a:prstGeom prst="rect">
            <a:avLst/>
          </a:prstGeom>
          <a:noFill/>
          <a:ln/>
        </p:spPr>
        <p:txBody>
          <a:bodyPr wrap="square" lIns="0" tIns="0" rIns="0" bIns="0" rtlCol="0" anchor="ctr"/>
          <a:lstStyle/>
          <a:p>
            <a:pPr marL="0" indent="0">
              <a:buNone/>
            </a:pPr>
            <a:r>
              <a:rPr lang="en-US" sz="1300" b="1" dirty="0">
                <a:solidFill>
                  <a:srgbClr val="33404F"/>
                </a:solidFill>
                <a:latin typeface="Calibri" pitchFamily="34" charset="0"/>
                <a:ea typeface="Calibri" pitchFamily="34" charset="-122"/>
                <a:cs typeface="Calibri" pitchFamily="34" charset="-120"/>
              </a:rPr>
              <a:t>Task 2 · Helpline dashboard</a:t>
            </a:r>
            <a:endParaRPr lang="en-US" sz="1300" dirty="0"/>
          </a:p>
        </p:txBody>
      </p:sp>
      <p:sp>
        <p:nvSpPr>
          <p:cNvPr id="35" name="Text 31"/>
          <p:cNvSpPr txBox="1"/>
          <p:nvPr/>
        </p:nvSpPr>
        <p:spPr>
          <a:xfrm>
            <a:off x="3931920" y="3995928"/>
            <a:ext cx="3931920" cy="512064"/>
          </a:xfrm>
          <a:prstGeom prst="rect">
            <a:avLst/>
          </a:prstGeom>
          <a:noFill/>
          <a:ln/>
        </p:spPr>
        <p:txBody>
          <a:bodyPr wrap="square" lIns="0" tIns="0" rIns="0" bIns="0" rtlCol="0" anchor="ctr"/>
          <a:lstStyle/>
          <a:p>
            <a:pPr marL="0" indent="0">
              <a:buNone/>
            </a:pPr>
            <a:r>
              <a:rPr lang="en-US" sz="1100" dirty="0">
                <a:solidFill>
                  <a:srgbClr val="55637A"/>
                </a:solidFill>
                <a:latin typeface="Calibri" pitchFamily="34" charset="0"/>
                <a:ea typeface="Calibri" pitchFamily="34" charset="-122"/>
                <a:cs typeface="Calibri" pitchFamily="34" charset="-120"/>
              </a:rPr>
              <a:t>1 page · 9 visuals - each one as a finding</a:t>
            </a:r>
            <a:endParaRPr lang="en-US" sz="1100" dirty="0"/>
          </a:p>
        </p:txBody>
      </p:sp>
      <p:sp>
        <p:nvSpPr>
          <p:cNvPr id="36" name="Shape 32"/>
          <p:cNvSpPr/>
          <p:nvPr/>
        </p:nvSpPr>
        <p:spPr>
          <a:xfrm>
            <a:off x="457200" y="4599432"/>
            <a:ext cx="7498080" cy="512064"/>
          </a:xfrm>
          <a:prstGeom prst="roundRect">
            <a:avLst>
              <a:gd name="adj" fmla="val 2142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37" name="Shape 33"/>
          <p:cNvSpPr/>
          <p:nvPr/>
        </p:nvSpPr>
        <p:spPr>
          <a:xfrm>
            <a:off x="658368" y="4773168"/>
            <a:ext cx="164592" cy="164592"/>
          </a:xfrm>
          <a:prstGeom prst="ellipse">
            <a:avLst/>
          </a:prstGeom>
          <a:solidFill>
            <a:srgbClr val="2E8B78"/>
          </a:solidFill>
          <a:ln w="12700">
            <a:solidFill>
              <a:srgbClr val="2E8B78"/>
            </a:solidFill>
            <a:prstDash val="solid"/>
          </a:ln>
        </p:spPr>
        <p:txBody>
          <a:bodyPr/>
          <a:lstStyle/>
          <a:p>
            <a:endParaRPr lang="en-US"/>
          </a:p>
        </p:txBody>
      </p:sp>
      <p:sp>
        <p:nvSpPr>
          <p:cNvPr id="38" name="Text 34"/>
          <p:cNvSpPr txBox="1"/>
          <p:nvPr/>
        </p:nvSpPr>
        <p:spPr>
          <a:xfrm>
            <a:off x="960120" y="4599432"/>
            <a:ext cx="2926080" cy="512064"/>
          </a:xfrm>
          <a:prstGeom prst="rect">
            <a:avLst/>
          </a:prstGeom>
          <a:noFill/>
          <a:ln/>
        </p:spPr>
        <p:txBody>
          <a:bodyPr wrap="square" lIns="0" tIns="0" rIns="0" bIns="0" rtlCol="0" anchor="ctr"/>
          <a:lstStyle/>
          <a:p>
            <a:pPr marL="0" indent="0">
              <a:buNone/>
            </a:pPr>
            <a:r>
              <a:rPr lang="en-US" sz="1300" b="1" dirty="0">
                <a:solidFill>
                  <a:srgbClr val="33404F"/>
                </a:solidFill>
                <a:latin typeface="Calibri" pitchFamily="34" charset="0"/>
                <a:ea typeface="Calibri" pitchFamily="34" charset="-122"/>
                <a:cs typeface="Calibri" pitchFamily="34" charset="-120"/>
              </a:rPr>
              <a:t>Task 3 · SQL (from the PDF)</a:t>
            </a:r>
            <a:endParaRPr lang="en-US" sz="1300" dirty="0"/>
          </a:p>
        </p:txBody>
      </p:sp>
      <p:sp>
        <p:nvSpPr>
          <p:cNvPr id="39" name="Text 35"/>
          <p:cNvSpPr txBox="1"/>
          <p:nvPr/>
        </p:nvSpPr>
        <p:spPr>
          <a:xfrm>
            <a:off x="3931920" y="4599432"/>
            <a:ext cx="3931920" cy="512064"/>
          </a:xfrm>
          <a:prstGeom prst="rect">
            <a:avLst/>
          </a:prstGeom>
          <a:noFill/>
          <a:ln/>
        </p:spPr>
        <p:txBody>
          <a:bodyPr wrap="square" lIns="0" tIns="0" rIns="0" bIns="0" rtlCol="0" anchor="ctr"/>
          <a:lstStyle/>
          <a:p>
            <a:pPr marL="0" indent="0">
              <a:buNone/>
            </a:pPr>
            <a:r>
              <a:rPr lang="en-US" sz="1100" dirty="0">
                <a:solidFill>
                  <a:srgbClr val="55637A"/>
                </a:solidFill>
                <a:latin typeface="Calibri" pitchFamily="34" charset="0"/>
                <a:ea typeface="Calibri" pitchFamily="34" charset="-122"/>
                <a:cs typeface="Calibri" pitchFamily="34" charset="-120"/>
              </a:rPr>
              <a:t>Three queries, the optimisation choices, two indexes</a:t>
            </a:r>
            <a:endParaRPr lang="en-US" sz="1100" dirty="0"/>
          </a:p>
        </p:txBody>
      </p:sp>
      <p:sp>
        <p:nvSpPr>
          <p:cNvPr id="40" name="Shape 36"/>
          <p:cNvSpPr/>
          <p:nvPr/>
        </p:nvSpPr>
        <p:spPr>
          <a:xfrm>
            <a:off x="457200" y="5202936"/>
            <a:ext cx="7498080" cy="512064"/>
          </a:xfrm>
          <a:prstGeom prst="roundRect">
            <a:avLst>
              <a:gd name="adj" fmla="val 2142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41" name="Shape 37"/>
          <p:cNvSpPr/>
          <p:nvPr/>
        </p:nvSpPr>
        <p:spPr>
          <a:xfrm>
            <a:off x="658368" y="5376672"/>
            <a:ext cx="164592" cy="164592"/>
          </a:xfrm>
          <a:prstGeom prst="ellipse">
            <a:avLst/>
          </a:prstGeom>
          <a:solidFill>
            <a:srgbClr val="4BA38C"/>
          </a:solidFill>
          <a:ln w="12700">
            <a:solidFill>
              <a:srgbClr val="4BA38C"/>
            </a:solidFill>
            <a:prstDash val="solid"/>
          </a:ln>
        </p:spPr>
        <p:txBody>
          <a:bodyPr/>
          <a:lstStyle/>
          <a:p>
            <a:endParaRPr lang="en-US"/>
          </a:p>
        </p:txBody>
      </p:sp>
      <p:sp>
        <p:nvSpPr>
          <p:cNvPr id="42" name="Text 38"/>
          <p:cNvSpPr txBox="1"/>
          <p:nvPr/>
        </p:nvSpPr>
        <p:spPr>
          <a:xfrm>
            <a:off x="960120" y="5202936"/>
            <a:ext cx="2926080" cy="512064"/>
          </a:xfrm>
          <a:prstGeom prst="rect">
            <a:avLst/>
          </a:prstGeom>
          <a:noFill/>
          <a:ln/>
        </p:spPr>
        <p:txBody>
          <a:bodyPr wrap="square" lIns="0" tIns="0" rIns="0" bIns="0" rtlCol="0" anchor="ctr"/>
          <a:lstStyle/>
          <a:p>
            <a:pPr marL="0" indent="0">
              <a:buNone/>
            </a:pPr>
            <a:r>
              <a:rPr lang="en-US" sz="1300" b="1" dirty="0">
                <a:solidFill>
                  <a:srgbClr val="33404F"/>
                </a:solidFill>
                <a:latin typeface="Calibri" pitchFamily="34" charset="0"/>
                <a:ea typeface="Calibri" pitchFamily="34" charset="-122"/>
                <a:cs typeface="Calibri" pitchFamily="34" charset="-120"/>
              </a:rPr>
              <a:t>Discussion &amp; Q&amp;A</a:t>
            </a:r>
            <a:endParaRPr lang="en-US" sz="1300" dirty="0"/>
          </a:p>
        </p:txBody>
      </p:sp>
      <p:sp>
        <p:nvSpPr>
          <p:cNvPr id="43" name="Text 39"/>
          <p:cNvSpPr txBox="1"/>
          <p:nvPr/>
        </p:nvSpPr>
        <p:spPr>
          <a:xfrm>
            <a:off x="3931920" y="5202936"/>
            <a:ext cx="3931920" cy="512064"/>
          </a:xfrm>
          <a:prstGeom prst="rect">
            <a:avLst/>
          </a:prstGeom>
          <a:noFill/>
          <a:ln/>
        </p:spPr>
        <p:txBody>
          <a:bodyPr wrap="square" lIns="0" tIns="0" rIns="0" bIns="0" rtlCol="0" anchor="ctr"/>
          <a:lstStyle/>
          <a:p>
            <a:pPr marL="0" indent="0">
              <a:buNone/>
            </a:pPr>
            <a:r>
              <a:rPr lang="en-US" sz="1100" dirty="0">
                <a:solidFill>
                  <a:srgbClr val="55637A"/>
                </a:solidFill>
                <a:latin typeface="Calibri" pitchFamily="34" charset="0"/>
                <a:ea typeface="Calibri" pitchFamily="34" charset="-122"/>
                <a:cs typeface="Calibri" pitchFamily="34" charset="-120"/>
              </a:rPr>
              <a:t>Live drill into either .pbix, panel questions, next steps</a:t>
            </a:r>
            <a:endParaRPr lang="en-US" sz="1100" dirty="0"/>
          </a:p>
        </p:txBody>
      </p:sp>
      <p:sp>
        <p:nvSpPr>
          <p:cNvPr id="44" name="Shape 40"/>
          <p:cNvSpPr/>
          <p:nvPr/>
        </p:nvSpPr>
        <p:spPr>
          <a:xfrm>
            <a:off x="8229600" y="2788920"/>
            <a:ext cx="3502152" cy="2944368"/>
          </a:xfrm>
          <a:prstGeom prst="roundRect">
            <a:avLst>
              <a:gd name="adj" fmla="val 372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45" name="Text 41"/>
          <p:cNvSpPr txBox="1"/>
          <p:nvPr/>
        </p:nvSpPr>
        <p:spPr>
          <a:xfrm>
            <a:off x="8458200" y="2926080"/>
            <a:ext cx="3108960" cy="365760"/>
          </a:xfrm>
          <a:prstGeom prst="rect">
            <a:avLst/>
          </a:prstGeom>
          <a:noFill/>
          <a:ln/>
        </p:spPr>
        <p:txBody>
          <a:bodyPr wrap="square" lIns="0" tIns="0" rIns="0" bIns="0" rtlCol="0" anchor="ctr"/>
          <a:lstStyle/>
          <a:p>
            <a:pPr marL="0" indent="0">
              <a:buNone/>
            </a:pPr>
            <a:r>
              <a:rPr lang="en-US" sz="1300" b="1" dirty="0">
                <a:solidFill>
                  <a:srgbClr val="203370"/>
                </a:solidFill>
                <a:latin typeface="Calibri" pitchFamily="34" charset="0"/>
                <a:ea typeface="Calibri" pitchFamily="34" charset="-122"/>
                <a:cs typeface="Calibri" pitchFamily="34" charset="-120"/>
              </a:rPr>
              <a:t>Every visual, the same way</a:t>
            </a:r>
            <a:endParaRPr lang="en-US" sz="1300" dirty="0"/>
          </a:p>
        </p:txBody>
      </p:sp>
      <p:sp>
        <p:nvSpPr>
          <p:cNvPr id="46" name="Shape 42"/>
          <p:cNvSpPr/>
          <p:nvPr/>
        </p:nvSpPr>
        <p:spPr>
          <a:xfrm>
            <a:off x="8458200" y="3429000"/>
            <a:ext cx="146304" cy="146304"/>
          </a:xfrm>
          <a:prstGeom prst="ellipse">
            <a:avLst/>
          </a:prstGeom>
          <a:solidFill>
            <a:srgbClr val="203370"/>
          </a:solidFill>
          <a:ln w="12700">
            <a:solidFill>
              <a:srgbClr val="203370"/>
            </a:solidFill>
            <a:prstDash val="solid"/>
          </a:ln>
        </p:spPr>
        <p:txBody>
          <a:bodyPr/>
          <a:lstStyle/>
          <a:p>
            <a:endParaRPr lang="en-US"/>
          </a:p>
        </p:txBody>
      </p:sp>
      <p:sp>
        <p:nvSpPr>
          <p:cNvPr id="47" name="Text 43"/>
          <p:cNvSpPr txBox="1"/>
          <p:nvPr/>
        </p:nvSpPr>
        <p:spPr>
          <a:xfrm>
            <a:off x="8686800" y="3364992"/>
            <a:ext cx="2926080" cy="274320"/>
          </a:xfrm>
          <a:prstGeom prst="rect">
            <a:avLst/>
          </a:prstGeom>
          <a:noFill/>
          <a:ln/>
        </p:spPr>
        <p:txBody>
          <a:bodyPr wrap="square" lIns="0" tIns="0" rIns="0" bIns="0" rtlCol="0" anchor="ctr"/>
          <a:lstStyle/>
          <a:p>
            <a:pPr marL="0" indent="0">
              <a:buNone/>
            </a:pPr>
            <a:r>
              <a:rPr lang="en-US" sz="1200" b="1" dirty="0">
                <a:solidFill>
                  <a:srgbClr val="203370"/>
                </a:solidFill>
                <a:latin typeface="Calibri" pitchFamily="34" charset="0"/>
                <a:ea typeface="Calibri" pitchFamily="34" charset="-122"/>
                <a:cs typeface="Calibri" pitchFamily="34" charset="-120"/>
              </a:rPr>
              <a:t>The visual</a:t>
            </a:r>
            <a:endParaRPr lang="en-US" sz="1200" dirty="0"/>
          </a:p>
        </p:txBody>
      </p:sp>
      <p:sp>
        <p:nvSpPr>
          <p:cNvPr id="48" name="Text 44"/>
          <p:cNvSpPr txBox="1"/>
          <p:nvPr/>
        </p:nvSpPr>
        <p:spPr>
          <a:xfrm>
            <a:off x="8686800" y="3621024"/>
            <a:ext cx="2926080" cy="329184"/>
          </a:xfrm>
          <a:prstGeom prst="rect">
            <a:avLst/>
          </a:prstGeom>
          <a:noFill/>
          <a:ln/>
        </p:spPr>
        <p:txBody>
          <a:bodyPr wrap="square" lIns="0" tIns="0" rIns="0" bIns="0" rtlCol="0" anchor="ctr"/>
          <a:lstStyle/>
          <a:p>
            <a:pPr marL="0" indent="0">
              <a:buNone/>
            </a:pPr>
            <a:r>
              <a:rPr lang="en-US" sz="1050" dirty="0">
                <a:solidFill>
                  <a:srgbClr val="55637A"/>
                </a:solidFill>
                <a:latin typeface="Calibri" pitchFamily="34" charset="0"/>
                <a:ea typeface="Calibri" pitchFamily="34" charset="-122"/>
                <a:cs typeface="Calibri" pitchFamily="34" charset="-120"/>
              </a:rPr>
              <a:t>what is on the page and how it is built</a:t>
            </a:r>
            <a:endParaRPr lang="en-US" sz="1050" dirty="0"/>
          </a:p>
        </p:txBody>
      </p:sp>
      <p:sp>
        <p:nvSpPr>
          <p:cNvPr id="49" name="Shape 45"/>
          <p:cNvSpPr/>
          <p:nvPr/>
        </p:nvSpPr>
        <p:spPr>
          <a:xfrm>
            <a:off x="8458200" y="4087368"/>
            <a:ext cx="146304" cy="146304"/>
          </a:xfrm>
          <a:prstGeom prst="ellipse">
            <a:avLst/>
          </a:prstGeom>
          <a:solidFill>
            <a:srgbClr val="2E8B78"/>
          </a:solidFill>
          <a:ln w="12700">
            <a:solidFill>
              <a:srgbClr val="2E8B78"/>
            </a:solidFill>
            <a:prstDash val="solid"/>
          </a:ln>
        </p:spPr>
        <p:txBody>
          <a:bodyPr/>
          <a:lstStyle/>
          <a:p>
            <a:endParaRPr lang="en-US"/>
          </a:p>
        </p:txBody>
      </p:sp>
      <p:sp>
        <p:nvSpPr>
          <p:cNvPr id="50" name="Text 46"/>
          <p:cNvSpPr txBox="1"/>
          <p:nvPr/>
        </p:nvSpPr>
        <p:spPr>
          <a:xfrm>
            <a:off x="8686800" y="4023360"/>
            <a:ext cx="2926080" cy="274320"/>
          </a:xfrm>
          <a:prstGeom prst="rect">
            <a:avLst/>
          </a:prstGeom>
          <a:noFill/>
          <a:ln/>
        </p:spPr>
        <p:txBody>
          <a:bodyPr wrap="square" lIns="0" tIns="0" rIns="0" bIns="0" rtlCol="0" anchor="ctr"/>
          <a:lstStyle/>
          <a:p>
            <a:pPr marL="0" indent="0">
              <a:buNone/>
            </a:pPr>
            <a:r>
              <a:rPr lang="en-US" sz="1200" b="1" dirty="0">
                <a:solidFill>
                  <a:srgbClr val="2E8B78"/>
                </a:solidFill>
                <a:latin typeface="Calibri" pitchFamily="34" charset="0"/>
                <a:ea typeface="Calibri" pitchFamily="34" charset="-122"/>
                <a:cs typeface="Calibri" pitchFamily="34" charset="-120"/>
              </a:rPr>
              <a:t>What we found</a:t>
            </a:r>
            <a:endParaRPr lang="en-US" sz="1200" dirty="0"/>
          </a:p>
        </p:txBody>
      </p:sp>
      <p:sp>
        <p:nvSpPr>
          <p:cNvPr id="51" name="Text 47"/>
          <p:cNvSpPr txBox="1"/>
          <p:nvPr/>
        </p:nvSpPr>
        <p:spPr>
          <a:xfrm>
            <a:off x="8686800" y="4279392"/>
            <a:ext cx="2926080" cy="329184"/>
          </a:xfrm>
          <a:prstGeom prst="rect">
            <a:avLst/>
          </a:prstGeom>
          <a:noFill/>
          <a:ln/>
        </p:spPr>
        <p:txBody>
          <a:bodyPr wrap="square" lIns="0" tIns="0" rIns="0" bIns="0" rtlCol="0" anchor="ctr"/>
          <a:lstStyle/>
          <a:p>
            <a:pPr marL="0" indent="0">
              <a:buNone/>
            </a:pPr>
            <a:r>
              <a:rPr lang="en-US" sz="1050" dirty="0">
                <a:solidFill>
                  <a:srgbClr val="55637A"/>
                </a:solidFill>
                <a:latin typeface="Calibri" pitchFamily="34" charset="0"/>
                <a:ea typeface="Calibri" pitchFamily="34" charset="-122"/>
                <a:cs typeface="Calibri" pitchFamily="34" charset="-120"/>
              </a:rPr>
              <a:t>the number, then the pattern behind it</a:t>
            </a:r>
            <a:endParaRPr lang="en-US" sz="1050" dirty="0"/>
          </a:p>
        </p:txBody>
      </p:sp>
      <p:sp>
        <p:nvSpPr>
          <p:cNvPr id="52" name="Shape 48"/>
          <p:cNvSpPr/>
          <p:nvPr/>
        </p:nvSpPr>
        <p:spPr>
          <a:xfrm>
            <a:off x="8458200" y="4745736"/>
            <a:ext cx="146304" cy="146304"/>
          </a:xfrm>
          <a:prstGeom prst="ellipse">
            <a:avLst/>
          </a:prstGeom>
          <a:solidFill>
            <a:srgbClr val="C98A2B"/>
          </a:solidFill>
          <a:ln w="12700">
            <a:solidFill>
              <a:srgbClr val="C98A2B"/>
            </a:solidFill>
            <a:prstDash val="solid"/>
          </a:ln>
        </p:spPr>
        <p:txBody>
          <a:bodyPr/>
          <a:lstStyle/>
          <a:p>
            <a:endParaRPr lang="en-US"/>
          </a:p>
        </p:txBody>
      </p:sp>
      <p:sp>
        <p:nvSpPr>
          <p:cNvPr id="53" name="Text 49"/>
          <p:cNvSpPr txBox="1"/>
          <p:nvPr/>
        </p:nvSpPr>
        <p:spPr>
          <a:xfrm>
            <a:off x="8686800" y="4681728"/>
            <a:ext cx="2926080" cy="274320"/>
          </a:xfrm>
          <a:prstGeom prst="rect">
            <a:avLst/>
          </a:prstGeom>
          <a:noFill/>
          <a:ln/>
        </p:spPr>
        <p:txBody>
          <a:bodyPr wrap="square" lIns="0" tIns="0" rIns="0" bIns="0" rtlCol="0" anchor="ctr"/>
          <a:lstStyle/>
          <a:p>
            <a:pPr marL="0" indent="0">
              <a:buNone/>
            </a:pPr>
            <a:r>
              <a:rPr lang="en-US" sz="1200" b="1" dirty="0">
                <a:solidFill>
                  <a:srgbClr val="C98A2B"/>
                </a:solidFill>
                <a:latin typeface="Calibri" pitchFamily="34" charset="0"/>
                <a:ea typeface="Calibri" pitchFamily="34" charset="-122"/>
                <a:cs typeface="Calibri" pitchFamily="34" charset="-120"/>
              </a:rPr>
              <a:t>What it means</a:t>
            </a:r>
            <a:endParaRPr lang="en-US" sz="1200" dirty="0"/>
          </a:p>
        </p:txBody>
      </p:sp>
      <p:sp>
        <p:nvSpPr>
          <p:cNvPr id="54" name="Text 50"/>
          <p:cNvSpPr txBox="1"/>
          <p:nvPr/>
        </p:nvSpPr>
        <p:spPr>
          <a:xfrm>
            <a:off x="8686800" y="4937760"/>
            <a:ext cx="2926080" cy="329184"/>
          </a:xfrm>
          <a:prstGeom prst="rect">
            <a:avLst/>
          </a:prstGeom>
          <a:noFill/>
          <a:ln/>
        </p:spPr>
        <p:txBody>
          <a:bodyPr wrap="square" lIns="0" tIns="0" rIns="0" bIns="0" rtlCol="0" anchor="ctr"/>
          <a:lstStyle/>
          <a:p>
            <a:pPr marL="0" indent="0">
              <a:buNone/>
            </a:pPr>
            <a:r>
              <a:rPr lang="en-US" sz="1050" dirty="0">
                <a:solidFill>
                  <a:srgbClr val="55637A"/>
                </a:solidFill>
                <a:latin typeface="Calibri" pitchFamily="34" charset="0"/>
                <a:ea typeface="Calibri" pitchFamily="34" charset="-122"/>
                <a:cs typeface="Calibri" pitchFamily="34" charset="-120"/>
              </a:rPr>
              <a:t>the issue it raises and the action it points to</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Claims &amp; policy performance - five pages, 22 visuals</a:t>
            </a:r>
            <a:endParaRPr lang="en-US" sz="2500" dirty="0"/>
          </a:p>
        </p:txBody>
      </p:sp>
      <p:sp>
        <p:nvSpPr>
          <p:cNvPr id="5" name="Shape 1"/>
          <p:cNvSpPr/>
          <p:nvPr/>
        </p:nvSpPr>
        <p:spPr>
          <a:xfrm>
            <a:off x="9331452" y="1069848"/>
            <a:ext cx="2418588"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9331452" y="1069848"/>
            <a:ext cx="2418588"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POWER BI  ·  MAP</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3 / 24</a:t>
            </a:r>
            <a:endParaRPr lang="en-US" sz="900" dirty="0"/>
          </a:p>
        </p:txBody>
      </p:sp>
      <p:pic>
        <p:nvPicPr>
          <p:cNvPr id="9" name="Image 2" descr="crops_small/t1_full.jpg"/>
          <p:cNvPicPr>
            <a:picLocks noChangeAspect="1"/>
          </p:cNvPicPr>
          <p:nvPr/>
        </p:nvPicPr>
        <p:blipFill>
          <a:blip r:embed="rId6"/>
          <a:srcRect l="741" t="1139" r="663" b="1453"/>
          <a:stretch>
            <a:fillRect/>
          </a:stretch>
        </p:blipFill>
        <p:spPr>
          <a:xfrm>
            <a:off x="598769" y="1962097"/>
            <a:ext cx="6671575" cy="3334520"/>
          </a:xfrm>
          <a:prstGeom prst="rect">
            <a:avLst/>
          </a:prstGeom>
          <a:ln>
            <a:noFill/>
          </a:ln>
          <a:effectLst>
            <a:outerShdw blurRad="292100" dist="139700" dir="2700000" algn="tl" rotWithShape="0">
              <a:srgbClr val="333333">
                <a:alpha val="65000"/>
              </a:srgbClr>
            </a:outerShdw>
          </a:effectLst>
        </p:spPr>
      </p:pic>
      <p:sp>
        <p:nvSpPr>
          <p:cNvPr id="10" name="Text 5"/>
          <p:cNvSpPr txBox="1"/>
          <p:nvPr/>
        </p:nvSpPr>
        <p:spPr>
          <a:xfrm>
            <a:off x="594360" y="5559552"/>
            <a:ext cx="6675120" cy="274320"/>
          </a:xfrm>
          <a:prstGeom prst="rect">
            <a:avLst/>
          </a:prstGeom>
          <a:noFill/>
          <a:ln/>
        </p:spPr>
        <p:txBody>
          <a:bodyPr wrap="square" lIns="0" tIns="0" rIns="0" bIns="0" rtlCol="0" anchor="ctr"/>
          <a:lstStyle/>
          <a:p>
            <a:pPr marL="0" indent="0">
              <a:buNone/>
            </a:pPr>
            <a:r>
              <a:rPr lang="en-US" sz="900" i="1" dirty="0">
                <a:solidFill>
                  <a:schemeClr val="bg2"/>
                </a:solidFill>
                <a:latin typeface="Calibri" pitchFamily="34" charset="0"/>
                <a:ea typeface="Calibri" pitchFamily="34" charset="-122"/>
                <a:cs typeface="Calibri" pitchFamily="34" charset="-120"/>
              </a:rPr>
              <a:t>Report page 1 - Policy performance (KPI strip, policy-month line, benefit mix, claim-type donut, five slicers)</a:t>
            </a:r>
            <a:endParaRPr lang="en-US" sz="900" dirty="0">
              <a:solidFill>
                <a:schemeClr val="bg2"/>
              </a:solidFill>
            </a:endParaRPr>
          </a:p>
        </p:txBody>
      </p:sp>
      <p:sp>
        <p:nvSpPr>
          <p:cNvPr id="11" name="Shape 6"/>
          <p:cNvSpPr/>
          <p:nvPr/>
        </p:nvSpPr>
        <p:spPr>
          <a:xfrm>
            <a:off x="7589520" y="1691640"/>
            <a:ext cx="4160520" cy="4206240"/>
          </a:xfrm>
          <a:prstGeom prst="roundRect">
            <a:avLst>
              <a:gd name="adj" fmla="val 263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7"/>
          <p:cNvSpPr txBox="1"/>
          <p:nvPr/>
        </p:nvSpPr>
        <p:spPr>
          <a:xfrm>
            <a:off x="7772400" y="1810512"/>
            <a:ext cx="3840480" cy="256032"/>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1  Policy performance</a:t>
            </a:r>
            <a:endParaRPr lang="en-US" sz="1100" dirty="0"/>
          </a:p>
        </p:txBody>
      </p:sp>
      <p:sp>
        <p:nvSpPr>
          <p:cNvPr id="13" name="Text 8"/>
          <p:cNvSpPr txBox="1"/>
          <p:nvPr/>
        </p:nvSpPr>
        <p:spPr>
          <a:xfrm>
            <a:off x="7772400" y="2066544"/>
            <a:ext cx="3840480" cy="530352"/>
          </a:xfrm>
          <a:prstGeom prst="rect">
            <a:avLst/>
          </a:prstGeom>
          <a:noFill/>
          <a:ln/>
        </p:spPr>
        <p:txBody>
          <a:bodyPr wrap="square" lIns="0" tIns="0" rIns="0" bIns="0" rtlCol="0" anchor="t"/>
          <a:lstStyle/>
          <a:p>
            <a:pPr marL="0" indent="0">
              <a:buNone/>
            </a:pPr>
            <a:r>
              <a:rPr lang="en-US" sz="900" dirty="0">
                <a:solidFill>
                  <a:srgbClr val="33404F"/>
                </a:solidFill>
                <a:latin typeface="Calibri" pitchFamily="34" charset="0"/>
                <a:ea typeface="Calibri" pitchFamily="34" charset="-122"/>
                <a:cs typeface="Calibri" pitchFamily="34" charset="-120"/>
              </a:rPr>
              <a:t>6 KPI cards · Total Paid by policy month · Family of Benefit by Total Paid · Claim Type by count · 5 slicers</a:t>
            </a:r>
            <a:endParaRPr lang="en-US" sz="900" dirty="0"/>
          </a:p>
        </p:txBody>
      </p:sp>
      <p:sp>
        <p:nvSpPr>
          <p:cNvPr id="14" name="Text 9"/>
          <p:cNvSpPr txBox="1"/>
          <p:nvPr/>
        </p:nvSpPr>
        <p:spPr>
          <a:xfrm>
            <a:off x="7772400" y="2633472"/>
            <a:ext cx="3840480" cy="256032"/>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2  Abnormal findings</a:t>
            </a:r>
            <a:endParaRPr lang="en-US" sz="1100" dirty="0"/>
          </a:p>
        </p:txBody>
      </p:sp>
      <p:sp>
        <p:nvSpPr>
          <p:cNvPr id="15" name="Text 10"/>
          <p:cNvSpPr txBox="1"/>
          <p:nvPr/>
        </p:nvSpPr>
        <p:spPr>
          <a:xfrm>
            <a:off x="7772400" y="2889504"/>
            <a:ext cx="3840480" cy="530352"/>
          </a:xfrm>
          <a:prstGeom prst="rect">
            <a:avLst/>
          </a:prstGeom>
          <a:noFill/>
          <a:ln/>
        </p:spPr>
        <p:txBody>
          <a:bodyPr wrap="square" lIns="0" tIns="0" rIns="0" bIns="0" rtlCol="0" anchor="t"/>
          <a:lstStyle/>
          <a:p>
            <a:pPr marL="0" indent="0">
              <a:buNone/>
            </a:pPr>
            <a:r>
              <a:rPr lang="en-US" sz="900" dirty="0">
                <a:solidFill>
                  <a:srgbClr val="33404F"/>
                </a:solidFill>
                <a:latin typeface="Calibri" pitchFamily="34" charset="0"/>
                <a:ea typeface="Calibri" pitchFamily="34" charset="-122"/>
                <a:cs typeface="Calibri" pitchFamily="34" charset="-120"/>
              </a:rPr>
              <a:t>3 KPI cards · The October Spike · Automation Rate · Cost Concentration · Zero Value Claims · Data Quality Table</a:t>
            </a:r>
            <a:endParaRPr lang="en-US" sz="900" dirty="0"/>
          </a:p>
        </p:txBody>
      </p:sp>
      <p:sp>
        <p:nvSpPr>
          <p:cNvPr id="16" name="Text 11"/>
          <p:cNvSpPr txBox="1"/>
          <p:nvPr/>
        </p:nvSpPr>
        <p:spPr>
          <a:xfrm>
            <a:off x="7772400" y="3456432"/>
            <a:ext cx="3840480" cy="256032"/>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3  High utilisation drivers</a:t>
            </a:r>
            <a:endParaRPr lang="en-US" sz="1100" dirty="0"/>
          </a:p>
        </p:txBody>
      </p:sp>
      <p:sp>
        <p:nvSpPr>
          <p:cNvPr id="17" name="Text 12"/>
          <p:cNvSpPr txBox="1"/>
          <p:nvPr/>
        </p:nvSpPr>
        <p:spPr>
          <a:xfrm>
            <a:off x="7772400" y="3712464"/>
            <a:ext cx="3840480" cy="530352"/>
          </a:xfrm>
          <a:prstGeom prst="rect">
            <a:avLst/>
          </a:prstGeom>
          <a:noFill/>
          <a:ln/>
        </p:spPr>
        <p:txBody>
          <a:bodyPr wrap="square" lIns="0" tIns="0" rIns="0" bIns="0" rtlCol="0" anchor="t"/>
          <a:lstStyle/>
          <a:p>
            <a:pPr marL="0" indent="0">
              <a:buNone/>
            </a:pPr>
            <a:r>
              <a:rPr lang="en-US" sz="900" dirty="0">
                <a:solidFill>
                  <a:srgbClr val="33404F"/>
                </a:solidFill>
                <a:latin typeface="Calibri" pitchFamily="34" charset="0"/>
                <a:ea typeface="Calibri" pitchFamily="34" charset="-122"/>
                <a:cs typeface="Calibri" pitchFamily="34" charset="-120"/>
              </a:rPr>
              <a:t>Interactive Centrepiece (decomposition tree) · Outliers Finder · Top 10 Diagnoses · Most Common Outlier card · Demographics</a:t>
            </a:r>
            <a:endParaRPr lang="en-US" sz="900" dirty="0"/>
          </a:p>
        </p:txBody>
      </p:sp>
      <p:sp>
        <p:nvSpPr>
          <p:cNvPr id="18" name="Text 13"/>
          <p:cNvSpPr txBox="1"/>
          <p:nvPr/>
        </p:nvSpPr>
        <p:spPr>
          <a:xfrm>
            <a:off x="7772400" y="4279392"/>
            <a:ext cx="3840480" cy="256032"/>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4  Trend analysis</a:t>
            </a:r>
            <a:endParaRPr lang="en-US" sz="1100" dirty="0"/>
          </a:p>
        </p:txBody>
      </p:sp>
      <p:sp>
        <p:nvSpPr>
          <p:cNvPr id="19" name="Text 14"/>
          <p:cNvSpPr txBox="1"/>
          <p:nvPr/>
        </p:nvSpPr>
        <p:spPr>
          <a:xfrm>
            <a:off x="7772400" y="4535424"/>
            <a:ext cx="3840480" cy="530352"/>
          </a:xfrm>
          <a:prstGeom prst="rect">
            <a:avLst/>
          </a:prstGeom>
          <a:noFill/>
          <a:ln/>
        </p:spPr>
        <p:txBody>
          <a:bodyPr wrap="square" lIns="0" tIns="0" rIns="0" bIns="0" rtlCol="0" anchor="t"/>
          <a:lstStyle/>
          <a:p>
            <a:pPr marL="0" indent="0">
              <a:buNone/>
            </a:pPr>
            <a:r>
              <a:rPr lang="en-US" sz="900" dirty="0">
                <a:solidFill>
                  <a:srgbClr val="33404F"/>
                </a:solidFill>
                <a:latin typeface="Calibri" pitchFamily="34" charset="0"/>
                <a:ea typeface="Calibri" pitchFamily="34" charset="-122"/>
                <a:cs typeface="Calibri" pitchFamily="34" charset="-120"/>
              </a:rPr>
              <a:t>5 KPI tiles · Total Paid by UWY month split by UWY · Cost per Member with trend line · Avg TAT by settlement month</a:t>
            </a:r>
            <a:endParaRPr lang="en-US" sz="900" dirty="0"/>
          </a:p>
        </p:txBody>
      </p:sp>
      <p:sp>
        <p:nvSpPr>
          <p:cNvPr id="20" name="Text 15"/>
          <p:cNvSpPr txBox="1"/>
          <p:nvPr/>
        </p:nvSpPr>
        <p:spPr>
          <a:xfrm>
            <a:off x="7772400" y="5102352"/>
            <a:ext cx="3840480" cy="256032"/>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5  Claim detail</a:t>
            </a:r>
            <a:endParaRPr lang="en-US" sz="1100" dirty="0"/>
          </a:p>
        </p:txBody>
      </p:sp>
      <p:sp>
        <p:nvSpPr>
          <p:cNvPr id="21" name="Text 16"/>
          <p:cNvSpPr txBox="1"/>
          <p:nvPr/>
        </p:nvSpPr>
        <p:spPr>
          <a:xfrm>
            <a:off x="7772400" y="5358384"/>
            <a:ext cx="3840480" cy="530352"/>
          </a:xfrm>
          <a:prstGeom prst="rect">
            <a:avLst/>
          </a:prstGeom>
          <a:noFill/>
          <a:ln/>
        </p:spPr>
        <p:txBody>
          <a:bodyPr wrap="square" lIns="0" tIns="0" rIns="0" bIns="0" rtlCol="0" anchor="t"/>
          <a:lstStyle/>
          <a:p>
            <a:pPr marL="0" indent="0">
              <a:buNone/>
            </a:pPr>
            <a:r>
              <a:rPr lang="en-US" sz="900" dirty="0">
                <a:solidFill>
                  <a:srgbClr val="33404F"/>
                </a:solidFill>
                <a:latin typeface="Calibri" pitchFamily="34" charset="0"/>
                <a:ea typeface="Calibri" pitchFamily="34" charset="-122"/>
                <a:cs typeface="Calibri" pitchFamily="34" charset="-120"/>
              </a:rPr>
              <a:t>Drill-through table - one row per claim line, reachable from any diagnosis, member or provider</a:t>
            </a:r>
            <a:endParaRPr lang="en-US" sz="900" dirty="0"/>
          </a:p>
        </p:txBody>
      </p:sp>
      <p:sp>
        <p:nvSpPr>
          <p:cNvPr id="22" name="Shape 17"/>
          <p:cNvSpPr/>
          <p:nvPr/>
        </p:nvSpPr>
        <p:spPr>
          <a:xfrm>
            <a:off x="457200" y="6035040"/>
            <a:ext cx="11292840" cy="384048"/>
          </a:xfrm>
          <a:prstGeom prst="roundRect">
            <a:avLst>
              <a:gd name="adj" fmla="val 28571"/>
            </a:avLst>
          </a:prstGeom>
          <a:solidFill>
            <a:srgbClr val="F3F7F9"/>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3" name="Text 18"/>
          <p:cNvSpPr txBox="1"/>
          <p:nvPr/>
        </p:nvSpPr>
        <p:spPr>
          <a:xfrm>
            <a:off x="640080" y="6035040"/>
            <a:ext cx="10927080" cy="384048"/>
          </a:xfrm>
          <a:prstGeom prst="rect">
            <a:avLst/>
          </a:prstGeom>
          <a:noFill/>
          <a:ln/>
        </p:spPr>
        <p:txBody>
          <a:bodyPr wrap="square" lIns="0" tIns="0" rIns="0" bIns="0" rtlCol="0" anchor="ctr"/>
          <a:lstStyle/>
          <a:p>
            <a:pPr marL="0" indent="0">
              <a:buNone/>
            </a:pPr>
            <a:r>
              <a:rPr lang="en-US" sz="1050" b="1" dirty="0">
                <a:solidFill>
                  <a:srgbClr val="203370"/>
                </a:solidFill>
                <a:latin typeface="Calibri" pitchFamily="34" charset="0"/>
                <a:ea typeface="Calibri" pitchFamily="34" charset="-122"/>
                <a:cs typeface="Calibri" pitchFamily="34" charset="-120"/>
              </a:rPr>
              <a:t>Over two years we paid AED 51.3 million across 105,000 claim lines for 3,468 members. Costs are rising - and the pages show exactly why.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Page 1 · the six scorecards</a:t>
            </a:r>
            <a:endParaRPr lang="en-US" sz="2500" dirty="0"/>
          </a:p>
        </p:txBody>
      </p:sp>
      <p:sp>
        <p:nvSpPr>
          <p:cNvPr id="5" name="Shape 1"/>
          <p:cNvSpPr/>
          <p:nvPr/>
        </p:nvSpPr>
        <p:spPr>
          <a:xfrm>
            <a:off x="8709660" y="1069848"/>
            <a:ext cx="3040380"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8709660" y="1069848"/>
            <a:ext cx="3040380"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PAGE 1  ·  VISUAL 1 OF 4</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4 / 24</a:t>
            </a:r>
            <a:endParaRPr lang="en-US" sz="900" dirty="0"/>
          </a:p>
        </p:txBody>
      </p:sp>
      <p:pic>
        <p:nvPicPr>
          <p:cNvPr id="9" name="Image 2" descr="crops_small/t1_kpis.jpg"/>
          <p:cNvPicPr>
            <a:picLocks noChangeAspect="1"/>
          </p:cNvPicPr>
          <p:nvPr/>
        </p:nvPicPr>
        <p:blipFill>
          <a:blip r:embed="rId6"/>
          <a:stretch>
            <a:fillRect/>
          </a:stretch>
        </p:blipFill>
        <p:spPr>
          <a:xfrm>
            <a:off x="1271425" y="1783080"/>
            <a:ext cx="9664390" cy="594360"/>
          </a:xfrm>
          <a:prstGeom prst="rect">
            <a:avLst/>
          </a:prstGeom>
          <a:ln>
            <a:noFill/>
          </a:ln>
          <a:effectLst>
            <a:outerShdw blurRad="292100" dist="139700" dir="2700000" algn="tl" rotWithShape="0">
              <a:srgbClr val="333333">
                <a:alpha val="65000"/>
              </a:srgbClr>
            </a:outerShdw>
          </a:effectLst>
        </p:spPr>
      </p:pic>
      <p:sp>
        <p:nvSpPr>
          <p:cNvPr id="10" name="Shape 5"/>
          <p:cNvSpPr/>
          <p:nvPr/>
        </p:nvSpPr>
        <p:spPr>
          <a:xfrm>
            <a:off x="457200" y="2651760"/>
            <a:ext cx="3703320" cy="1572768"/>
          </a:xfrm>
          <a:prstGeom prst="roundRect">
            <a:avLst>
              <a:gd name="adj" fmla="val 697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6"/>
          <p:cNvSpPr txBox="1"/>
          <p:nvPr/>
        </p:nvSpPr>
        <p:spPr>
          <a:xfrm>
            <a:off x="594360" y="272491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TOTAL PAID</a:t>
            </a:r>
            <a:endParaRPr lang="en-US" sz="950" dirty="0"/>
          </a:p>
        </p:txBody>
      </p:sp>
      <p:sp>
        <p:nvSpPr>
          <p:cNvPr id="12" name="Text 7"/>
          <p:cNvSpPr txBox="1"/>
          <p:nvPr/>
        </p:nvSpPr>
        <p:spPr>
          <a:xfrm>
            <a:off x="594360" y="2980944"/>
            <a:ext cx="3429000" cy="457200"/>
          </a:xfrm>
          <a:prstGeom prst="rect">
            <a:avLst/>
          </a:prstGeom>
          <a:noFill/>
          <a:ln/>
        </p:spPr>
        <p:txBody>
          <a:bodyPr wrap="square" lIns="0" tIns="0" rIns="0" bIns="0" rtlCol="0" anchor="ctr"/>
          <a:lstStyle/>
          <a:p>
            <a:pPr marL="0" indent="0">
              <a:buNone/>
            </a:pPr>
            <a:r>
              <a:rPr lang="en-US" sz="2200" b="1" dirty="0">
                <a:solidFill>
                  <a:srgbClr val="203370"/>
                </a:solidFill>
                <a:latin typeface="Calibri" pitchFamily="34" charset="0"/>
                <a:ea typeface="Calibri" pitchFamily="34" charset="-122"/>
                <a:cs typeface="Calibri" pitchFamily="34" charset="-120"/>
              </a:rPr>
              <a:t>AED 51.3M</a:t>
            </a:r>
            <a:endParaRPr lang="en-US" sz="2200" dirty="0"/>
          </a:p>
        </p:txBody>
      </p:sp>
      <p:sp>
        <p:nvSpPr>
          <p:cNvPr id="13" name="Text 8"/>
          <p:cNvSpPr txBox="1"/>
          <p:nvPr/>
        </p:nvSpPr>
        <p:spPr>
          <a:xfrm>
            <a:off x="594360" y="3474720"/>
            <a:ext cx="3429000" cy="658368"/>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AED 24.3M in 2023/24 → AED 27.0M in 2024/25. Sum of Claim_Value over every claim line.</a:t>
            </a:r>
            <a:endParaRPr lang="en-US" sz="950" dirty="0"/>
          </a:p>
        </p:txBody>
      </p:sp>
      <p:sp>
        <p:nvSpPr>
          <p:cNvPr id="14" name="Shape 9"/>
          <p:cNvSpPr/>
          <p:nvPr/>
        </p:nvSpPr>
        <p:spPr>
          <a:xfrm>
            <a:off x="4251960" y="2651760"/>
            <a:ext cx="3703320" cy="1572768"/>
          </a:xfrm>
          <a:prstGeom prst="roundRect">
            <a:avLst>
              <a:gd name="adj" fmla="val 697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0"/>
          <p:cNvSpPr txBox="1"/>
          <p:nvPr/>
        </p:nvSpPr>
        <p:spPr>
          <a:xfrm>
            <a:off x="4389120" y="272491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CLAIM COUNT</a:t>
            </a:r>
            <a:endParaRPr lang="en-US" sz="950" dirty="0"/>
          </a:p>
        </p:txBody>
      </p:sp>
      <p:sp>
        <p:nvSpPr>
          <p:cNvPr id="16" name="Text 11"/>
          <p:cNvSpPr txBox="1"/>
          <p:nvPr/>
        </p:nvSpPr>
        <p:spPr>
          <a:xfrm>
            <a:off x="4389120" y="2980944"/>
            <a:ext cx="3429000" cy="457200"/>
          </a:xfrm>
          <a:prstGeom prst="rect">
            <a:avLst/>
          </a:prstGeom>
          <a:noFill/>
          <a:ln/>
        </p:spPr>
        <p:txBody>
          <a:bodyPr wrap="square" lIns="0" tIns="0" rIns="0" bIns="0" rtlCol="0" anchor="ctr"/>
          <a:lstStyle/>
          <a:p>
            <a:pPr marL="0" indent="0">
              <a:buNone/>
            </a:pPr>
            <a:r>
              <a:rPr lang="en-US" sz="2200" b="1" dirty="0">
                <a:solidFill>
                  <a:srgbClr val="203370"/>
                </a:solidFill>
                <a:latin typeface="Calibri" pitchFamily="34" charset="0"/>
                <a:ea typeface="Calibri" pitchFamily="34" charset="-122"/>
                <a:cs typeface="Calibri" pitchFamily="34" charset="-120"/>
              </a:rPr>
              <a:t>104,985</a:t>
            </a:r>
            <a:endParaRPr lang="en-US" sz="2200" dirty="0"/>
          </a:p>
        </p:txBody>
      </p:sp>
      <p:sp>
        <p:nvSpPr>
          <p:cNvPr id="17" name="Text 12"/>
          <p:cNvSpPr txBox="1"/>
          <p:nvPr/>
        </p:nvSpPr>
        <p:spPr>
          <a:xfrm>
            <a:off x="4389120" y="3474720"/>
            <a:ext cx="3429000" cy="658368"/>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Claim lines (103,499 claim numbers). 50,504 → 54,461, up 7.8% year on year.</a:t>
            </a:r>
            <a:endParaRPr lang="en-US" sz="950" dirty="0"/>
          </a:p>
        </p:txBody>
      </p:sp>
      <p:sp>
        <p:nvSpPr>
          <p:cNvPr id="18" name="Shape 13"/>
          <p:cNvSpPr/>
          <p:nvPr/>
        </p:nvSpPr>
        <p:spPr>
          <a:xfrm>
            <a:off x="8046720" y="2651760"/>
            <a:ext cx="3703320" cy="1572768"/>
          </a:xfrm>
          <a:prstGeom prst="roundRect">
            <a:avLst>
              <a:gd name="adj" fmla="val 697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9" name="Text 14"/>
          <p:cNvSpPr txBox="1"/>
          <p:nvPr/>
        </p:nvSpPr>
        <p:spPr>
          <a:xfrm>
            <a:off x="8183880" y="272491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COVERED MEMBERS</a:t>
            </a:r>
            <a:endParaRPr lang="en-US" sz="950" dirty="0"/>
          </a:p>
        </p:txBody>
      </p:sp>
      <p:sp>
        <p:nvSpPr>
          <p:cNvPr id="20" name="Text 15"/>
          <p:cNvSpPr txBox="1"/>
          <p:nvPr/>
        </p:nvSpPr>
        <p:spPr>
          <a:xfrm>
            <a:off x="8183880" y="2980944"/>
            <a:ext cx="3429000" cy="457200"/>
          </a:xfrm>
          <a:prstGeom prst="rect">
            <a:avLst/>
          </a:prstGeom>
          <a:noFill/>
          <a:ln/>
        </p:spPr>
        <p:txBody>
          <a:bodyPr wrap="square" lIns="0" tIns="0" rIns="0" bIns="0" rtlCol="0" anchor="ctr"/>
          <a:lstStyle/>
          <a:p>
            <a:pPr marL="0" indent="0">
              <a:buNone/>
            </a:pPr>
            <a:r>
              <a:rPr lang="en-US" sz="2200" b="1" dirty="0">
                <a:solidFill>
                  <a:srgbClr val="203370"/>
                </a:solidFill>
                <a:latin typeface="Calibri" pitchFamily="34" charset="0"/>
                <a:ea typeface="Calibri" pitchFamily="34" charset="-122"/>
                <a:cs typeface="Calibri" pitchFamily="34" charset="-120"/>
              </a:rPr>
              <a:t>3,468</a:t>
            </a:r>
            <a:endParaRPr lang="en-US" sz="2200" dirty="0"/>
          </a:p>
        </p:txBody>
      </p:sp>
      <p:sp>
        <p:nvSpPr>
          <p:cNvPr id="21" name="Text 16"/>
          <p:cNvSpPr txBox="1"/>
          <p:nvPr/>
        </p:nvSpPr>
        <p:spPr>
          <a:xfrm>
            <a:off x="8183880" y="3474720"/>
            <a:ext cx="3429000" cy="658368"/>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Distinct members from Enrolment, not Claims: 2,992 → 3,160 (+5.6%). Card rounds to 3K.</a:t>
            </a:r>
            <a:endParaRPr lang="en-US" sz="950" dirty="0"/>
          </a:p>
        </p:txBody>
      </p:sp>
      <p:sp>
        <p:nvSpPr>
          <p:cNvPr id="22" name="Shape 17"/>
          <p:cNvSpPr/>
          <p:nvPr/>
        </p:nvSpPr>
        <p:spPr>
          <a:xfrm>
            <a:off x="457200" y="4343400"/>
            <a:ext cx="3703320" cy="1572768"/>
          </a:xfrm>
          <a:prstGeom prst="roundRect">
            <a:avLst>
              <a:gd name="adj" fmla="val 697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3" name="Text 18"/>
          <p:cNvSpPr txBox="1"/>
          <p:nvPr/>
        </p:nvSpPr>
        <p:spPr>
          <a:xfrm>
            <a:off x="594360" y="441655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COST PER MEMBER</a:t>
            </a:r>
            <a:endParaRPr lang="en-US" sz="950" dirty="0"/>
          </a:p>
        </p:txBody>
      </p:sp>
      <p:sp>
        <p:nvSpPr>
          <p:cNvPr id="24" name="Text 19"/>
          <p:cNvSpPr txBox="1"/>
          <p:nvPr/>
        </p:nvSpPr>
        <p:spPr>
          <a:xfrm>
            <a:off x="594360" y="4672584"/>
            <a:ext cx="3429000" cy="457200"/>
          </a:xfrm>
          <a:prstGeom prst="rect">
            <a:avLst/>
          </a:prstGeom>
          <a:noFill/>
          <a:ln/>
        </p:spPr>
        <p:txBody>
          <a:bodyPr wrap="square" lIns="0" tIns="0" rIns="0" bIns="0" rtlCol="0" anchor="ctr"/>
          <a:lstStyle/>
          <a:p>
            <a:pPr marL="0" indent="0">
              <a:buNone/>
            </a:pPr>
            <a:r>
              <a:rPr lang="en-US" sz="2200" b="1" dirty="0">
                <a:solidFill>
                  <a:srgbClr val="17594E"/>
                </a:solidFill>
                <a:latin typeface="Calibri" pitchFamily="34" charset="0"/>
                <a:ea typeface="Calibri" pitchFamily="34" charset="-122"/>
                <a:cs typeface="Calibri" pitchFamily="34" charset="-120"/>
              </a:rPr>
              <a:t>AED 14,793</a:t>
            </a:r>
            <a:endParaRPr lang="en-US" sz="2200" dirty="0"/>
          </a:p>
        </p:txBody>
      </p:sp>
      <p:sp>
        <p:nvSpPr>
          <p:cNvPr id="25" name="Text 20"/>
          <p:cNvSpPr txBox="1"/>
          <p:nvPr/>
        </p:nvSpPr>
        <p:spPr>
          <a:xfrm>
            <a:off x="594360" y="5166360"/>
            <a:ext cx="3429000" cy="658368"/>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Both years on the card. Per policy year: AED 8,113 → AED 8,551, up 5.4%.</a:t>
            </a:r>
            <a:endParaRPr lang="en-US" sz="950" dirty="0"/>
          </a:p>
        </p:txBody>
      </p:sp>
      <p:sp>
        <p:nvSpPr>
          <p:cNvPr id="26" name="Shape 21"/>
          <p:cNvSpPr/>
          <p:nvPr/>
        </p:nvSpPr>
        <p:spPr>
          <a:xfrm>
            <a:off x="4251960" y="4343400"/>
            <a:ext cx="3703320" cy="1572768"/>
          </a:xfrm>
          <a:prstGeom prst="roundRect">
            <a:avLst>
              <a:gd name="adj" fmla="val 697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7" name="Text 22"/>
          <p:cNvSpPr txBox="1"/>
          <p:nvPr/>
        </p:nvSpPr>
        <p:spPr>
          <a:xfrm>
            <a:off x="4389120" y="441655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AVG TAT DAYS</a:t>
            </a:r>
            <a:endParaRPr lang="en-US" sz="950" dirty="0"/>
          </a:p>
        </p:txBody>
      </p:sp>
      <p:sp>
        <p:nvSpPr>
          <p:cNvPr id="28" name="Text 23"/>
          <p:cNvSpPr txBox="1"/>
          <p:nvPr/>
        </p:nvSpPr>
        <p:spPr>
          <a:xfrm>
            <a:off x="4389120" y="4672584"/>
            <a:ext cx="3429000" cy="457200"/>
          </a:xfrm>
          <a:prstGeom prst="rect">
            <a:avLst/>
          </a:prstGeom>
          <a:noFill/>
          <a:ln/>
        </p:spPr>
        <p:txBody>
          <a:bodyPr wrap="square" lIns="0" tIns="0" rIns="0" bIns="0" rtlCol="0" anchor="ctr"/>
          <a:lstStyle/>
          <a:p>
            <a:pPr marL="0" indent="0">
              <a:buNone/>
            </a:pPr>
            <a:r>
              <a:rPr lang="en-US" sz="2200" b="1" dirty="0">
                <a:solidFill>
                  <a:srgbClr val="203370"/>
                </a:solidFill>
                <a:latin typeface="Calibri" pitchFamily="34" charset="0"/>
                <a:ea typeface="Calibri" pitchFamily="34" charset="-122"/>
                <a:cs typeface="Calibri" pitchFamily="34" charset="-120"/>
              </a:rPr>
              <a:t>23.4</a:t>
            </a:r>
            <a:endParaRPr lang="en-US" sz="2200" dirty="0"/>
          </a:p>
        </p:txBody>
      </p:sp>
      <p:sp>
        <p:nvSpPr>
          <p:cNvPr id="29" name="Text 24"/>
          <p:cNvSpPr txBox="1"/>
          <p:nvPr/>
        </p:nvSpPr>
        <p:spPr>
          <a:xfrm>
            <a:off x="4389120" y="5166360"/>
            <a:ext cx="3429000" cy="658368"/>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Received → settled. 25.9 days in year one, 21.2 in year two, 25% of settled claims took more than 30 days.</a:t>
            </a:r>
            <a:endParaRPr lang="en-US" sz="950" dirty="0"/>
          </a:p>
        </p:txBody>
      </p:sp>
      <p:sp>
        <p:nvSpPr>
          <p:cNvPr id="30" name="Shape 25"/>
          <p:cNvSpPr/>
          <p:nvPr/>
        </p:nvSpPr>
        <p:spPr>
          <a:xfrm>
            <a:off x="8046720" y="4343400"/>
            <a:ext cx="3703320" cy="1572768"/>
          </a:xfrm>
          <a:prstGeom prst="roundRect">
            <a:avLst>
              <a:gd name="adj" fmla="val 697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31" name="Text 26"/>
          <p:cNvSpPr txBox="1"/>
          <p:nvPr/>
        </p:nvSpPr>
        <p:spPr>
          <a:xfrm>
            <a:off x="8183880" y="441655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PAID YOY %</a:t>
            </a:r>
            <a:endParaRPr lang="en-US" sz="950" dirty="0"/>
          </a:p>
        </p:txBody>
      </p:sp>
      <p:sp>
        <p:nvSpPr>
          <p:cNvPr id="32" name="Text 27"/>
          <p:cNvSpPr txBox="1"/>
          <p:nvPr/>
        </p:nvSpPr>
        <p:spPr>
          <a:xfrm>
            <a:off x="8183880" y="4672584"/>
            <a:ext cx="3429000" cy="457200"/>
          </a:xfrm>
          <a:prstGeom prst="rect">
            <a:avLst/>
          </a:prstGeom>
          <a:noFill/>
          <a:ln/>
        </p:spPr>
        <p:txBody>
          <a:bodyPr wrap="square" lIns="0" tIns="0" rIns="0" bIns="0" rtlCol="0" anchor="ctr"/>
          <a:lstStyle/>
          <a:p>
            <a:pPr marL="0" indent="0">
              <a:buNone/>
            </a:pPr>
            <a:r>
              <a:rPr lang="en-US" sz="2200" b="1" dirty="0">
                <a:solidFill>
                  <a:srgbClr val="17594E"/>
                </a:solidFill>
                <a:latin typeface="Calibri" pitchFamily="34" charset="0"/>
                <a:ea typeface="Calibri" pitchFamily="34" charset="-122"/>
                <a:cs typeface="Calibri" pitchFamily="34" charset="-120"/>
              </a:rPr>
              <a:t>+11.3%</a:t>
            </a:r>
            <a:endParaRPr lang="en-US" sz="2200" dirty="0"/>
          </a:p>
        </p:txBody>
      </p:sp>
      <p:sp>
        <p:nvSpPr>
          <p:cNvPr id="33" name="Text 28"/>
          <p:cNvSpPr txBox="1"/>
          <p:nvPr/>
        </p:nvSpPr>
        <p:spPr>
          <a:xfrm>
            <a:off x="8183880" y="5166360"/>
            <a:ext cx="3429000" cy="658368"/>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Roughly half from more members (+5.6%) and half from cost per member (+5.4%).</a:t>
            </a:r>
            <a:endParaRPr lang="en-US" sz="950" dirty="0"/>
          </a:p>
        </p:txBody>
      </p:sp>
      <p:sp>
        <p:nvSpPr>
          <p:cNvPr id="34" name="Shape 29"/>
          <p:cNvSpPr/>
          <p:nvPr/>
        </p:nvSpPr>
        <p:spPr>
          <a:xfrm>
            <a:off x="457200" y="6053328"/>
            <a:ext cx="11292840" cy="384048"/>
          </a:xfrm>
          <a:prstGeom prst="roundRect">
            <a:avLst>
              <a:gd name="adj" fmla="val 28571"/>
            </a:avLst>
          </a:prstGeom>
          <a:solidFill>
            <a:srgbClr val="F3F7F9"/>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35" name="Text 30"/>
          <p:cNvSpPr txBox="1"/>
          <p:nvPr/>
        </p:nvSpPr>
        <p:spPr>
          <a:xfrm>
            <a:off x="640080" y="6053328"/>
            <a:ext cx="10927080" cy="384048"/>
          </a:xfrm>
          <a:prstGeom prst="rect">
            <a:avLst/>
          </a:prstGeom>
          <a:noFill/>
          <a:ln/>
        </p:spPr>
        <p:txBody>
          <a:bodyPr wrap="square" lIns="0" tIns="0" rIns="0" bIns="0" rtlCol="0" anchor="ctr"/>
          <a:lstStyle/>
          <a:p>
            <a:pPr marL="0" indent="0">
              <a:buNone/>
            </a:pPr>
            <a:r>
              <a:rPr lang="en-US" sz="1050" b="1" dirty="0">
                <a:solidFill>
                  <a:srgbClr val="203370"/>
                </a:solidFill>
                <a:latin typeface="Calibri" pitchFamily="34" charset="0"/>
                <a:ea typeface="Calibri" pitchFamily="34" charset="-122"/>
                <a:cs typeface="Calibri" pitchFamily="34" charset="-120"/>
              </a:rPr>
              <a:t>Six numbers, one story: paid is up 11%, only half of that is growth in members - the other half is real cost inflation per head.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Page 1 · paid by policy month, and the slicers</a:t>
            </a:r>
            <a:endParaRPr lang="en-US" sz="2500" dirty="0"/>
          </a:p>
        </p:txBody>
      </p:sp>
      <p:sp>
        <p:nvSpPr>
          <p:cNvPr id="5" name="Shape 1"/>
          <p:cNvSpPr/>
          <p:nvPr/>
        </p:nvSpPr>
        <p:spPr>
          <a:xfrm>
            <a:off x="8476488" y="1069848"/>
            <a:ext cx="3273552"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8476488" y="1069848"/>
            <a:ext cx="3273552"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PAGE 1  ·  VISUALS 2–3 OF 4</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5 / 24</a:t>
            </a:r>
            <a:endParaRPr lang="en-US" sz="900" dirty="0"/>
          </a:p>
        </p:txBody>
      </p:sp>
      <p:sp>
        <p:nvSpPr>
          <p:cNvPr id="9" name="Text 5"/>
          <p:cNvSpPr txBox="1"/>
          <p:nvPr/>
        </p:nvSpPr>
        <p:spPr>
          <a:xfrm>
            <a:off x="594360" y="1764792"/>
            <a:ext cx="694944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Total Paid by policy month - line, one series per UWY (X axis = policy-year month, November = 1)</a:t>
            </a:r>
            <a:endParaRPr lang="en-US" sz="1100" dirty="0"/>
          </a:p>
        </p:txBody>
      </p:sp>
      <p:pic>
        <p:nvPicPr>
          <p:cNvPr id="10" name="Image 2" descr="crops_small/t1_paid_month.jpg"/>
          <p:cNvPicPr>
            <a:picLocks noChangeAspect="1"/>
          </p:cNvPicPr>
          <p:nvPr/>
        </p:nvPicPr>
        <p:blipFill rotWithShape="1">
          <a:blip r:embed="rId6"/>
          <a:srcRect l="414" t="1791" r="578" b="1556"/>
          <a:stretch>
            <a:fillRect/>
          </a:stretch>
        </p:blipFill>
        <p:spPr>
          <a:xfrm>
            <a:off x="651708" y="2481867"/>
            <a:ext cx="6823607" cy="2381412"/>
          </a:xfrm>
          <a:prstGeom prst="rect">
            <a:avLst/>
          </a:prstGeom>
          <a:ln>
            <a:noFill/>
          </a:ln>
          <a:effectLst>
            <a:outerShdw blurRad="292100" dist="139700" dir="2700000" algn="tl" rotWithShape="0">
              <a:srgbClr val="333333">
                <a:alpha val="65000"/>
              </a:srgbClr>
            </a:outerShdw>
          </a:effectLst>
        </p:spPr>
      </p:pic>
      <p:sp>
        <p:nvSpPr>
          <p:cNvPr id="11" name="Text 6"/>
          <p:cNvSpPr txBox="1"/>
          <p:nvPr/>
        </p:nvSpPr>
        <p:spPr>
          <a:xfrm>
            <a:off x="594360" y="5257800"/>
            <a:ext cx="6949440" cy="219456"/>
          </a:xfrm>
          <a:prstGeom prst="rect">
            <a:avLst/>
          </a:prstGeom>
          <a:noFill/>
          <a:ln/>
        </p:spPr>
        <p:txBody>
          <a:bodyPr wrap="square" lIns="0" tIns="0" rIns="0" bIns="0" rtlCol="0" anchor="ctr"/>
          <a:lstStyle/>
          <a:p>
            <a:pPr marL="0" indent="0">
              <a:buNone/>
            </a:pPr>
            <a:r>
              <a:rPr lang="en-US" sz="800" i="1" dirty="0">
                <a:solidFill>
                  <a:schemeClr val="bg2"/>
                </a:solidFill>
                <a:latin typeface="Calibri" pitchFamily="34" charset="0"/>
                <a:ea typeface="Calibri" pitchFamily="34" charset="-122"/>
                <a:cs typeface="Calibri" pitchFamily="34" charset="-120"/>
              </a:rPr>
              <a:t>Export note: the axis is sorted by value in this PDF, in the live file it is sorted 1 → 12.</a:t>
            </a:r>
            <a:endParaRPr lang="en-US" sz="800" dirty="0">
              <a:solidFill>
                <a:schemeClr val="bg2"/>
              </a:solidFill>
            </a:endParaRPr>
          </a:p>
        </p:txBody>
      </p:sp>
      <p:sp>
        <p:nvSpPr>
          <p:cNvPr id="12" name="Shape 7"/>
          <p:cNvSpPr/>
          <p:nvPr/>
        </p:nvSpPr>
        <p:spPr>
          <a:xfrm>
            <a:off x="594360" y="5504688"/>
            <a:ext cx="6949440" cy="0"/>
          </a:xfrm>
          <a:prstGeom prst="line">
            <a:avLst/>
          </a:prstGeom>
          <a:noFill/>
          <a:ln w="9525">
            <a:solidFill>
              <a:srgbClr val="DCE5EC"/>
            </a:solidFill>
            <a:prstDash val="solid"/>
          </a:ln>
        </p:spPr>
        <p:txBody>
          <a:bodyPr/>
          <a:lstStyle/>
          <a:p>
            <a:endParaRPr lang="en-US"/>
          </a:p>
        </p:txBody>
      </p:sp>
      <p:sp>
        <p:nvSpPr>
          <p:cNvPr id="13" name="Text 8"/>
          <p:cNvSpPr txBox="1"/>
          <p:nvPr/>
        </p:nvSpPr>
        <p:spPr>
          <a:xfrm>
            <a:off x="594360" y="5550407"/>
            <a:ext cx="6949440" cy="951987"/>
          </a:xfrm>
          <a:prstGeom prst="roundRect">
            <a:avLst>
              <a:gd name="adj" fmla="val 3860"/>
            </a:avLst>
          </a:prstGeom>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115887"/>
            <a:endParaRPr lang="en-US" sz="500" b="1" kern="0" spc="150" dirty="0">
              <a:solidFill>
                <a:schemeClr val="bg1"/>
              </a:solidFill>
              <a:latin typeface="Calibri" pitchFamily="34" charset="0"/>
              <a:ea typeface="Calibri" pitchFamily="34" charset="-122"/>
              <a:cs typeface="Calibri" pitchFamily="34" charset="-120"/>
            </a:endParaRPr>
          </a:p>
          <a:p>
            <a:pPr marL="115887"/>
            <a:r>
              <a:rPr lang="en-US" sz="850" b="1" kern="0" spc="150" dirty="0">
                <a:solidFill>
                  <a:schemeClr val="bg1"/>
                </a:solidFill>
                <a:latin typeface="Calibri" pitchFamily="34" charset="0"/>
                <a:ea typeface="Calibri" pitchFamily="34" charset="-122"/>
                <a:cs typeface="Calibri" pitchFamily="34" charset="-120"/>
              </a:rPr>
              <a:t>WHAT WE FOUND:</a:t>
            </a:r>
          </a:p>
          <a:p>
            <a:pPr marL="346075" indent="-228600">
              <a:buFont typeface="+mj-lt"/>
              <a:buAutoNum type="arabicPeriod"/>
            </a:pPr>
            <a:r>
              <a:rPr lang="en-US" sz="1000" dirty="0">
                <a:solidFill>
                  <a:schemeClr val="bg1"/>
                </a:solidFill>
                <a:latin typeface="Calibri" pitchFamily="34" charset="0"/>
                <a:ea typeface="Calibri" pitchFamily="34" charset="-122"/>
                <a:cs typeface="Calibri" pitchFamily="34" charset="-120"/>
              </a:rPr>
              <a:t>Year two runs above year one in 9 of the 12 policy months. </a:t>
            </a:r>
          </a:p>
          <a:p>
            <a:pPr marL="346075" indent="-228600">
              <a:buFont typeface="+mj-lt"/>
              <a:buAutoNum type="arabicPeriod"/>
            </a:pPr>
            <a:r>
              <a:rPr lang="en-US" sz="1000" dirty="0">
                <a:solidFill>
                  <a:schemeClr val="bg1"/>
                </a:solidFill>
                <a:latin typeface="Calibri" pitchFamily="34" charset="0"/>
                <a:ea typeface="Calibri" pitchFamily="34" charset="-122"/>
                <a:cs typeface="Calibri" pitchFamily="34" charset="-120"/>
              </a:rPr>
              <a:t>Both years peak in month 12 (October: AED 2.35M → 2.64M) and dip in month 2 (December: 1.72M → 2.12M). </a:t>
            </a:r>
          </a:p>
          <a:p>
            <a:pPr marL="346075" indent="-228600">
              <a:buFont typeface="+mj-lt"/>
              <a:buAutoNum type="arabicPeriod"/>
            </a:pPr>
            <a:r>
              <a:rPr lang="en-US" sz="1000" dirty="0">
                <a:solidFill>
                  <a:schemeClr val="bg1"/>
                </a:solidFill>
                <a:latin typeface="Calibri" pitchFamily="34" charset="0"/>
                <a:ea typeface="Calibri" pitchFamily="34" charset="-122"/>
                <a:cs typeface="Calibri" pitchFamily="34" charset="-120"/>
              </a:rPr>
              <a:t>The single lowest month is April of year one (AED 1.46M). </a:t>
            </a:r>
          </a:p>
          <a:p>
            <a:pPr marL="346075" indent="-228600">
              <a:buFont typeface="+mj-lt"/>
              <a:buAutoNum type="arabicPeriod"/>
            </a:pPr>
            <a:r>
              <a:rPr lang="en-US" sz="1000" dirty="0">
                <a:solidFill>
                  <a:schemeClr val="bg1"/>
                </a:solidFill>
                <a:latin typeface="Calibri" pitchFamily="34" charset="0"/>
                <a:ea typeface="Calibri" pitchFamily="34" charset="-122"/>
                <a:cs typeface="Calibri" pitchFamily="34" charset="-120"/>
              </a:rPr>
              <a:t>The biggest year-on-year gaps are April (+52%) and July (+34%). The '(Blank)' series at the far right is the 20 incomplete rows.</a:t>
            </a:r>
            <a:endParaRPr lang="en-US" sz="850" dirty="0">
              <a:solidFill>
                <a:schemeClr val="bg1"/>
              </a:solidFill>
            </a:endParaRPr>
          </a:p>
        </p:txBody>
      </p:sp>
      <p:sp>
        <p:nvSpPr>
          <p:cNvPr id="14" name="Shape 9"/>
          <p:cNvSpPr/>
          <p:nvPr/>
        </p:nvSpPr>
        <p:spPr>
          <a:xfrm>
            <a:off x="7863840" y="1691640"/>
            <a:ext cx="3886200" cy="4663440"/>
          </a:xfrm>
          <a:prstGeom prst="roundRect">
            <a:avLst>
              <a:gd name="adj" fmla="val 2824"/>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0"/>
          <p:cNvSpPr txBox="1"/>
          <p:nvPr/>
        </p:nvSpPr>
        <p:spPr>
          <a:xfrm>
            <a:off x="8001000" y="1764792"/>
            <a:ext cx="3611880" cy="1104728"/>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Slicer panel:</a:t>
            </a:r>
            <a:br>
              <a:rPr lang="en-US" sz="1100" b="1" dirty="0">
                <a:solidFill>
                  <a:srgbClr val="203370"/>
                </a:solidFill>
                <a:latin typeface="Calibri" pitchFamily="34" charset="0"/>
                <a:ea typeface="Calibri" pitchFamily="34" charset="-122"/>
                <a:cs typeface="Calibri" pitchFamily="34" charset="-120"/>
              </a:rPr>
            </a:br>
            <a:r>
              <a:rPr lang="en-US" sz="1100" dirty="0">
                <a:solidFill>
                  <a:srgbClr val="203370"/>
                </a:solidFill>
                <a:latin typeface="Calibri" pitchFamily="34" charset="0"/>
                <a:ea typeface="Calibri" pitchFamily="34" charset="-122"/>
                <a:cs typeface="Calibri" pitchFamily="34" charset="-120"/>
              </a:rPr>
              <a:t>UWY </a:t>
            </a:r>
            <a:br>
              <a:rPr lang="en-US" sz="1100" dirty="0">
                <a:solidFill>
                  <a:srgbClr val="203370"/>
                </a:solidFill>
                <a:latin typeface="Calibri" pitchFamily="34" charset="0"/>
                <a:ea typeface="Calibri" pitchFamily="34" charset="-122"/>
                <a:cs typeface="Calibri" pitchFamily="34" charset="-120"/>
              </a:rPr>
            </a:br>
            <a:r>
              <a:rPr lang="en-US" sz="1100" dirty="0">
                <a:solidFill>
                  <a:srgbClr val="203370"/>
                </a:solidFill>
                <a:latin typeface="Calibri" pitchFamily="34" charset="0"/>
                <a:ea typeface="Calibri" pitchFamily="34" charset="-122"/>
                <a:cs typeface="Calibri" pitchFamily="34" charset="-120"/>
              </a:rPr>
              <a:t>Year Month</a:t>
            </a:r>
            <a:br>
              <a:rPr lang="en-US" sz="1100" dirty="0">
                <a:solidFill>
                  <a:srgbClr val="203370"/>
                </a:solidFill>
                <a:latin typeface="Calibri" pitchFamily="34" charset="0"/>
                <a:ea typeface="Calibri" pitchFamily="34" charset="-122"/>
                <a:cs typeface="Calibri" pitchFamily="34" charset="-120"/>
              </a:rPr>
            </a:br>
            <a:r>
              <a:rPr lang="en-US" sz="1100" dirty="0">
                <a:solidFill>
                  <a:srgbClr val="203370"/>
                </a:solidFill>
                <a:latin typeface="Calibri" pitchFamily="34" charset="0"/>
                <a:ea typeface="Calibri" pitchFamily="34" charset="-122"/>
                <a:cs typeface="Calibri" pitchFamily="34" charset="-120"/>
              </a:rPr>
              <a:t>Sub-policy</a:t>
            </a:r>
            <a:br>
              <a:rPr lang="en-US" sz="1100" dirty="0">
                <a:solidFill>
                  <a:srgbClr val="203370"/>
                </a:solidFill>
                <a:latin typeface="Calibri" pitchFamily="34" charset="0"/>
                <a:ea typeface="Calibri" pitchFamily="34" charset="-122"/>
                <a:cs typeface="Calibri" pitchFamily="34" charset="-120"/>
              </a:rPr>
            </a:br>
            <a:r>
              <a:rPr lang="en-US" sz="1100" dirty="0">
                <a:solidFill>
                  <a:srgbClr val="203370"/>
                </a:solidFill>
                <a:latin typeface="Calibri" pitchFamily="34" charset="0"/>
                <a:ea typeface="Calibri" pitchFamily="34" charset="-122"/>
                <a:cs typeface="Calibri" pitchFamily="34" charset="-120"/>
              </a:rPr>
              <a:t>Provider type</a:t>
            </a:r>
            <a:br>
              <a:rPr lang="en-US" sz="1100" dirty="0">
                <a:solidFill>
                  <a:srgbClr val="203370"/>
                </a:solidFill>
                <a:latin typeface="Calibri" pitchFamily="34" charset="0"/>
                <a:ea typeface="Calibri" pitchFamily="34" charset="-122"/>
                <a:cs typeface="Calibri" pitchFamily="34" charset="-120"/>
              </a:rPr>
            </a:br>
            <a:r>
              <a:rPr lang="en-US" sz="1100" dirty="0">
                <a:solidFill>
                  <a:srgbClr val="203370"/>
                </a:solidFill>
                <a:latin typeface="Calibri" pitchFamily="34" charset="0"/>
                <a:ea typeface="Calibri" pitchFamily="34" charset="-122"/>
                <a:cs typeface="Calibri" pitchFamily="34" charset="-120"/>
              </a:rPr>
              <a:t>Dependency</a:t>
            </a:r>
            <a:endParaRPr lang="en-US" sz="1100" dirty="0"/>
          </a:p>
        </p:txBody>
      </p:sp>
      <p:pic>
        <p:nvPicPr>
          <p:cNvPr id="16" name="Image 3" descr="crops_small/t1_slicers.jpg"/>
          <p:cNvPicPr>
            <a:picLocks noChangeAspect="1"/>
          </p:cNvPicPr>
          <p:nvPr/>
        </p:nvPicPr>
        <p:blipFill>
          <a:blip r:embed="rId7"/>
          <a:stretch>
            <a:fillRect/>
          </a:stretch>
        </p:blipFill>
        <p:spPr>
          <a:xfrm>
            <a:off x="8001000" y="3151437"/>
            <a:ext cx="3611880" cy="1112911"/>
          </a:xfrm>
          <a:prstGeom prst="rect">
            <a:avLst/>
          </a:prstGeom>
        </p:spPr>
      </p:pic>
      <p:sp>
        <p:nvSpPr>
          <p:cNvPr id="17" name="Shape 11"/>
          <p:cNvSpPr/>
          <p:nvPr/>
        </p:nvSpPr>
        <p:spPr>
          <a:xfrm>
            <a:off x="8001000" y="5184648"/>
            <a:ext cx="3611880" cy="0"/>
          </a:xfrm>
          <a:prstGeom prst="line">
            <a:avLst/>
          </a:prstGeom>
          <a:noFill/>
          <a:ln w="9525">
            <a:solidFill>
              <a:srgbClr val="DCE5EC"/>
            </a:solidFill>
            <a:prstDash val="solid"/>
          </a:ln>
        </p:spPr>
        <p:txBody>
          <a:bodyPr/>
          <a:lstStyle/>
          <a:p>
            <a:endParaRPr lang="en-US"/>
          </a:p>
        </p:txBody>
      </p:sp>
      <p:sp>
        <p:nvSpPr>
          <p:cNvPr id="18" name="Text 12"/>
          <p:cNvSpPr txBox="1"/>
          <p:nvPr/>
        </p:nvSpPr>
        <p:spPr>
          <a:xfrm>
            <a:off x="8001000" y="4546265"/>
            <a:ext cx="3611880" cy="1732616"/>
          </a:xfrm>
          <a:prstGeom prst="rect">
            <a:avLst/>
          </a:prstGeom>
          <a:noFill/>
          <a:ln/>
        </p:spPr>
        <p:txBody>
          <a:bodyPr wrap="square" lIns="0" tIns="0" rIns="0" bIns="0" rtlCol="0" anchor="t"/>
          <a:lstStyle/>
          <a:p>
            <a:r>
              <a:rPr lang="en-US" sz="850" b="1" kern="0" spc="150" dirty="0">
                <a:solidFill>
                  <a:srgbClr val="2E8B78"/>
                </a:solidFill>
                <a:latin typeface="Calibri" pitchFamily="34" charset="0"/>
                <a:ea typeface="Calibri" pitchFamily="34" charset="-122"/>
                <a:cs typeface="Calibri" pitchFamily="34" charset="-120"/>
              </a:rPr>
              <a:t>WHAT WE FOUND:</a:t>
            </a:r>
            <a:br>
              <a:rPr lang="en-US" sz="850" b="1" kern="0" spc="150" dirty="0">
                <a:solidFill>
                  <a:srgbClr val="2E8B78"/>
                </a:solidFill>
                <a:latin typeface="Calibri" pitchFamily="34" charset="0"/>
                <a:ea typeface="Calibri" pitchFamily="34" charset="-122"/>
                <a:cs typeface="Calibri" pitchFamily="34" charset="-120"/>
              </a:rPr>
            </a:br>
            <a:r>
              <a:rPr lang="en-US" sz="1000" dirty="0">
                <a:solidFill>
                  <a:srgbClr val="33404F"/>
                </a:solidFill>
                <a:latin typeface="Calibri" pitchFamily="34" charset="0"/>
                <a:ea typeface="Calibri" pitchFamily="34" charset="-122"/>
                <a:cs typeface="Calibri" pitchFamily="34" charset="-120"/>
              </a:rPr>
              <a:t>Five drop-down slicers, synced to every page (hidden copies sit on pages 2–5), so a selection made here follows the reader to the abnormal-findings, drivers, trend and drill-through pages. </a:t>
            </a:r>
            <a:br>
              <a:rPr lang="en-US" sz="1000" dirty="0">
                <a:solidFill>
                  <a:srgbClr val="33404F"/>
                </a:solidFill>
                <a:latin typeface="Calibri" pitchFamily="34" charset="0"/>
                <a:ea typeface="Calibri" pitchFamily="34" charset="-122"/>
                <a:cs typeface="Calibri" pitchFamily="34" charset="-120"/>
              </a:rPr>
            </a:br>
            <a:endParaRPr lang="en-US" sz="400" dirty="0">
              <a:solidFill>
                <a:srgbClr val="33404F"/>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2 underwriting years</a:t>
            </a:r>
          </a:p>
          <a:p>
            <a:pPr marL="171450" indent="-171450">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38 year-months</a:t>
            </a:r>
          </a:p>
          <a:p>
            <a:pPr marL="171450" indent="-171450">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12 sub-policies</a:t>
            </a:r>
          </a:p>
          <a:p>
            <a:pPr marL="171450" indent="-171450">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11 provider types</a:t>
            </a:r>
          </a:p>
          <a:p>
            <a:pPr marL="171450" indent="-171450">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3 dependency classes. </a:t>
            </a:r>
          </a:p>
          <a:p>
            <a:r>
              <a:rPr lang="en-US" sz="1000" dirty="0">
                <a:solidFill>
                  <a:srgbClr val="33404F"/>
                </a:solidFill>
                <a:latin typeface="Calibri" pitchFamily="34" charset="0"/>
                <a:ea typeface="Calibri" pitchFamily="34" charset="-122"/>
                <a:cs typeface="Calibri" pitchFamily="34" charset="-120"/>
              </a:rPr>
              <a:t>The whole story below can be re-read for any one of them.</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Page 1 · benefit mix, and claim type</a:t>
            </a:r>
            <a:endParaRPr lang="en-US" sz="2500" dirty="0"/>
          </a:p>
        </p:txBody>
      </p:sp>
      <p:sp>
        <p:nvSpPr>
          <p:cNvPr id="5" name="Shape 1"/>
          <p:cNvSpPr/>
          <p:nvPr/>
        </p:nvSpPr>
        <p:spPr>
          <a:xfrm>
            <a:off x="8087868" y="1069848"/>
            <a:ext cx="3662172"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8087868" y="1069848"/>
            <a:ext cx="3662172"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PAGE 1  ·  VISUAL 4 OF 4 + DONUT</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6 / 24</a:t>
            </a:r>
            <a:endParaRPr lang="en-US" sz="900" dirty="0"/>
          </a:p>
        </p:txBody>
      </p:sp>
      <p:sp>
        <p:nvSpPr>
          <p:cNvPr id="9" name="Text 5"/>
          <p:cNvSpPr txBox="1"/>
          <p:nvPr/>
        </p:nvSpPr>
        <p:spPr>
          <a:xfrm>
            <a:off x="594360" y="1764792"/>
            <a:ext cx="640080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Family of Benefit by Total Paid - clustered column, one bar per UWY</a:t>
            </a:r>
            <a:endParaRPr lang="en-US" sz="1100" dirty="0"/>
          </a:p>
        </p:txBody>
      </p:sp>
      <p:sp>
        <p:nvSpPr>
          <p:cNvPr id="11" name="Shape 6"/>
          <p:cNvSpPr/>
          <p:nvPr/>
        </p:nvSpPr>
        <p:spPr>
          <a:xfrm>
            <a:off x="594360" y="4732531"/>
            <a:ext cx="6400800" cy="0"/>
          </a:xfrm>
          <a:prstGeom prst="line">
            <a:avLst/>
          </a:prstGeom>
          <a:noFill/>
          <a:ln w="9525">
            <a:solidFill>
              <a:srgbClr val="DCE5EC"/>
            </a:solidFill>
            <a:prstDash val="solid"/>
          </a:ln>
        </p:spPr>
        <p:txBody>
          <a:bodyPr/>
          <a:lstStyle/>
          <a:p>
            <a:endParaRPr lang="en-US"/>
          </a:p>
        </p:txBody>
      </p:sp>
      <p:sp>
        <p:nvSpPr>
          <p:cNvPr id="12" name="Text 7"/>
          <p:cNvSpPr txBox="1"/>
          <p:nvPr/>
        </p:nvSpPr>
        <p:spPr>
          <a:xfrm>
            <a:off x="594360" y="4947578"/>
            <a:ext cx="6273800" cy="1548049"/>
          </a:xfrm>
          <a:prstGeom prst="roundRect">
            <a:avLst>
              <a:gd name="adj" fmla="val 6166"/>
            </a:avLst>
          </a:prstGeom>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wrap="square" lIns="0" tIns="0" rIns="0" bIns="0" rtlCol="0" anchor="t"/>
          <a:lstStyle/>
          <a:p>
            <a:pPr marL="53975">
              <a:buNone/>
            </a:pPr>
            <a:endParaRPr lang="en-US" sz="850" b="1" kern="0" spc="150" dirty="0">
              <a:solidFill>
                <a:schemeClr val="bg1"/>
              </a:solidFill>
              <a:latin typeface="Calibri" pitchFamily="34" charset="0"/>
              <a:ea typeface="Calibri" pitchFamily="34" charset="-122"/>
              <a:cs typeface="Calibri" pitchFamily="34" charset="-120"/>
            </a:endParaRPr>
          </a:p>
          <a:p>
            <a:pPr marL="53975">
              <a:buNone/>
            </a:pPr>
            <a:r>
              <a:rPr lang="en-US" sz="850" b="1" kern="0" spc="150" dirty="0">
                <a:solidFill>
                  <a:schemeClr val="bg1"/>
                </a:solidFill>
                <a:latin typeface="Calibri" pitchFamily="34" charset="0"/>
                <a:ea typeface="Calibri" pitchFamily="34" charset="-122"/>
                <a:cs typeface="Calibri" pitchFamily="34" charset="-120"/>
              </a:rPr>
              <a:t>WHAT WE FOUND</a:t>
            </a:r>
          </a:p>
          <a:p>
            <a:pPr marL="346075" indent="-228600">
              <a:buFont typeface="+mj-lt"/>
              <a:buAutoNum type="arabicPeriod"/>
            </a:pPr>
            <a:r>
              <a:rPr lang="en-US" sz="1000" dirty="0">
                <a:solidFill>
                  <a:schemeClr val="bg1"/>
                </a:solidFill>
                <a:latin typeface="Calibri" pitchFamily="34" charset="0"/>
                <a:ea typeface="Calibri" pitchFamily="34" charset="-122"/>
                <a:cs typeface="Calibri" pitchFamily="34" charset="-120"/>
              </a:rPr>
              <a:t>Out-patient is 69% of every dirham paid (AED 35.4M) </a:t>
            </a:r>
          </a:p>
          <a:p>
            <a:pPr marL="346075" indent="-228600">
              <a:buFont typeface="+mj-lt"/>
              <a:buAutoNum type="arabicPeriod"/>
            </a:pPr>
            <a:r>
              <a:rPr lang="en-US" sz="1000" dirty="0">
                <a:solidFill>
                  <a:schemeClr val="bg1"/>
                </a:solidFill>
                <a:latin typeface="Calibri" pitchFamily="34" charset="0"/>
                <a:ea typeface="Calibri" pitchFamily="34" charset="-122"/>
                <a:cs typeface="Calibri" pitchFamily="34" charset="-120"/>
              </a:rPr>
              <a:t>In-patient 19% (9.8M) </a:t>
            </a:r>
          </a:p>
          <a:p>
            <a:pPr marL="346075" indent="-228600">
              <a:buFont typeface="+mj-lt"/>
              <a:buAutoNum type="arabicPeriod"/>
            </a:pPr>
            <a:r>
              <a:rPr lang="en-US" sz="1000" dirty="0">
                <a:solidFill>
                  <a:schemeClr val="bg1"/>
                </a:solidFill>
                <a:latin typeface="Calibri" pitchFamily="34" charset="0"/>
                <a:ea typeface="Calibri" pitchFamily="34" charset="-122"/>
                <a:cs typeface="Calibri" pitchFamily="34" charset="-120"/>
              </a:rPr>
              <a:t>dental 6% (3.1M)</a:t>
            </a:r>
          </a:p>
          <a:p>
            <a:pPr marL="346075" indent="-228600">
              <a:buFont typeface="+mj-lt"/>
              <a:buAutoNum type="arabicPeriod"/>
            </a:pPr>
            <a:r>
              <a:rPr lang="en-US" sz="1000" dirty="0">
                <a:solidFill>
                  <a:schemeClr val="bg1"/>
                </a:solidFill>
                <a:latin typeface="Calibri" pitchFamily="34" charset="0"/>
                <a:ea typeface="Calibri" pitchFamily="34" charset="-122"/>
                <a:cs typeface="Calibri" pitchFamily="34" charset="-120"/>
              </a:rPr>
              <a:t>optical 6% (2.9M). </a:t>
            </a:r>
          </a:p>
          <a:p>
            <a:pPr marL="53975">
              <a:buNone/>
            </a:pPr>
            <a:r>
              <a:rPr lang="en-US" sz="1000" dirty="0">
                <a:solidFill>
                  <a:schemeClr val="bg1"/>
                </a:solidFill>
                <a:latin typeface="Calibri" pitchFamily="34" charset="0"/>
                <a:ea typeface="Calibri" pitchFamily="34" charset="-122"/>
                <a:cs typeface="Calibri" pitchFamily="34" charset="-120"/>
              </a:rPr>
              <a:t>All four families grew between 10% and 13% year on year (dental +13%, out-patient +11.5%, in-patient +10.6%, optical +10.2%) - the rise is across the board, not one benefit. </a:t>
            </a:r>
            <a:br>
              <a:rPr lang="en-US" sz="1000" dirty="0">
                <a:solidFill>
                  <a:schemeClr val="bg1"/>
                </a:solidFill>
                <a:latin typeface="Calibri" pitchFamily="34" charset="0"/>
                <a:ea typeface="Calibri" pitchFamily="34" charset="-122"/>
                <a:cs typeface="Calibri" pitchFamily="34" charset="-120"/>
              </a:rPr>
            </a:br>
            <a:r>
              <a:rPr lang="en-US" sz="1000" dirty="0">
                <a:solidFill>
                  <a:schemeClr val="bg1"/>
                </a:solidFill>
                <a:latin typeface="Calibri" pitchFamily="34" charset="0"/>
                <a:ea typeface="Calibri" pitchFamily="34" charset="-122"/>
                <a:cs typeface="Calibri" pitchFamily="34" charset="-120"/>
              </a:rPr>
              <a:t>Average claim: in-patient AED 6,851 versus out-patient AED 378 (18×). The '0' bar is the 20 incomplete rows.</a:t>
            </a:r>
            <a:endParaRPr lang="en-US" sz="850" dirty="0">
              <a:solidFill>
                <a:schemeClr val="bg1"/>
              </a:solidFill>
            </a:endParaRPr>
          </a:p>
        </p:txBody>
      </p:sp>
      <p:sp>
        <p:nvSpPr>
          <p:cNvPr id="13" name="Shape 8"/>
          <p:cNvSpPr/>
          <p:nvPr/>
        </p:nvSpPr>
        <p:spPr>
          <a:xfrm>
            <a:off x="7315200" y="1691640"/>
            <a:ext cx="4434840" cy="4663440"/>
          </a:xfrm>
          <a:prstGeom prst="roundRect">
            <a:avLst>
              <a:gd name="adj" fmla="val 2474"/>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4" name="Text 9"/>
          <p:cNvSpPr txBox="1"/>
          <p:nvPr/>
        </p:nvSpPr>
        <p:spPr>
          <a:xfrm>
            <a:off x="7452360" y="1764792"/>
            <a:ext cx="416052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Claim Type by count - donut</a:t>
            </a:r>
            <a:endParaRPr lang="en-US" sz="1100" dirty="0"/>
          </a:p>
        </p:txBody>
      </p:sp>
      <p:pic>
        <p:nvPicPr>
          <p:cNvPr id="15" name="Image 3" descr="crops_small/t1_claimtype.jpg"/>
          <p:cNvPicPr>
            <a:picLocks noChangeAspect="1"/>
          </p:cNvPicPr>
          <p:nvPr/>
        </p:nvPicPr>
        <p:blipFill>
          <a:blip r:embed="rId6"/>
          <a:srcRect r="10501"/>
          <a:stretch>
            <a:fillRect/>
          </a:stretch>
        </p:blipFill>
        <p:spPr>
          <a:xfrm>
            <a:off x="8097179" y="2074517"/>
            <a:ext cx="2942889" cy="2708965"/>
          </a:xfrm>
          <a:prstGeom prst="rect">
            <a:avLst/>
          </a:prstGeom>
        </p:spPr>
      </p:pic>
      <p:sp>
        <p:nvSpPr>
          <p:cNvPr id="16" name="Shape 10"/>
          <p:cNvSpPr/>
          <p:nvPr/>
        </p:nvSpPr>
        <p:spPr>
          <a:xfrm>
            <a:off x="7452360" y="5184648"/>
            <a:ext cx="4160520" cy="0"/>
          </a:xfrm>
          <a:prstGeom prst="line">
            <a:avLst/>
          </a:prstGeom>
          <a:noFill/>
          <a:ln w="9525">
            <a:solidFill>
              <a:srgbClr val="DCE5EC"/>
            </a:solidFill>
            <a:prstDash val="solid"/>
          </a:ln>
        </p:spPr>
        <p:txBody>
          <a:bodyPr/>
          <a:lstStyle/>
          <a:p>
            <a:endParaRPr lang="en-US"/>
          </a:p>
        </p:txBody>
      </p:sp>
      <p:sp>
        <p:nvSpPr>
          <p:cNvPr id="17" name="Text 11"/>
          <p:cNvSpPr txBox="1"/>
          <p:nvPr/>
        </p:nvSpPr>
        <p:spPr>
          <a:xfrm>
            <a:off x="7452360" y="4947578"/>
            <a:ext cx="4160520" cy="1297774"/>
          </a:xfrm>
          <a:prstGeom prst="rect">
            <a:avLst/>
          </a:prstGeom>
          <a:noFill/>
          <a:ln/>
        </p:spPr>
        <p:txBody>
          <a:bodyPr wrap="square" lIns="0" tIns="0" rIns="0" bIns="0" rtlCol="0" anchor="t"/>
          <a:lstStyle/>
          <a:p>
            <a:pPr marL="0" indent="0">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71450">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Provider (network) claims are 86% of claim lines (90,286) but only 70% of</a:t>
            </a:r>
          </a:p>
          <a:p>
            <a:pPr marL="171450" indent="-171450">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paid. member reimbursement claims are 14% of lines (14,679) but 30% of paid. </a:t>
            </a:r>
          </a:p>
          <a:p>
            <a:pPr marL="171450" indent="-171450">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A reimbursement claim averages AED 1,046 against AED 398 for a network claim  (2.6×) larger per claim, which makes the reimbursement channel the one to control for cost and for turnaround. </a:t>
            </a:r>
          </a:p>
          <a:p>
            <a:pPr marL="171450" indent="-171450">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The 0.02% slice is the 20 incomplete rows.</a:t>
            </a:r>
            <a:endParaRPr lang="en-US" sz="850" dirty="0"/>
          </a:p>
        </p:txBody>
      </p:sp>
      <p:pic>
        <p:nvPicPr>
          <p:cNvPr id="19" name="Picture 18">
            <a:extLst>
              <a:ext uri="{FF2B5EF4-FFF2-40B4-BE49-F238E27FC236}">
                <a16:creationId xmlns:a16="http://schemas.microsoft.com/office/drawing/2014/main" id="{357EBB21-5707-FFF7-8F9B-3DD41991FDD9}"/>
              </a:ext>
            </a:extLst>
          </p:cNvPr>
          <p:cNvPicPr>
            <a:picLocks noChangeAspect="1"/>
          </p:cNvPicPr>
          <p:nvPr/>
        </p:nvPicPr>
        <p:blipFill>
          <a:blip r:embed="rId7"/>
          <a:stretch>
            <a:fillRect/>
          </a:stretch>
        </p:blipFill>
        <p:spPr>
          <a:xfrm>
            <a:off x="594360" y="2383775"/>
            <a:ext cx="6210619" cy="213371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Page 2 · scorecards, October Spike, Automation</a:t>
            </a:r>
            <a:endParaRPr lang="en-US" sz="2500" dirty="0"/>
          </a:p>
        </p:txBody>
      </p:sp>
      <p:sp>
        <p:nvSpPr>
          <p:cNvPr id="5" name="Shape 1"/>
          <p:cNvSpPr/>
          <p:nvPr/>
        </p:nvSpPr>
        <p:spPr>
          <a:xfrm>
            <a:off x="8476488" y="1069848"/>
            <a:ext cx="3273552"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8476488" y="1069848"/>
            <a:ext cx="3273552"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PAGE 2  ·  VISUALS 1–3 OF 6</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7 / 24</a:t>
            </a:r>
            <a:endParaRPr lang="en-US" sz="900" dirty="0"/>
          </a:p>
        </p:txBody>
      </p:sp>
      <p:sp>
        <p:nvSpPr>
          <p:cNvPr id="8" name="Shape 4"/>
          <p:cNvSpPr/>
          <p:nvPr/>
        </p:nvSpPr>
        <p:spPr>
          <a:xfrm>
            <a:off x="457200" y="1691640"/>
            <a:ext cx="3703320" cy="1234440"/>
          </a:xfrm>
          <a:prstGeom prst="roundRect">
            <a:avLst>
              <a:gd name="adj" fmla="val 888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5"/>
          <p:cNvSpPr txBox="1"/>
          <p:nvPr/>
        </p:nvSpPr>
        <p:spPr>
          <a:xfrm>
            <a:off x="594360" y="176479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AUTO ADJUDICATED %</a:t>
            </a:r>
            <a:endParaRPr lang="en-US" sz="950" dirty="0"/>
          </a:p>
        </p:txBody>
      </p:sp>
      <p:sp>
        <p:nvSpPr>
          <p:cNvPr id="10" name="Text 6"/>
          <p:cNvSpPr txBox="1"/>
          <p:nvPr/>
        </p:nvSpPr>
        <p:spPr>
          <a:xfrm>
            <a:off x="594360" y="2020824"/>
            <a:ext cx="3429000" cy="457200"/>
          </a:xfrm>
          <a:prstGeom prst="rect">
            <a:avLst/>
          </a:prstGeom>
          <a:noFill/>
          <a:ln/>
        </p:spPr>
        <p:txBody>
          <a:bodyPr wrap="square" lIns="0" tIns="0" rIns="0" bIns="0" rtlCol="0" anchor="ctr"/>
          <a:lstStyle/>
          <a:p>
            <a:pPr marL="0" indent="0">
              <a:buNone/>
            </a:pPr>
            <a:r>
              <a:rPr lang="en-US" sz="2200" b="1" dirty="0">
                <a:solidFill>
                  <a:srgbClr val="17594E"/>
                </a:solidFill>
                <a:latin typeface="Calibri" pitchFamily="34" charset="0"/>
                <a:ea typeface="Calibri" pitchFamily="34" charset="-122"/>
                <a:cs typeface="Calibri" pitchFamily="34" charset="-120"/>
              </a:rPr>
              <a:t>51.4%</a:t>
            </a:r>
            <a:endParaRPr lang="en-US" sz="2200" dirty="0"/>
          </a:p>
        </p:txBody>
      </p:sp>
      <p:sp>
        <p:nvSpPr>
          <p:cNvPr id="11" name="Text 7"/>
          <p:cNvSpPr txBox="1"/>
          <p:nvPr/>
        </p:nvSpPr>
        <p:spPr>
          <a:xfrm>
            <a:off x="594360" y="2514600"/>
            <a:ext cx="3429000" cy="320040"/>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53,976 of 104,985 lines processed by one system account (User_000083) - no human handles 54,000 claims in two years.</a:t>
            </a:r>
            <a:endParaRPr lang="en-US" sz="950" dirty="0"/>
          </a:p>
        </p:txBody>
      </p:sp>
      <p:sp>
        <p:nvSpPr>
          <p:cNvPr id="12" name="Shape 8"/>
          <p:cNvSpPr/>
          <p:nvPr/>
        </p:nvSpPr>
        <p:spPr>
          <a:xfrm>
            <a:off x="4251960" y="1691640"/>
            <a:ext cx="3703320" cy="1234440"/>
          </a:xfrm>
          <a:prstGeom prst="roundRect">
            <a:avLst>
              <a:gd name="adj" fmla="val 888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9"/>
          <p:cNvSpPr txBox="1"/>
          <p:nvPr/>
        </p:nvSpPr>
        <p:spPr>
          <a:xfrm>
            <a:off x="4389120" y="176479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ZERO VALUE CLAIMS</a:t>
            </a:r>
            <a:endParaRPr lang="en-US" sz="950" dirty="0"/>
          </a:p>
        </p:txBody>
      </p:sp>
      <p:sp>
        <p:nvSpPr>
          <p:cNvPr id="14" name="Text 10"/>
          <p:cNvSpPr txBox="1"/>
          <p:nvPr/>
        </p:nvSpPr>
        <p:spPr>
          <a:xfrm>
            <a:off x="4389120" y="2020824"/>
            <a:ext cx="3429000" cy="457200"/>
          </a:xfrm>
          <a:prstGeom prst="rect">
            <a:avLst/>
          </a:prstGeom>
          <a:noFill/>
          <a:ln/>
        </p:spPr>
        <p:txBody>
          <a:bodyPr wrap="square" lIns="0" tIns="0" rIns="0" bIns="0" rtlCol="0" anchor="ctr"/>
          <a:lstStyle/>
          <a:p>
            <a:pPr marL="0" indent="0">
              <a:buNone/>
            </a:pPr>
            <a:r>
              <a:rPr lang="en-US" sz="2200" b="1" dirty="0">
                <a:solidFill>
                  <a:srgbClr val="203370"/>
                </a:solidFill>
                <a:latin typeface="Calibri" pitchFamily="34" charset="0"/>
                <a:ea typeface="Calibri" pitchFamily="34" charset="-122"/>
                <a:cs typeface="Calibri" pitchFamily="34" charset="-120"/>
              </a:rPr>
              <a:t>7,398</a:t>
            </a:r>
            <a:endParaRPr lang="en-US" sz="2200" dirty="0"/>
          </a:p>
        </p:txBody>
      </p:sp>
      <p:sp>
        <p:nvSpPr>
          <p:cNvPr id="15" name="Text 11"/>
          <p:cNvSpPr txBox="1"/>
          <p:nvPr/>
        </p:nvSpPr>
        <p:spPr>
          <a:xfrm>
            <a:off x="4389120" y="2514600"/>
            <a:ext cx="3429000" cy="320040"/>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Claim lines settled at AED 0 (Value_Band = 'Zero value’), 6,557 of them are out-patient.</a:t>
            </a:r>
            <a:endParaRPr lang="en-US" sz="950" dirty="0"/>
          </a:p>
        </p:txBody>
      </p:sp>
      <p:sp>
        <p:nvSpPr>
          <p:cNvPr id="16" name="Shape 12"/>
          <p:cNvSpPr/>
          <p:nvPr/>
        </p:nvSpPr>
        <p:spPr>
          <a:xfrm>
            <a:off x="8046720" y="1691640"/>
            <a:ext cx="3703320" cy="1234440"/>
          </a:xfrm>
          <a:prstGeom prst="roundRect">
            <a:avLst>
              <a:gd name="adj" fmla="val 888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3"/>
          <p:cNvSpPr txBox="1"/>
          <p:nvPr/>
        </p:nvSpPr>
        <p:spPr>
          <a:xfrm>
            <a:off x="8183880" y="176479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ZERO VALUE %</a:t>
            </a:r>
            <a:endParaRPr lang="en-US" sz="950" dirty="0"/>
          </a:p>
        </p:txBody>
      </p:sp>
      <p:sp>
        <p:nvSpPr>
          <p:cNvPr id="18" name="Text 14"/>
          <p:cNvSpPr txBox="1"/>
          <p:nvPr/>
        </p:nvSpPr>
        <p:spPr>
          <a:xfrm>
            <a:off x="8183880" y="2020824"/>
            <a:ext cx="3429000" cy="457200"/>
          </a:xfrm>
          <a:prstGeom prst="rect">
            <a:avLst/>
          </a:prstGeom>
          <a:noFill/>
          <a:ln/>
        </p:spPr>
        <p:txBody>
          <a:bodyPr wrap="square" lIns="0" tIns="0" rIns="0" bIns="0" rtlCol="0" anchor="ctr"/>
          <a:lstStyle/>
          <a:p>
            <a:pPr marL="0" indent="0">
              <a:buNone/>
            </a:pPr>
            <a:r>
              <a:rPr lang="en-US" sz="2200" b="1" dirty="0">
                <a:solidFill>
                  <a:srgbClr val="203370"/>
                </a:solidFill>
                <a:latin typeface="Calibri" pitchFamily="34" charset="0"/>
                <a:ea typeface="Calibri" pitchFamily="34" charset="-122"/>
                <a:cs typeface="Calibri" pitchFamily="34" charset="-120"/>
              </a:rPr>
              <a:t>7.0%</a:t>
            </a:r>
            <a:endParaRPr lang="en-US" sz="2200" dirty="0"/>
          </a:p>
        </p:txBody>
      </p:sp>
      <p:sp>
        <p:nvSpPr>
          <p:cNvPr id="19" name="Text 15"/>
          <p:cNvSpPr txBox="1"/>
          <p:nvPr/>
        </p:nvSpPr>
        <p:spPr>
          <a:xfrm>
            <a:off x="8183880" y="2514600"/>
            <a:ext cx="3429000" cy="320040"/>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One claim in fourteen goes through the whole pipeline and pays nothing - volume without value.</a:t>
            </a:r>
            <a:endParaRPr lang="en-US" sz="950" dirty="0"/>
          </a:p>
        </p:txBody>
      </p:sp>
      <p:sp>
        <p:nvSpPr>
          <p:cNvPr id="21" name="Text 17"/>
          <p:cNvSpPr txBox="1"/>
          <p:nvPr/>
        </p:nvSpPr>
        <p:spPr>
          <a:xfrm>
            <a:off x="594360" y="3136392"/>
            <a:ext cx="676656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The October Spike - clustered column, claim count by policy month, one bar per UWY</a:t>
            </a:r>
            <a:endParaRPr lang="en-US" sz="1100" dirty="0"/>
          </a:p>
        </p:txBody>
      </p:sp>
      <p:pic>
        <p:nvPicPr>
          <p:cNvPr id="22" name="Image 2" descr="crops_small/t1_october.jpg"/>
          <p:cNvPicPr>
            <a:picLocks noChangeAspect="1"/>
          </p:cNvPicPr>
          <p:nvPr/>
        </p:nvPicPr>
        <p:blipFill>
          <a:blip r:embed="rId6"/>
          <a:srcRect l="576" t="1795" r="746" b="1328"/>
          <a:stretch>
            <a:fillRect/>
          </a:stretch>
        </p:blipFill>
        <p:spPr>
          <a:xfrm>
            <a:off x="1604022" y="3497412"/>
            <a:ext cx="4739069" cy="1718538"/>
          </a:xfrm>
          <a:prstGeom prst="rect">
            <a:avLst/>
          </a:prstGeom>
          <a:ln>
            <a:noFill/>
          </a:ln>
          <a:effectLst>
            <a:outerShdw blurRad="292100" dist="139700" dir="2700000" algn="tl" rotWithShape="0">
              <a:srgbClr val="333333">
                <a:alpha val="65000"/>
              </a:srgbClr>
            </a:outerShdw>
          </a:effectLst>
        </p:spPr>
      </p:pic>
      <p:sp>
        <p:nvSpPr>
          <p:cNvPr id="23" name="Text 18"/>
          <p:cNvSpPr txBox="1"/>
          <p:nvPr/>
        </p:nvSpPr>
        <p:spPr>
          <a:xfrm>
            <a:off x="594360" y="5257800"/>
            <a:ext cx="6766560" cy="219456"/>
          </a:xfrm>
          <a:prstGeom prst="rect">
            <a:avLst/>
          </a:prstGeom>
          <a:noFill/>
          <a:ln/>
        </p:spPr>
        <p:txBody>
          <a:bodyPr wrap="square" lIns="0" tIns="0" rIns="0" bIns="0" rtlCol="0" anchor="ctr"/>
          <a:lstStyle/>
          <a:p>
            <a:pPr marL="0" indent="0">
              <a:buNone/>
            </a:pPr>
            <a:r>
              <a:rPr lang="en-US" sz="800" i="1" dirty="0">
                <a:solidFill>
                  <a:schemeClr val="bg1"/>
                </a:solidFill>
                <a:latin typeface="Calibri" pitchFamily="34" charset="0"/>
                <a:ea typeface="Calibri" pitchFamily="34" charset="-122"/>
                <a:cs typeface="Calibri" pitchFamily="34" charset="-120"/>
              </a:rPr>
              <a:t>Export note: bars sorted by value in this PDF, sorted 1 → 12 in the live file.</a:t>
            </a:r>
            <a:endParaRPr lang="en-US" sz="800" dirty="0">
              <a:solidFill>
                <a:schemeClr val="bg1"/>
              </a:solidFill>
            </a:endParaRPr>
          </a:p>
        </p:txBody>
      </p:sp>
      <p:sp>
        <p:nvSpPr>
          <p:cNvPr id="24" name="Shape 19"/>
          <p:cNvSpPr/>
          <p:nvPr/>
        </p:nvSpPr>
        <p:spPr>
          <a:xfrm>
            <a:off x="594360" y="5504688"/>
            <a:ext cx="6766560" cy="0"/>
          </a:xfrm>
          <a:prstGeom prst="line">
            <a:avLst/>
          </a:prstGeom>
          <a:noFill/>
          <a:ln w="9525">
            <a:solidFill>
              <a:srgbClr val="DCE5EC"/>
            </a:solidFill>
            <a:prstDash val="solid"/>
          </a:ln>
        </p:spPr>
        <p:txBody>
          <a:bodyPr/>
          <a:lstStyle/>
          <a:p>
            <a:endParaRPr lang="en-US" dirty="0"/>
          </a:p>
        </p:txBody>
      </p:sp>
      <p:sp>
        <p:nvSpPr>
          <p:cNvPr id="25" name="Text 20"/>
          <p:cNvSpPr txBox="1"/>
          <p:nvPr/>
        </p:nvSpPr>
        <p:spPr>
          <a:xfrm>
            <a:off x="594360" y="5550407"/>
            <a:ext cx="6766560" cy="1170433"/>
          </a:xfrm>
          <a:prstGeom prst="roundRect">
            <a:avLst>
              <a:gd name="adj" fmla="val 10301"/>
            </a:avLst>
          </a:prstGeom>
          <a:solidFill>
            <a:schemeClr val="accent1">
              <a:lumMod val="50000"/>
            </a:schemeClr>
          </a:solidFill>
          <a:ln/>
        </p:spPr>
        <p:txBody>
          <a:bodyPr wrap="square" lIns="0" tIns="0" rIns="0" bIns="0" rtlCol="0" anchor="t"/>
          <a:lstStyle/>
          <a:p>
            <a:pPr marL="53975">
              <a:buNone/>
            </a:pPr>
            <a:r>
              <a:rPr lang="en-US" sz="850" b="1" kern="0" spc="150" dirty="0">
                <a:solidFill>
                  <a:srgbClr val="2E8B78"/>
                </a:solidFill>
                <a:latin typeface="Calibri" pitchFamily="34" charset="0"/>
                <a:ea typeface="Calibri" pitchFamily="34" charset="-122"/>
                <a:cs typeface="Calibri" pitchFamily="34" charset="-120"/>
              </a:rPr>
              <a:t>WHAT WE FOUND  </a:t>
            </a:r>
          </a:p>
          <a:p>
            <a:pPr marL="53975">
              <a:buNone/>
            </a:pPr>
            <a:r>
              <a:rPr lang="en-US" sz="1000" dirty="0">
                <a:solidFill>
                  <a:schemeClr val="bg1"/>
                </a:solidFill>
                <a:latin typeface="Calibri" pitchFamily="34" charset="0"/>
                <a:ea typeface="Calibri" pitchFamily="34" charset="-122"/>
                <a:cs typeface="Calibri" pitchFamily="34" charset="-120"/>
              </a:rPr>
              <a:t>Month 12 (October) is the busiest month both years: </a:t>
            </a:r>
          </a:p>
          <a:p>
            <a:pPr marL="230188" indent="-11430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5,334 claims in 2023/2024 against an average of 4,106 for months 1–11 (+30%), and 5,566 in 2024/2025 against 4,445 (+25%). </a:t>
            </a:r>
          </a:p>
          <a:p>
            <a:pPr marL="230188" indent="-11430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Paid value rises about 18–19% in the same month. </a:t>
            </a:r>
          </a:p>
          <a:p>
            <a:pPr marL="230188" indent="-11430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The quietest months are April of year one (3,412) and August (3,625 / 3,884). </a:t>
            </a:r>
          </a:p>
          <a:p>
            <a:pPr marL="230188" indent="-11430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Benefit-reset behaviour, repeating two years running.</a:t>
            </a:r>
            <a:endParaRPr lang="en-US" sz="850" dirty="0">
              <a:solidFill>
                <a:schemeClr val="bg1"/>
              </a:solidFill>
            </a:endParaRPr>
          </a:p>
        </p:txBody>
      </p:sp>
      <p:sp>
        <p:nvSpPr>
          <p:cNvPr id="26" name="Shape 21"/>
          <p:cNvSpPr/>
          <p:nvPr/>
        </p:nvSpPr>
        <p:spPr>
          <a:xfrm>
            <a:off x="7680960" y="3063240"/>
            <a:ext cx="4069080" cy="3383280"/>
          </a:xfrm>
          <a:prstGeom prst="roundRect">
            <a:avLst>
              <a:gd name="adj" fmla="val 3333"/>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7" name="Text 22"/>
          <p:cNvSpPr txBox="1"/>
          <p:nvPr/>
        </p:nvSpPr>
        <p:spPr>
          <a:xfrm>
            <a:off x="7818120" y="3136392"/>
            <a:ext cx="379476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Automation Rate - donut on Processing_Channel</a:t>
            </a:r>
            <a:endParaRPr lang="en-US" sz="1100" dirty="0"/>
          </a:p>
        </p:txBody>
      </p:sp>
      <p:pic>
        <p:nvPicPr>
          <p:cNvPr id="28" name="Image 3" descr="crops_small/t1_automation.jpg"/>
          <p:cNvPicPr>
            <a:picLocks noChangeAspect="1"/>
          </p:cNvPicPr>
          <p:nvPr/>
        </p:nvPicPr>
        <p:blipFill>
          <a:blip r:embed="rId7"/>
          <a:stretch>
            <a:fillRect/>
          </a:stretch>
        </p:blipFill>
        <p:spPr>
          <a:xfrm>
            <a:off x="7818120" y="3671302"/>
            <a:ext cx="3794760" cy="1581941"/>
          </a:xfrm>
          <a:prstGeom prst="rect">
            <a:avLst/>
          </a:prstGeom>
        </p:spPr>
      </p:pic>
      <p:sp>
        <p:nvSpPr>
          <p:cNvPr id="29" name="Shape 23"/>
          <p:cNvSpPr/>
          <p:nvPr/>
        </p:nvSpPr>
        <p:spPr>
          <a:xfrm>
            <a:off x="7818120" y="5504688"/>
            <a:ext cx="3794760" cy="0"/>
          </a:xfrm>
          <a:prstGeom prst="line">
            <a:avLst/>
          </a:prstGeom>
          <a:noFill/>
          <a:ln w="9525">
            <a:solidFill>
              <a:srgbClr val="DCE5EC"/>
            </a:solidFill>
            <a:prstDash val="solid"/>
          </a:ln>
        </p:spPr>
        <p:txBody>
          <a:bodyPr/>
          <a:lstStyle/>
          <a:p>
            <a:endParaRPr lang="en-US"/>
          </a:p>
        </p:txBody>
      </p:sp>
      <p:sp>
        <p:nvSpPr>
          <p:cNvPr id="30" name="Text 24"/>
          <p:cNvSpPr txBox="1"/>
          <p:nvPr/>
        </p:nvSpPr>
        <p:spPr>
          <a:xfrm>
            <a:off x="7818120" y="5550408"/>
            <a:ext cx="3794760" cy="969264"/>
          </a:xfrm>
          <a:prstGeom prst="rect">
            <a:avLst/>
          </a:prstGeom>
          <a:noFill/>
          <a:ln/>
        </p:spPr>
        <p:txBody>
          <a:bodyPr wrap="square" lIns="0" tIns="0" rIns="0" bIns="0" rtlCol="0" anchor="t"/>
          <a:lstStyle/>
          <a:p>
            <a:pPr marL="0" indent="0">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17475">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51.41% automated / 48.59% manual. </a:t>
            </a:r>
          </a:p>
          <a:p>
            <a:pPr marL="171450" indent="-117475">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Automated lines settle in a median 18 days versus 30 for manual but carry only 26% of paid value (AED 249 per line against AED 743 manual) - the manual half is where both the money and the delay sit.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Page 2 · concentration, zero-value, data quality</a:t>
            </a:r>
            <a:endParaRPr lang="en-US" sz="2500" dirty="0"/>
          </a:p>
        </p:txBody>
      </p:sp>
      <p:sp>
        <p:nvSpPr>
          <p:cNvPr id="5" name="Shape 1"/>
          <p:cNvSpPr/>
          <p:nvPr/>
        </p:nvSpPr>
        <p:spPr>
          <a:xfrm>
            <a:off x="8476488" y="1069848"/>
            <a:ext cx="3273552"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8476488" y="1069848"/>
            <a:ext cx="3273552"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PAGE 2  ·  VISUALS 4–6 OF 6</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8 / 24</a:t>
            </a:r>
            <a:endParaRPr lang="en-US" sz="900" dirty="0"/>
          </a:p>
        </p:txBody>
      </p:sp>
      <p:sp>
        <p:nvSpPr>
          <p:cNvPr id="9" name="Text 5"/>
          <p:cNvSpPr txBox="1"/>
          <p:nvPr/>
        </p:nvSpPr>
        <p:spPr>
          <a:xfrm>
            <a:off x="594360" y="1764792"/>
            <a:ext cx="676656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Cost Concentration - Pareto: Total Paid per member (bars) and Cumulative Paid % (line), members ranked by spend</a:t>
            </a:r>
            <a:endParaRPr lang="en-US" sz="1100" dirty="0"/>
          </a:p>
        </p:txBody>
      </p:sp>
      <p:sp>
        <p:nvSpPr>
          <p:cNvPr id="10" name="Text 6"/>
          <p:cNvSpPr txBox="1"/>
          <p:nvPr/>
        </p:nvSpPr>
        <p:spPr>
          <a:xfrm>
            <a:off x="594360" y="4648204"/>
            <a:ext cx="6766560" cy="219456"/>
          </a:xfrm>
          <a:prstGeom prst="rect">
            <a:avLst/>
          </a:prstGeom>
          <a:noFill/>
          <a:ln/>
        </p:spPr>
        <p:txBody>
          <a:bodyPr wrap="square" lIns="0" tIns="0" rIns="0" bIns="0" rtlCol="0" anchor="ctr"/>
          <a:lstStyle/>
          <a:p>
            <a:pPr marL="0" indent="0">
              <a:buNone/>
            </a:pPr>
            <a:r>
              <a:rPr lang="en-US" sz="800" i="1" dirty="0">
                <a:solidFill>
                  <a:schemeClr val="bg1"/>
                </a:solidFill>
                <a:latin typeface="Calibri" pitchFamily="34" charset="0"/>
                <a:ea typeface="Calibri" pitchFamily="34" charset="-122"/>
                <a:cs typeface="Calibri" pitchFamily="34" charset="-120"/>
              </a:rPr>
              <a:t>Interim chart from the full dataset (3,468 members) - replace with the page-2 visual after the Top-10 filter is removed.</a:t>
            </a:r>
            <a:endParaRPr lang="en-US" sz="800" dirty="0">
              <a:solidFill>
                <a:schemeClr val="bg1"/>
              </a:solidFill>
            </a:endParaRPr>
          </a:p>
        </p:txBody>
      </p:sp>
      <p:sp>
        <p:nvSpPr>
          <p:cNvPr id="11" name="Shape 7"/>
          <p:cNvSpPr/>
          <p:nvPr/>
        </p:nvSpPr>
        <p:spPr>
          <a:xfrm>
            <a:off x="594360" y="4874775"/>
            <a:ext cx="6766560" cy="0"/>
          </a:xfrm>
          <a:prstGeom prst="line">
            <a:avLst/>
          </a:prstGeom>
          <a:noFill/>
          <a:ln w="9525">
            <a:solidFill>
              <a:srgbClr val="DCE5EC"/>
            </a:solidFill>
            <a:prstDash val="solid"/>
          </a:ln>
        </p:spPr>
        <p:txBody>
          <a:bodyPr/>
          <a:lstStyle/>
          <a:p>
            <a:endParaRPr lang="en-US"/>
          </a:p>
        </p:txBody>
      </p:sp>
      <p:sp>
        <p:nvSpPr>
          <p:cNvPr id="12" name="Text 8"/>
          <p:cNvSpPr txBox="1"/>
          <p:nvPr/>
        </p:nvSpPr>
        <p:spPr>
          <a:xfrm>
            <a:off x="594360" y="4981458"/>
            <a:ext cx="6766560" cy="1373622"/>
          </a:xfrm>
          <a:prstGeom prst="roundRect">
            <a:avLst>
              <a:gd name="adj" fmla="val 8266"/>
            </a:avLst>
          </a:prstGeom>
          <a:solidFill>
            <a:schemeClr val="accent1">
              <a:lumMod val="50000"/>
            </a:schemeClr>
          </a:solidFill>
          <a:ln/>
        </p:spPr>
        <p:txBody>
          <a:bodyPr wrap="square" lIns="0" tIns="0" rIns="0" bIns="0" rtlCol="0" anchor="t"/>
          <a:lstStyle/>
          <a:p>
            <a:pPr marL="53975">
              <a:buNone/>
            </a:pPr>
            <a:r>
              <a:rPr lang="en-US" sz="850" b="1" kern="0" spc="150" dirty="0">
                <a:solidFill>
                  <a:srgbClr val="2E8B78"/>
                </a:solidFill>
                <a:latin typeface="Calibri" pitchFamily="34" charset="0"/>
                <a:ea typeface="Calibri" pitchFamily="34" charset="-122"/>
                <a:cs typeface="Calibri" pitchFamily="34" charset="-120"/>
              </a:rPr>
              <a:t>WHAT WE FOUND  </a:t>
            </a:r>
          </a:p>
          <a:p>
            <a:pPr marL="230188" indent="-11430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The top 1% of members (35 people) carry 13.2% of all spend. </a:t>
            </a:r>
          </a:p>
          <a:p>
            <a:pPr marL="230188" indent="-11430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The top 5% carry 30%. </a:t>
            </a:r>
          </a:p>
          <a:p>
            <a:pPr marL="230188" indent="-11430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The top 10% carry 42%. </a:t>
            </a:r>
          </a:p>
          <a:p>
            <a:pPr marL="230188" indent="-11430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The top 20% carry 59%. </a:t>
            </a:r>
          </a:p>
          <a:p>
            <a:pPr marL="230188" indent="-11430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The single highest member is AED 751K (pulmonary hypertension, in-patient). </a:t>
            </a:r>
          </a:p>
          <a:p>
            <a:pPr marL="230188" indent="-11430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The top 20 members together are AED 5.09M, 9.9% of the book. </a:t>
            </a:r>
          </a:p>
          <a:p>
            <a:pPr marL="230188" indent="-11430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Half of everything we pay goes to 14% of the people we cover.</a:t>
            </a:r>
            <a:endParaRPr lang="en-US" sz="850" dirty="0">
              <a:solidFill>
                <a:schemeClr val="bg1"/>
              </a:solidFill>
            </a:endParaRPr>
          </a:p>
        </p:txBody>
      </p:sp>
      <p:sp>
        <p:nvSpPr>
          <p:cNvPr id="14" name="Shape 9"/>
          <p:cNvSpPr/>
          <p:nvPr/>
        </p:nvSpPr>
        <p:spPr>
          <a:xfrm>
            <a:off x="7680960" y="1691640"/>
            <a:ext cx="4069080" cy="2514600"/>
          </a:xfrm>
          <a:prstGeom prst="roundRect">
            <a:avLst>
              <a:gd name="adj" fmla="val 4364"/>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0"/>
          <p:cNvSpPr txBox="1"/>
          <p:nvPr/>
        </p:nvSpPr>
        <p:spPr>
          <a:xfrm>
            <a:off x="7818120" y="1764792"/>
            <a:ext cx="379476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Zero Value Claims - bar by Family of Benefit</a:t>
            </a:r>
            <a:endParaRPr lang="en-US" sz="1100" dirty="0"/>
          </a:p>
        </p:txBody>
      </p:sp>
      <p:sp>
        <p:nvSpPr>
          <p:cNvPr id="17" name="Shape 11"/>
          <p:cNvSpPr/>
          <p:nvPr/>
        </p:nvSpPr>
        <p:spPr>
          <a:xfrm>
            <a:off x="7818120" y="3543300"/>
            <a:ext cx="3794760" cy="0"/>
          </a:xfrm>
          <a:prstGeom prst="line">
            <a:avLst/>
          </a:prstGeom>
          <a:noFill/>
          <a:ln w="9525">
            <a:solidFill>
              <a:srgbClr val="DCE5EC"/>
            </a:solidFill>
            <a:prstDash val="solid"/>
          </a:ln>
        </p:spPr>
        <p:txBody>
          <a:bodyPr/>
          <a:lstStyle/>
          <a:p>
            <a:endParaRPr lang="en-US"/>
          </a:p>
        </p:txBody>
      </p:sp>
      <p:sp>
        <p:nvSpPr>
          <p:cNvPr id="18" name="Text 12"/>
          <p:cNvSpPr txBox="1"/>
          <p:nvPr/>
        </p:nvSpPr>
        <p:spPr>
          <a:xfrm>
            <a:off x="7818120" y="3467105"/>
            <a:ext cx="3794760" cy="737473"/>
          </a:xfrm>
          <a:prstGeom prst="rect">
            <a:avLst/>
          </a:prstGeom>
          <a:noFill/>
          <a:ln/>
        </p:spPr>
        <p:txBody>
          <a:bodyPr wrap="square" lIns="0" tIns="0" rIns="0" bIns="0" rtlCol="0" anchor="t"/>
          <a:lstStyle/>
          <a:p>
            <a:pPr marL="0" indent="0">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15888"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6,557 of the 7,398 zero-value lines are out-patient (89%), dental 386, optical 261, in-patient 179. </a:t>
            </a:r>
          </a:p>
          <a:p>
            <a:pPr marL="115888"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Volume that costs handling time and inflates frequency without paying anything.</a:t>
            </a:r>
            <a:endParaRPr lang="en-US" sz="850" dirty="0"/>
          </a:p>
        </p:txBody>
      </p:sp>
      <p:sp>
        <p:nvSpPr>
          <p:cNvPr id="19" name="Shape 13"/>
          <p:cNvSpPr/>
          <p:nvPr/>
        </p:nvSpPr>
        <p:spPr>
          <a:xfrm>
            <a:off x="7680960" y="4343400"/>
            <a:ext cx="4069080" cy="2011680"/>
          </a:xfrm>
          <a:prstGeom prst="roundRect">
            <a:avLst>
              <a:gd name="adj" fmla="val 5455"/>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0" name="Text 14"/>
          <p:cNvSpPr txBox="1"/>
          <p:nvPr/>
        </p:nvSpPr>
        <p:spPr>
          <a:xfrm>
            <a:off x="7818120" y="4416552"/>
            <a:ext cx="379476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Data Quality Table - Is_Complete × Claim Count</a:t>
            </a:r>
            <a:endParaRPr lang="en-US" sz="1100" dirty="0"/>
          </a:p>
        </p:txBody>
      </p:sp>
      <p:pic>
        <p:nvPicPr>
          <p:cNvPr id="21" name="Image 3" descr="crops_small/t1_dq.jpg"/>
          <p:cNvPicPr>
            <a:picLocks noChangeAspect="1"/>
          </p:cNvPicPr>
          <p:nvPr/>
        </p:nvPicPr>
        <p:blipFill>
          <a:blip r:embed="rId6"/>
          <a:srcRect l="809" t="3021" r="2320" b="2621"/>
          <a:stretch>
            <a:fillRect/>
          </a:stretch>
        </p:blipFill>
        <p:spPr>
          <a:xfrm>
            <a:off x="7848835" y="4732368"/>
            <a:ext cx="3675999" cy="767608"/>
          </a:xfrm>
          <a:prstGeom prst="rect">
            <a:avLst/>
          </a:prstGeom>
        </p:spPr>
      </p:pic>
      <p:sp>
        <p:nvSpPr>
          <p:cNvPr id="22" name="Shape 15"/>
          <p:cNvSpPr/>
          <p:nvPr/>
        </p:nvSpPr>
        <p:spPr>
          <a:xfrm>
            <a:off x="7818120" y="5650992"/>
            <a:ext cx="3794760" cy="0"/>
          </a:xfrm>
          <a:prstGeom prst="line">
            <a:avLst/>
          </a:prstGeom>
          <a:noFill/>
          <a:ln w="9525">
            <a:solidFill>
              <a:srgbClr val="DCE5EC"/>
            </a:solidFill>
            <a:prstDash val="solid"/>
          </a:ln>
        </p:spPr>
        <p:txBody>
          <a:bodyPr/>
          <a:lstStyle/>
          <a:p>
            <a:endParaRPr lang="en-US"/>
          </a:p>
        </p:txBody>
      </p:sp>
      <p:sp>
        <p:nvSpPr>
          <p:cNvPr id="23" name="Text 16"/>
          <p:cNvSpPr txBox="1"/>
          <p:nvPr/>
        </p:nvSpPr>
        <p:spPr>
          <a:xfrm>
            <a:off x="7818120" y="5554478"/>
            <a:ext cx="3794760" cy="748146"/>
          </a:xfrm>
          <a:prstGeom prst="rect">
            <a:avLst/>
          </a:prstGeom>
          <a:noFill/>
          <a:ln/>
        </p:spPr>
        <p:txBody>
          <a:bodyPr wrap="square" lIns="0" tIns="0" rIns="0" bIns="0" rtlCol="0" anchor="t"/>
          <a:lstStyle/>
          <a:p>
            <a:pPr marL="0" indent="0">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15888"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104,965 complete, 20 incomplete, 104,985 total, reconciles to the source file line for line. </a:t>
            </a:r>
          </a:p>
          <a:p>
            <a:pPr marL="115888"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The 20 rows have blank dates and '0' categories and are what shows as '(Blank)' and '0' on the other visuals.</a:t>
            </a:r>
            <a:endParaRPr lang="en-US" sz="850" dirty="0"/>
          </a:p>
        </p:txBody>
      </p:sp>
      <p:pic>
        <p:nvPicPr>
          <p:cNvPr id="25" name="Picture 24">
            <a:extLst>
              <a:ext uri="{FF2B5EF4-FFF2-40B4-BE49-F238E27FC236}">
                <a16:creationId xmlns:a16="http://schemas.microsoft.com/office/drawing/2014/main" id="{C564854E-AD33-A98F-6C45-90059D5EF210}"/>
              </a:ext>
            </a:extLst>
          </p:cNvPr>
          <p:cNvPicPr>
            <a:picLocks noChangeAspect="1"/>
          </p:cNvPicPr>
          <p:nvPr/>
        </p:nvPicPr>
        <p:blipFill>
          <a:blip r:embed="rId7"/>
          <a:stretch>
            <a:fillRect/>
          </a:stretch>
        </p:blipFill>
        <p:spPr>
          <a:xfrm>
            <a:off x="594359" y="2088691"/>
            <a:ext cx="6807649" cy="2432850"/>
          </a:xfrm>
          <a:prstGeom prst="rect">
            <a:avLst/>
          </a:prstGeom>
          <a:ln>
            <a:noFill/>
          </a:ln>
          <a:effectLst>
            <a:outerShdw blurRad="292100" dist="139700" dir="2700000" algn="tl" rotWithShape="0">
              <a:srgbClr val="333333">
                <a:alpha val="65000"/>
              </a:srgbClr>
            </a:outerShdw>
          </a:effectLst>
        </p:spPr>
      </p:pic>
      <p:pic>
        <p:nvPicPr>
          <p:cNvPr id="27" name="Picture 26">
            <a:extLst>
              <a:ext uri="{FF2B5EF4-FFF2-40B4-BE49-F238E27FC236}">
                <a16:creationId xmlns:a16="http://schemas.microsoft.com/office/drawing/2014/main" id="{1EE2083B-FBAE-F4A6-A7DC-E396543FE61A}"/>
              </a:ext>
            </a:extLst>
          </p:cNvPr>
          <p:cNvPicPr>
            <a:picLocks noChangeAspect="1"/>
          </p:cNvPicPr>
          <p:nvPr/>
        </p:nvPicPr>
        <p:blipFill>
          <a:blip r:embed="rId8"/>
          <a:stretch>
            <a:fillRect/>
          </a:stretch>
        </p:blipFill>
        <p:spPr>
          <a:xfrm>
            <a:off x="8058083" y="2105215"/>
            <a:ext cx="3321117" cy="13253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Page 3 · Interactive Centrepiece (decomposition tree)</a:t>
            </a:r>
            <a:endParaRPr lang="en-US" sz="2500" dirty="0"/>
          </a:p>
        </p:txBody>
      </p:sp>
      <p:sp>
        <p:nvSpPr>
          <p:cNvPr id="5" name="Shape 1"/>
          <p:cNvSpPr/>
          <p:nvPr/>
        </p:nvSpPr>
        <p:spPr>
          <a:xfrm>
            <a:off x="8709660" y="1069848"/>
            <a:ext cx="3040380"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8709660" y="1069848"/>
            <a:ext cx="3040380"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PAGE 3  ·  VISUAL 1 OF 5</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9 / 24</a:t>
            </a:r>
            <a:endParaRPr lang="en-US" sz="900" dirty="0"/>
          </a:p>
        </p:txBody>
      </p:sp>
      <p:sp>
        <p:nvSpPr>
          <p:cNvPr id="8" name="Shape 4"/>
          <p:cNvSpPr/>
          <p:nvPr/>
        </p:nvSpPr>
        <p:spPr>
          <a:xfrm>
            <a:off x="457200" y="1691640"/>
            <a:ext cx="11292840" cy="3429000"/>
          </a:xfrm>
          <a:prstGeom prst="roundRect">
            <a:avLst>
              <a:gd name="adj" fmla="val 3200"/>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5"/>
          <p:cNvSpPr txBox="1"/>
          <p:nvPr/>
        </p:nvSpPr>
        <p:spPr>
          <a:xfrm>
            <a:off x="640080" y="1764792"/>
            <a:ext cx="10972800" cy="274320"/>
          </a:xfrm>
          <a:prstGeom prst="rect">
            <a:avLst/>
          </a:prstGeom>
          <a:noFill/>
          <a:ln/>
        </p:spPr>
        <p:txBody>
          <a:bodyPr wrap="square" lIns="0" tIns="0" rIns="0" bIns="0" rtlCol="0" anchor="ctr"/>
          <a:lstStyle/>
          <a:p>
            <a:pPr marL="0" indent="0">
              <a:buNone/>
            </a:pPr>
            <a:r>
              <a:rPr lang="en-US" sz="1000" b="1" dirty="0">
                <a:solidFill>
                  <a:srgbClr val="203370"/>
                </a:solidFill>
                <a:latin typeface="Calibri" pitchFamily="34" charset="0"/>
                <a:ea typeface="Calibri" pitchFamily="34" charset="-122"/>
                <a:cs typeface="Calibri" pitchFamily="34" charset="-120"/>
              </a:rPr>
              <a:t>Analyze Total Paid → explain by Family of Benefit → ICD chapter → ICD description → Provider type (tooltip: Cumulative Paid %). One path expanded, full dataset:</a:t>
            </a:r>
            <a:endParaRPr lang="en-US" sz="1000" dirty="0"/>
          </a:p>
        </p:txBody>
      </p:sp>
      <p:sp>
        <p:nvSpPr>
          <p:cNvPr id="10" name="Text 6"/>
          <p:cNvSpPr txBox="1"/>
          <p:nvPr/>
        </p:nvSpPr>
        <p:spPr>
          <a:xfrm>
            <a:off x="640080" y="2103120"/>
            <a:ext cx="2048256" cy="256032"/>
          </a:xfrm>
          <a:prstGeom prst="rect">
            <a:avLst/>
          </a:prstGeom>
          <a:noFill/>
          <a:ln/>
        </p:spPr>
        <p:txBody>
          <a:bodyPr wrap="square" lIns="0" tIns="0" rIns="0" bIns="0" rtlCol="0" anchor="ctr"/>
          <a:lstStyle/>
          <a:p>
            <a:pPr marL="0" indent="0">
              <a:buNone/>
            </a:pPr>
            <a:r>
              <a:rPr lang="en-US" sz="850" b="1" kern="0" spc="100" dirty="0">
                <a:solidFill>
                  <a:srgbClr val="55637A"/>
                </a:solidFill>
                <a:latin typeface="Calibri" pitchFamily="34" charset="0"/>
                <a:ea typeface="Calibri" pitchFamily="34" charset="-122"/>
                <a:cs typeface="Calibri" pitchFamily="34" charset="-120"/>
              </a:rPr>
              <a:t>Total Paid</a:t>
            </a:r>
            <a:endParaRPr lang="en-US" sz="850" dirty="0"/>
          </a:p>
        </p:txBody>
      </p:sp>
      <p:sp>
        <p:nvSpPr>
          <p:cNvPr id="11" name="Shape 7"/>
          <p:cNvSpPr/>
          <p:nvPr/>
        </p:nvSpPr>
        <p:spPr>
          <a:xfrm>
            <a:off x="640080" y="2395728"/>
            <a:ext cx="2048256" cy="457200"/>
          </a:xfrm>
          <a:prstGeom prst="roundRect">
            <a:avLst>
              <a:gd name="adj" fmla="val 12000"/>
            </a:avLst>
          </a:prstGeom>
          <a:solidFill>
            <a:srgbClr val="203370"/>
          </a:solidFill>
          <a:ln w="6350">
            <a:solidFill>
              <a:srgbClr val="203370"/>
            </a:solidFill>
            <a:prstDash val="solid"/>
          </a:ln>
        </p:spPr>
        <p:txBody>
          <a:bodyPr/>
          <a:lstStyle/>
          <a:p>
            <a:endParaRPr lang="en-US"/>
          </a:p>
        </p:txBody>
      </p:sp>
      <p:sp>
        <p:nvSpPr>
          <p:cNvPr id="12" name="Text 8"/>
          <p:cNvSpPr txBox="1"/>
          <p:nvPr/>
        </p:nvSpPr>
        <p:spPr>
          <a:xfrm>
            <a:off x="731520" y="2395728"/>
            <a:ext cx="1865376"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Total</a:t>
            </a:r>
            <a:endParaRPr lang="en-US" sz="950" dirty="0"/>
          </a:p>
          <a:p>
            <a:pPr marL="0" indent="0">
              <a:buNone/>
            </a:pPr>
            <a:r>
              <a:rPr lang="en-US" sz="900" dirty="0">
                <a:solidFill>
                  <a:srgbClr val="FFFFFF"/>
                </a:solidFill>
                <a:latin typeface="Calibri" pitchFamily="34" charset="0"/>
                <a:ea typeface="Calibri" pitchFamily="34" charset="-122"/>
                <a:cs typeface="Calibri" pitchFamily="34" charset="-120"/>
              </a:rPr>
              <a:t>AED 51.30M</a:t>
            </a:r>
            <a:endParaRPr lang="en-US" sz="950" dirty="0"/>
          </a:p>
        </p:txBody>
      </p:sp>
      <p:sp>
        <p:nvSpPr>
          <p:cNvPr id="13" name="Shape 9"/>
          <p:cNvSpPr/>
          <p:nvPr/>
        </p:nvSpPr>
        <p:spPr>
          <a:xfrm>
            <a:off x="2688336" y="2624328"/>
            <a:ext cx="182880" cy="0"/>
          </a:xfrm>
          <a:prstGeom prst="line">
            <a:avLst/>
          </a:prstGeom>
          <a:noFill/>
          <a:ln w="25400">
            <a:solidFill>
              <a:srgbClr val="4BA38C"/>
            </a:solidFill>
            <a:prstDash val="solid"/>
            <a:tailEnd type="triangle"/>
          </a:ln>
        </p:spPr>
        <p:txBody>
          <a:bodyPr/>
          <a:lstStyle/>
          <a:p>
            <a:endParaRPr lang="en-US"/>
          </a:p>
        </p:txBody>
      </p:sp>
      <p:sp>
        <p:nvSpPr>
          <p:cNvPr id="14" name="Text 10"/>
          <p:cNvSpPr txBox="1"/>
          <p:nvPr/>
        </p:nvSpPr>
        <p:spPr>
          <a:xfrm>
            <a:off x="2871216" y="2103120"/>
            <a:ext cx="2048256" cy="256032"/>
          </a:xfrm>
          <a:prstGeom prst="rect">
            <a:avLst/>
          </a:prstGeom>
          <a:noFill/>
          <a:ln/>
        </p:spPr>
        <p:txBody>
          <a:bodyPr wrap="square" lIns="0" tIns="0" rIns="0" bIns="0" rtlCol="0" anchor="ctr"/>
          <a:lstStyle/>
          <a:p>
            <a:pPr marL="0" indent="0">
              <a:buNone/>
            </a:pPr>
            <a:r>
              <a:rPr lang="en-US" sz="850" b="1" kern="0" spc="100" dirty="0">
                <a:solidFill>
                  <a:srgbClr val="55637A"/>
                </a:solidFill>
                <a:latin typeface="Calibri" pitchFamily="34" charset="0"/>
                <a:ea typeface="Calibri" pitchFamily="34" charset="-122"/>
                <a:cs typeface="Calibri" pitchFamily="34" charset="-120"/>
              </a:rPr>
              <a:t>Family of Benefit</a:t>
            </a:r>
            <a:endParaRPr lang="en-US" sz="850" dirty="0"/>
          </a:p>
        </p:txBody>
      </p:sp>
      <p:sp>
        <p:nvSpPr>
          <p:cNvPr id="15" name="Shape 11"/>
          <p:cNvSpPr/>
          <p:nvPr/>
        </p:nvSpPr>
        <p:spPr>
          <a:xfrm>
            <a:off x="2871216" y="2395728"/>
            <a:ext cx="2048256" cy="457200"/>
          </a:xfrm>
          <a:prstGeom prst="roundRect">
            <a:avLst>
              <a:gd name="adj" fmla="val 12000"/>
            </a:avLst>
          </a:prstGeom>
          <a:solidFill>
            <a:srgbClr val="203370"/>
          </a:solidFill>
          <a:ln w="6350">
            <a:solidFill>
              <a:srgbClr val="203370"/>
            </a:solidFill>
            <a:prstDash val="solid"/>
          </a:ln>
        </p:spPr>
        <p:txBody>
          <a:bodyPr/>
          <a:lstStyle/>
          <a:p>
            <a:endParaRPr lang="en-US"/>
          </a:p>
        </p:txBody>
      </p:sp>
      <p:sp>
        <p:nvSpPr>
          <p:cNvPr id="16" name="Text 12"/>
          <p:cNvSpPr txBox="1"/>
          <p:nvPr/>
        </p:nvSpPr>
        <p:spPr>
          <a:xfrm>
            <a:off x="2962656" y="2395728"/>
            <a:ext cx="1865376"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Out-Patient</a:t>
            </a:r>
            <a:endParaRPr lang="en-US" sz="950" dirty="0"/>
          </a:p>
          <a:p>
            <a:pPr marL="0" indent="0">
              <a:buNone/>
            </a:pPr>
            <a:r>
              <a:rPr lang="en-US" sz="900" dirty="0">
                <a:solidFill>
                  <a:srgbClr val="FFFFFF"/>
                </a:solidFill>
                <a:latin typeface="Calibri" pitchFamily="34" charset="0"/>
                <a:ea typeface="Calibri" pitchFamily="34" charset="-122"/>
                <a:cs typeface="Calibri" pitchFamily="34" charset="-120"/>
              </a:rPr>
              <a:t>AED 35.38M · 69%</a:t>
            </a:r>
            <a:endParaRPr lang="en-US" sz="950" dirty="0"/>
          </a:p>
        </p:txBody>
      </p:sp>
      <p:sp>
        <p:nvSpPr>
          <p:cNvPr id="17" name="Shape 13"/>
          <p:cNvSpPr/>
          <p:nvPr/>
        </p:nvSpPr>
        <p:spPr>
          <a:xfrm>
            <a:off x="4919472" y="2624328"/>
            <a:ext cx="182880" cy="0"/>
          </a:xfrm>
          <a:prstGeom prst="line">
            <a:avLst/>
          </a:prstGeom>
          <a:noFill/>
          <a:ln w="25400">
            <a:solidFill>
              <a:srgbClr val="4BA38C"/>
            </a:solidFill>
            <a:prstDash val="solid"/>
            <a:tailEnd type="triangle"/>
          </a:ln>
        </p:spPr>
        <p:txBody>
          <a:bodyPr/>
          <a:lstStyle/>
          <a:p>
            <a:endParaRPr lang="en-US"/>
          </a:p>
        </p:txBody>
      </p:sp>
      <p:sp>
        <p:nvSpPr>
          <p:cNvPr id="18" name="Shape 14"/>
          <p:cNvSpPr/>
          <p:nvPr/>
        </p:nvSpPr>
        <p:spPr>
          <a:xfrm>
            <a:off x="2871216" y="2926080"/>
            <a:ext cx="2048256" cy="457200"/>
          </a:xfrm>
          <a:prstGeom prst="roundRect">
            <a:avLst>
              <a:gd name="adj" fmla="val 12000"/>
            </a:avLst>
          </a:prstGeom>
          <a:solidFill>
            <a:srgbClr val="F3F7F9"/>
          </a:solidFill>
          <a:ln w="6350">
            <a:solidFill>
              <a:srgbClr val="DCE5EC"/>
            </a:solidFill>
            <a:prstDash val="solid"/>
          </a:ln>
        </p:spPr>
        <p:txBody>
          <a:bodyPr/>
          <a:lstStyle/>
          <a:p>
            <a:endParaRPr lang="en-US"/>
          </a:p>
        </p:txBody>
      </p:sp>
      <p:sp>
        <p:nvSpPr>
          <p:cNvPr id="19" name="Text 15"/>
          <p:cNvSpPr txBox="1"/>
          <p:nvPr/>
        </p:nvSpPr>
        <p:spPr>
          <a:xfrm>
            <a:off x="2962656" y="2926080"/>
            <a:ext cx="1865376" cy="457200"/>
          </a:xfrm>
          <a:prstGeom prst="rect">
            <a:avLst/>
          </a:prstGeom>
          <a:noFill/>
          <a:ln/>
        </p:spPr>
        <p:txBody>
          <a:bodyPr wrap="square" lIns="0" tIns="0" rIns="0" bIns="0" rtlCol="0" anchor="ctr"/>
          <a:lstStyle/>
          <a:p>
            <a:pPr marL="0" indent="0">
              <a:buNone/>
            </a:pPr>
            <a:r>
              <a:rPr lang="en-US" sz="950" b="1" dirty="0">
                <a:solidFill>
                  <a:srgbClr val="33404F"/>
                </a:solidFill>
                <a:latin typeface="Calibri" pitchFamily="34" charset="0"/>
                <a:ea typeface="Calibri" pitchFamily="34" charset="-122"/>
                <a:cs typeface="Calibri" pitchFamily="34" charset="-120"/>
              </a:rPr>
              <a:t>In-Patient</a:t>
            </a:r>
            <a:endParaRPr lang="en-US" sz="950" dirty="0"/>
          </a:p>
          <a:p>
            <a:pPr marL="0" indent="0">
              <a:buNone/>
            </a:pPr>
            <a:r>
              <a:rPr lang="en-US" sz="900" dirty="0">
                <a:solidFill>
                  <a:srgbClr val="33404F"/>
                </a:solidFill>
                <a:latin typeface="Calibri" pitchFamily="34" charset="0"/>
                <a:ea typeface="Calibri" pitchFamily="34" charset="-122"/>
                <a:cs typeface="Calibri" pitchFamily="34" charset="-120"/>
              </a:rPr>
              <a:t>AED 9.82M · 19%</a:t>
            </a:r>
            <a:endParaRPr lang="en-US" sz="950" dirty="0"/>
          </a:p>
        </p:txBody>
      </p:sp>
      <p:sp>
        <p:nvSpPr>
          <p:cNvPr id="20" name="Shape 16"/>
          <p:cNvSpPr/>
          <p:nvPr/>
        </p:nvSpPr>
        <p:spPr>
          <a:xfrm>
            <a:off x="2871216" y="3456432"/>
            <a:ext cx="2048256" cy="457200"/>
          </a:xfrm>
          <a:prstGeom prst="roundRect">
            <a:avLst>
              <a:gd name="adj" fmla="val 12000"/>
            </a:avLst>
          </a:prstGeom>
          <a:solidFill>
            <a:srgbClr val="F3F7F9"/>
          </a:solidFill>
          <a:ln w="6350">
            <a:solidFill>
              <a:srgbClr val="DCE5EC"/>
            </a:solidFill>
            <a:prstDash val="solid"/>
          </a:ln>
        </p:spPr>
        <p:txBody>
          <a:bodyPr/>
          <a:lstStyle/>
          <a:p>
            <a:endParaRPr lang="en-US"/>
          </a:p>
        </p:txBody>
      </p:sp>
      <p:sp>
        <p:nvSpPr>
          <p:cNvPr id="21" name="Text 17"/>
          <p:cNvSpPr txBox="1"/>
          <p:nvPr/>
        </p:nvSpPr>
        <p:spPr>
          <a:xfrm>
            <a:off x="2962656" y="3456432"/>
            <a:ext cx="1865376" cy="457200"/>
          </a:xfrm>
          <a:prstGeom prst="rect">
            <a:avLst/>
          </a:prstGeom>
          <a:noFill/>
          <a:ln/>
        </p:spPr>
        <p:txBody>
          <a:bodyPr wrap="square" lIns="0" tIns="0" rIns="0" bIns="0" rtlCol="0" anchor="ctr"/>
          <a:lstStyle/>
          <a:p>
            <a:pPr marL="0" indent="0">
              <a:buNone/>
            </a:pPr>
            <a:r>
              <a:rPr lang="en-US" sz="950" b="1" dirty="0">
                <a:solidFill>
                  <a:srgbClr val="33404F"/>
                </a:solidFill>
                <a:latin typeface="Calibri" pitchFamily="34" charset="0"/>
                <a:ea typeface="Calibri" pitchFamily="34" charset="-122"/>
                <a:cs typeface="Calibri" pitchFamily="34" charset="-120"/>
              </a:rPr>
              <a:t>Dental</a:t>
            </a:r>
            <a:endParaRPr lang="en-US" sz="950" dirty="0"/>
          </a:p>
          <a:p>
            <a:pPr marL="0" indent="0">
              <a:buNone/>
            </a:pPr>
            <a:r>
              <a:rPr lang="en-US" sz="900" dirty="0">
                <a:solidFill>
                  <a:srgbClr val="33404F"/>
                </a:solidFill>
                <a:latin typeface="Calibri" pitchFamily="34" charset="0"/>
                <a:ea typeface="Calibri" pitchFamily="34" charset="-122"/>
                <a:cs typeface="Calibri" pitchFamily="34" charset="-120"/>
              </a:rPr>
              <a:t>AED 3.11M · 6%</a:t>
            </a:r>
            <a:endParaRPr lang="en-US" sz="950" dirty="0"/>
          </a:p>
        </p:txBody>
      </p:sp>
      <p:sp>
        <p:nvSpPr>
          <p:cNvPr id="22" name="Shape 18"/>
          <p:cNvSpPr/>
          <p:nvPr/>
        </p:nvSpPr>
        <p:spPr>
          <a:xfrm>
            <a:off x="2871216" y="3986784"/>
            <a:ext cx="2048256" cy="457200"/>
          </a:xfrm>
          <a:prstGeom prst="roundRect">
            <a:avLst>
              <a:gd name="adj" fmla="val 12000"/>
            </a:avLst>
          </a:prstGeom>
          <a:solidFill>
            <a:srgbClr val="F3F7F9"/>
          </a:solidFill>
          <a:ln w="6350">
            <a:solidFill>
              <a:srgbClr val="DCE5EC"/>
            </a:solidFill>
            <a:prstDash val="solid"/>
          </a:ln>
        </p:spPr>
        <p:txBody>
          <a:bodyPr/>
          <a:lstStyle/>
          <a:p>
            <a:endParaRPr lang="en-US"/>
          </a:p>
        </p:txBody>
      </p:sp>
      <p:sp>
        <p:nvSpPr>
          <p:cNvPr id="23" name="Text 19"/>
          <p:cNvSpPr txBox="1"/>
          <p:nvPr/>
        </p:nvSpPr>
        <p:spPr>
          <a:xfrm>
            <a:off x="2962656" y="3986784"/>
            <a:ext cx="1865376" cy="457200"/>
          </a:xfrm>
          <a:prstGeom prst="rect">
            <a:avLst/>
          </a:prstGeom>
          <a:noFill/>
          <a:ln/>
        </p:spPr>
        <p:txBody>
          <a:bodyPr wrap="square" lIns="0" tIns="0" rIns="0" bIns="0" rtlCol="0" anchor="ctr"/>
          <a:lstStyle/>
          <a:p>
            <a:pPr marL="0" indent="0">
              <a:buNone/>
            </a:pPr>
            <a:r>
              <a:rPr lang="en-US" sz="950" b="1" dirty="0">
                <a:solidFill>
                  <a:srgbClr val="33404F"/>
                </a:solidFill>
                <a:latin typeface="Calibri" pitchFamily="34" charset="0"/>
                <a:ea typeface="Calibri" pitchFamily="34" charset="-122"/>
                <a:cs typeface="Calibri" pitchFamily="34" charset="-120"/>
              </a:rPr>
              <a:t>Optical</a:t>
            </a:r>
            <a:endParaRPr lang="en-US" sz="950" dirty="0"/>
          </a:p>
          <a:p>
            <a:pPr marL="0" indent="0">
              <a:buNone/>
            </a:pPr>
            <a:r>
              <a:rPr lang="en-US" sz="900" dirty="0">
                <a:solidFill>
                  <a:srgbClr val="33404F"/>
                </a:solidFill>
                <a:latin typeface="Calibri" pitchFamily="34" charset="0"/>
                <a:ea typeface="Calibri" pitchFamily="34" charset="-122"/>
                <a:cs typeface="Calibri" pitchFamily="34" charset="-120"/>
              </a:rPr>
              <a:t>AED 2.91M · 6%</a:t>
            </a:r>
            <a:endParaRPr lang="en-US" sz="950" dirty="0"/>
          </a:p>
        </p:txBody>
      </p:sp>
      <p:sp>
        <p:nvSpPr>
          <p:cNvPr id="24" name="Text 20"/>
          <p:cNvSpPr txBox="1"/>
          <p:nvPr/>
        </p:nvSpPr>
        <p:spPr>
          <a:xfrm>
            <a:off x="5102352" y="2103120"/>
            <a:ext cx="2048256" cy="256032"/>
          </a:xfrm>
          <a:prstGeom prst="rect">
            <a:avLst/>
          </a:prstGeom>
          <a:noFill/>
          <a:ln/>
        </p:spPr>
        <p:txBody>
          <a:bodyPr wrap="square" lIns="0" tIns="0" rIns="0" bIns="0" rtlCol="0" anchor="ctr"/>
          <a:lstStyle/>
          <a:p>
            <a:pPr marL="0" indent="0">
              <a:buNone/>
            </a:pPr>
            <a:r>
              <a:rPr lang="en-US" sz="850" b="1" kern="0" spc="100" dirty="0">
                <a:solidFill>
                  <a:srgbClr val="55637A"/>
                </a:solidFill>
                <a:latin typeface="Calibri" pitchFamily="34" charset="0"/>
                <a:ea typeface="Calibri" pitchFamily="34" charset="-122"/>
                <a:cs typeface="Calibri" pitchFamily="34" charset="-120"/>
              </a:rPr>
              <a:t>ICD chapter (Out-Patient)</a:t>
            </a:r>
            <a:endParaRPr lang="en-US" sz="850" dirty="0"/>
          </a:p>
        </p:txBody>
      </p:sp>
      <p:sp>
        <p:nvSpPr>
          <p:cNvPr id="25" name="Shape 21"/>
          <p:cNvSpPr/>
          <p:nvPr/>
        </p:nvSpPr>
        <p:spPr>
          <a:xfrm>
            <a:off x="5102352" y="2395728"/>
            <a:ext cx="2048256" cy="457200"/>
          </a:xfrm>
          <a:prstGeom prst="roundRect">
            <a:avLst>
              <a:gd name="adj" fmla="val 12000"/>
            </a:avLst>
          </a:prstGeom>
          <a:solidFill>
            <a:srgbClr val="203370"/>
          </a:solidFill>
          <a:ln w="6350">
            <a:solidFill>
              <a:srgbClr val="203370"/>
            </a:solidFill>
            <a:prstDash val="solid"/>
          </a:ln>
        </p:spPr>
        <p:txBody>
          <a:bodyPr/>
          <a:lstStyle/>
          <a:p>
            <a:endParaRPr lang="en-US"/>
          </a:p>
        </p:txBody>
      </p:sp>
      <p:sp>
        <p:nvSpPr>
          <p:cNvPr id="26" name="Text 22"/>
          <p:cNvSpPr txBox="1"/>
          <p:nvPr/>
        </p:nvSpPr>
        <p:spPr>
          <a:xfrm>
            <a:off x="5193792" y="2395728"/>
            <a:ext cx="1865376"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M · Musculoskeletal</a:t>
            </a:r>
            <a:endParaRPr lang="en-US" sz="950" dirty="0"/>
          </a:p>
          <a:p>
            <a:pPr marL="0" indent="0">
              <a:buNone/>
            </a:pPr>
            <a:r>
              <a:rPr lang="en-US" sz="900" dirty="0">
                <a:solidFill>
                  <a:srgbClr val="FFFFFF"/>
                </a:solidFill>
                <a:latin typeface="Calibri" pitchFamily="34" charset="0"/>
                <a:ea typeface="Calibri" pitchFamily="34" charset="-122"/>
                <a:cs typeface="Calibri" pitchFamily="34" charset="-120"/>
              </a:rPr>
              <a:t>AED 8.55M</a:t>
            </a:r>
            <a:endParaRPr lang="en-US" sz="950" dirty="0"/>
          </a:p>
        </p:txBody>
      </p:sp>
      <p:sp>
        <p:nvSpPr>
          <p:cNvPr id="27" name="Shape 23"/>
          <p:cNvSpPr/>
          <p:nvPr/>
        </p:nvSpPr>
        <p:spPr>
          <a:xfrm>
            <a:off x="7150608" y="2624328"/>
            <a:ext cx="182880" cy="0"/>
          </a:xfrm>
          <a:prstGeom prst="line">
            <a:avLst/>
          </a:prstGeom>
          <a:noFill/>
          <a:ln w="25400">
            <a:solidFill>
              <a:srgbClr val="4BA38C"/>
            </a:solidFill>
            <a:prstDash val="solid"/>
            <a:tailEnd type="triangle"/>
          </a:ln>
        </p:spPr>
        <p:txBody>
          <a:bodyPr/>
          <a:lstStyle/>
          <a:p>
            <a:endParaRPr lang="en-US"/>
          </a:p>
        </p:txBody>
      </p:sp>
      <p:sp>
        <p:nvSpPr>
          <p:cNvPr id="28" name="Shape 24"/>
          <p:cNvSpPr/>
          <p:nvPr/>
        </p:nvSpPr>
        <p:spPr>
          <a:xfrm>
            <a:off x="5102352" y="2926080"/>
            <a:ext cx="2048256" cy="457200"/>
          </a:xfrm>
          <a:prstGeom prst="roundRect">
            <a:avLst>
              <a:gd name="adj" fmla="val 12000"/>
            </a:avLst>
          </a:prstGeom>
          <a:solidFill>
            <a:srgbClr val="F3F7F9"/>
          </a:solidFill>
          <a:ln w="6350">
            <a:solidFill>
              <a:srgbClr val="DCE5EC"/>
            </a:solidFill>
            <a:prstDash val="solid"/>
          </a:ln>
        </p:spPr>
        <p:txBody>
          <a:bodyPr/>
          <a:lstStyle/>
          <a:p>
            <a:endParaRPr lang="en-US"/>
          </a:p>
        </p:txBody>
      </p:sp>
      <p:sp>
        <p:nvSpPr>
          <p:cNvPr id="29" name="Text 25"/>
          <p:cNvSpPr txBox="1"/>
          <p:nvPr/>
        </p:nvSpPr>
        <p:spPr>
          <a:xfrm>
            <a:off x="5193792" y="2926080"/>
            <a:ext cx="1865376" cy="457200"/>
          </a:xfrm>
          <a:prstGeom prst="rect">
            <a:avLst/>
          </a:prstGeom>
          <a:noFill/>
          <a:ln/>
        </p:spPr>
        <p:txBody>
          <a:bodyPr wrap="square" lIns="0" tIns="0" rIns="0" bIns="0" rtlCol="0" anchor="ctr"/>
          <a:lstStyle/>
          <a:p>
            <a:pPr marL="0" indent="0">
              <a:buNone/>
            </a:pPr>
            <a:r>
              <a:rPr lang="en-US" sz="950" b="1" dirty="0">
                <a:solidFill>
                  <a:srgbClr val="33404F"/>
                </a:solidFill>
                <a:latin typeface="Calibri" pitchFamily="34" charset="0"/>
                <a:ea typeface="Calibri" pitchFamily="34" charset="-122"/>
                <a:cs typeface="Calibri" pitchFamily="34" charset="-120"/>
              </a:rPr>
              <a:t>R · Symptoms &amp; signs</a:t>
            </a:r>
            <a:endParaRPr lang="en-US" sz="950" dirty="0"/>
          </a:p>
          <a:p>
            <a:pPr marL="0" indent="0">
              <a:buNone/>
            </a:pPr>
            <a:r>
              <a:rPr lang="en-US" sz="900" dirty="0">
                <a:solidFill>
                  <a:srgbClr val="33404F"/>
                </a:solidFill>
                <a:latin typeface="Calibri" pitchFamily="34" charset="0"/>
                <a:ea typeface="Calibri" pitchFamily="34" charset="-122"/>
                <a:cs typeface="Calibri" pitchFamily="34" charset="-120"/>
              </a:rPr>
              <a:t>AED 4.94M</a:t>
            </a:r>
            <a:endParaRPr lang="en-US" sz="950" dirty="0"/>
          </a:p>
        </p:txBody>
      </p:sp>
      <p:sp>
        <p:nvSpPr>
          <p:cNvPr id="30" name="Shape 26"/>
          <p:cNvSpPr/>
          <p:nvPr/>
        </p:nvSpPr>
        <p:spPr>
          <a:xfrm>
            <a:off x="5102352" y="3456432"/>
            <a:ext cx="2048256" cy="457200"/>
          </a:xfrm>
          <a:prstGeom prst="roundRect">
            <a:avLst>
              <a:gd name="adj" fmla="val 12000"/>
            </a:avLst>
          </a:prstGeom>
          <a:solidFill>
            <a:srgbClr val="F3F7F9"/>
          </a:solidFill>
          <a:ln w="6350">
            <a:solidFill>
              <a:srgbClr val="DCE5EC"/>
            </a:solidFill>
            <a:prstDash val="solid"/>
          </a:ln>
        </p:spPr>
        <p:txBody>
          <a:bodyPr/>
          <a:lstStyle/>
          <a:p>
            <a:endParaRPr lang="en-US"/>
          </a:p>
        </p:txBody>
      </p:sp>
      <p:sp>
        <p:nvSpPr>
          <p:cNvPr id="31" name="Text 27"/>
          <p:cNvSpPr txBox="1"/>
          <p:nvPr/>
        </p:nvSpPr>
        <p:spPr>
          <a:xfrm>
            <a:off x="5193792" y="3456432"/>
            <a:ext cx="1865376" cy="457200"/>
          </a:xfrm>
          <a:prstGeom prst="rect">
            <a:avLst/>
          </a:prstGeom>
          <a:noFill/>
          <a:ln/>
        </p:spPr>
        <p:txBody>
          <a:bodyPr wrap="square" lIns="0" tIns="0" rIns="0" bIns="0" rtlCol="0" anchor="ctr"/>
          <a:lstStyle/>
          <a:p>
            <a:pPr marL="0" indent="0">
              <a:buNone/>
            </a:pPr>
            <a:r>
              <a:rPr lang="en-US" sz="950" b="1" dirty="0">
                <a:solidFill>
                  <a:srgbClr val="33404F"/>
                </a:solidFill>
                <a:latin typeface="Calibri" pitchFamily="34" charset="0"/>
                <a:ea typeface="Calibri" pitchFamily="34" charset="-122"/>
                <a:cs typeface="Calibri" pitchFamily="34" charset="-120"/>
              </a:rPr>
              <a:t>J · Respiratory</a:t>
            </a:r>
            <a:endParaRPr lang="en-US" sz="950" dirty="0"/>
          </a:p>
          <a:p>
            <a:pPr marL="0" indent="0">
              <a:buNone/>
            </a:pPr>
            <a:r>
              <a:rPr lang="en-US" sz="900" dirty="0">
                <a:solidFill>
                  <a:srgbClr val="33404F"/>
                </a:solidFill>
                <a:latin typeface="Calibri" pitchFamily="34" charset="0"/>
                <a:ea typeface="Calibri" pitchFamily="34" charset="-122"/>
                <a:cs typeface="Calibri" pitchFamily="34" charset="-120"/>
              </a:rPr>
              <a:t>AED 4.20M</a:t>
            </a:r>
            <a:endParaRPr lang="en-US" sz="950" dirty="0"/>
          </a:p>
        </p:txBody>
      </p:sp>
      <p:sp>
        <p:nvSpPr>
          <p:cNvPr id="32" name="Shape 28"/>
          <p:cNvSpPr/>
          <p:nvPr/>
        </p:nvSpPr>
        <p:spPr>
          <a:xfrm>
            <a:off x="5102352" y="3986784"/>
            <a:ext cx="2048256" cy="457200"/>
          </a:xfrm>
          <a:prstGeom prst="roundRect">
            <a:avLst>
              <a:gd name="adj" fmla="val 12000"/>
            </a:avLst>
          </a:prstGeom>
          <a:solidFill>
            <a:srgbClr val="F3F7F9"/>
          </a:solidFill>
          <a:ln w="6350">
            <a:solidFill>
              <a:srgbClr val="DCE5EC"/>
            </a:solidFill>
            <a:prstDash val="solid"/>
          </a:ln>
        </p:spPr>
        <p:txBody>
          <a:bodyPr/>
          <a:lstStyle/>
          <a:p>
            <a:endParaRPr lang="en-US"/>
          </a:p>
        </p:txBody>
      </p:sp>
      <p:sp>
        <p:nvSpPr>
          <p:cNvPr id="33" name="Text 29"/>
          <p:cNvSpPr txBox="1"/>
          <p:nvPr/>
        </p:nvSpPr>
        <p:spPr>
          <a:xfrm>
            <a:off x="5193792" y="3986784"/>
            <a:ext cx="1865376" cy="457200"/>
          </a:xfrm>
          <a:prstGeom prst="rect">
            <a:avLst/>
          </a:prstGeom>
          <a:noFill/>
          <a:ln/>
        </p:spPr>
        <p:txBody>
          <a:bodyPr wrap="square" lIns="0" tIns="0" rIns="0" bIns="0" rtlCol="0" anchor="ctr"/>
          <a:lstStyle/>
          <a:p>
            <a:pPr marL="0" indent="0">
              <a:buNone/>
            </a:pPr>
            <a:r>
              <a:rPr lang="en-US" sz="950" b="1" dirty="0">
                <a:solidFill>
                  <a:srgbClr val="33404F"/>
                </a:solidFill>
                <a:latin typeface="Calibri" pitchFamily="34" charset="0"/>
                <a:ea typeface="Calibri" pitchFamily="34" charset="-122"/>
                <a:cs typeface="Calibri" pitchFamily="34" charset="-120"/>
              </a:rPr>
              <a:t>E · Endocrine / metabolic</a:t>
            </a:r>
            <a:endParaRPr lang="en-US" sz="950" dirty="0"/>
          </a:p>
          <a:p>
            <a:pPr marL="0" indent="0">
              <a:buNone/>
            </a:pPr>
            <a:r>
              <a:rPr lang="en-US" sz="900" dirty="0">
                <a:solidFill>
                  <a:srgbClr val="33404F"/>
                </a:solidFill>
                <a:latin typeface="Calibri" pitchFamily="34" charset="0"/>
                <a:ea typeface="Calibri" pitchFamily="34" charset="-122"/>
                <a:cs typeface="Calibri" pitchFamily="34" charset="-120"/>
              </a:rPr>
              <a:t>AED 3.47M</a:t>
            </a:r>
            <a:endParaRPr lang="en-US" sz="950" dirty="0"/>
          </a:p>
        </p:txBody>
      </p:sp>
      <p:sp>
        <p:nvSpPr>
          <p:cNvPr id="34" name="Shape 30"/>
          <p:cNvSpPr/>
          <p:nvPr/>
        </p:nvSpPr>
        <p:spPr>
          <a:xfrm>
            <a:off x="5102352" y="4517136"/>
            <a:ext cx="2048256" cy="457200"/>
          </a:xfrm>
          <a:prstGeom prst="roundRect">
            <a:avLst>
              <a:gd name="adj" fmla="val 12000"/>
            </a:avLst>
          </a:prstGeom>
          <a:solidFill>
            <a:srgbClr val="F3F7F9"/>
          </a:solidFill>
          <a:ln w="6350">
            <a:solidFill>
              <a:srgbClr val="DCE5EC"/>
            </a:solidFill>
            <a:prstDash val="solid"/>
          </a:ln>
        </p:spPr>
        <p:txBody>
          <a:bodyPr/>
          <a:lstStyle/>
          <a:p>
            <a:endParaRPr lang="en-US"/>
          </a:p>
        </p:txBody>
      </p:sp>
      <p:sp>
        <p:nvSpPr>
          <p:cNvPr id="35" name="Text 31"/>
          <p:cNvSpPr txBox="1"/>
          <p:nvPr/>
        </p:nvSpPr>
        <p:spPr>
          <a:xfrm>
            <a:off x="5193792" y="4517136"/>
            <a:ext cx="1865376" cy="457200"/>
          </a:xfrm>
          <a:prstGeom prst="rect">
            <a:avLst/>
          </a:prstGeom>
          <a:noFill/>
          <a:ln/>
        </p:spPr>
        <p:txBody>
          <a:bodyPr wrap="square" lIns="0" tIns="0" rIns="0" bIns="0" rtlCol="0" anchor="ctr"/>
          <a:lstStyle/>
          <a:p>
            <a:pPr marL="0" indent="0">
              <a:buNone/>
            </a:pPr>
            <a:r>
              <a:rPr lang="en-US" sz="950" b="1" dirty="0">
                <a:solidFill>
                  <a:srgbClr val="33404F"/>
                </a:solidFill>
                <a:latin typeface="Calibri" pitchFamily="34" charset="0"/>
                <a:ea typeface="Calibri" pitchFamily="34" charset="-122"/>
                <a:cs typeface="Calibri" pitchFamily="34" charset="-120"/>
              </a:rPr>
              <a:t>I · Circulatory</a:t>
            </a:r>
            <a:endParaRPr lang="en-US" sz="950" dirty="0"/>
          </a:p>
          <a:p>
            <a:pPr marL="0" indent="0">
              <a:buNone/>
            </a:pPr>
            <a:r>
              <a:rPr lang="en-US" sz="900" dirty="0">
                <a:solidFill>
                  <a:srgbClr val="33404F"/>
                </a:solidFill>
                <a:latin typeface="Calibri" pitchFamily="34" charset="0"/>
                <a:ea typeface="Calibri" pitchFamily="34" charset="-122"/>
                <a:cs typeface="Calibri" pitchFamily="34" charset="-120"/>
              </a:rPr>
              <a:t>AED 1.86M</a:t>
            </a:r>
            <a:endParaRPr lang="en-US" sz="950" dirty="0"/>
          </a:p>
        </p:txBody>
      </p:sp>
      <p:sp>
        <p:nvSpPr>
          <p:cNvPr id="36" name="Text 32"/>
          <p:cNvSpPr txBox="1"/>
          <p:nvPr/>
        </p:nvSpPr>
        <p:spPr>
          <a:xfrm>
            <a:off x="7333488" y="2103120"/>
            <a:ext cx="2048256" cy="256032"/>
          </a:xfrm>
          <a:prstGeom prst="rect">
            <a:avLst/>
          </a:prstGeom>
          <a:noFill/>
          <a:ln/>
        </p:spPr>
        <p:txBody>
          <a:bodyPr wrap="square" lIns="0" tIns="0" rIns="0" bIns="0" rtlCol="0" anchor="ctr"/>
          <a:lstStyle/>
          <a:p>
            <a:pPr marL="0" indent="0">
              <a:buNone/>
            </a:pPr>
            <a:r>
              <a:rPr lang="en-US" sz="850" b="1" kern="0" spc="100" dirty="0">
                <a:solidFill>
                  <a:srgbClr val="55637A"/>
                </a:solidFill>
                <a:latin typeface="Calibri" pitchFamily="34" charset="0"/>
                <a:ea typeface="Calibri" pitchFamily="34" charset="-122"/>
                <a:cs typeface="Calibri" pitchFamily="34" charset="-120"/>
              </a:rPr>
              <a:t>ICD description (M)</a:t>
            </a:r>
            <a:endParaRPr lang="en-US" sz="850" dirty="0"/>
          </a:p>
        </p:txBody>
      </p:sp>
      <p:sp>
        <p:nvSpPr>
          <p:cNvPr id="37" name="Shape 33"/>
          <p:cNvSpPr/>
          <p:nvPr/>
        </p:nvSpPr>
        <p:spPr>
          <a:xfrm>
            <a:off x="7333488" y="2395728"/>
            <a:ext cx="2048256" cy="457200"/>
          </a:xfrm>
          <a:prstGeom prst="roundRect">
            <a:avLst>
              <a:gd name="adj" fmla="val 12000"/>
            </a:avLst>
          </a:prstGeom>
          <a:solidFill>
            <a:srgbClr val="203370"/>
          </a:solidFill>
          <a:ln w="6350">
            <a:solidFill>
              <a:srgbClr val="203370"/>
            </a:solidFill>
            <a:prstDash val="solid"/>
          </a:ln>
        </p:spPr>
        <p:txBody>
          <a:bodyPr/>
          <a:lstStyle/>
          <a:p>
            <a:endParaRPr lang="en-US"/>
          </a:p>
        </p:txBody>
      </p:sp>
      <p:sp>
        <p:nvSpPr>
          <p:cNvPr id="38" name="Text 34"/>
          <p:cNvSpPr txBox="1"/>
          <p:nvPr/>
        </p:nvSpPr>
        <p:spPr>
          <a:xfrm>
            <a:off x="7424928" y="2395728"/>
            <a:ext cx="1865376"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Low back pain (M54.5)</a:t>
            </a:r>
            <a:endParaRPr lang="en-US" sz="950" dirty="0"/>
          </a:p>
          <a:p>
            <a:pPr marL="0" indent="0">
              <a:buNone/>
            </a:pPr>
            <a:r>
              <a:rPr lang="en-US" sz="900" dirty="0">
                <a:solidFill>
                  <a:srgbClr val="FFFFFF"/>
                </a:solidFill>
                <a:latin typeface="Calibri" pitchFamily="34" charset="0"/>
                <a:ea typeface="Calibri" pitchFamily="34" charset="-122"/>
                <a:cs typeface="Calibri" pitchFamily="34" charset="-120"/>
              </a:rPr>
              <a:t>AED 2.63M</a:t>
            </a:r>
            <a:endParaRPr lang="en-US" sz="950" dirty="0"/>
          </a:p>
        </p:txBody>
      </p:sp>
      <p:sp>
        <p:nvSpPr>
          <p:cNvPr id="39" name="Shape 35"/>
          <p:cNvSpPr/>
          <p:nvPr/>
        </p:nvSpPr>
        <p:spPr>
          <a:xfrm>
            <a:off x="9381744" y="2624328"/>
            <a:ext cx="182880" cy="0"/>
          </a:xfrm>
          <a:prstGeom prst="line">
            <a:avLst/>
          </a:prstGeom>
          <a:noFill/>
          <a:ln w="25400">
            <a:solidFill>
              <a:srgbClr val="4BA38C"/>
            </a:solidFill>
            <a:prstDash val="solid"/>
            <a:tailEnd type="triangle"/>
          </a:ln>
        </p:spPr>
        <p:txBody>
          <a:bodyPr/>
          <a:lstStyle/>
          <a:p>
            <a:endParaRPr lang="en-US"/>
          </a:p>
        </p:txBody>
      </p:sp>
      <p:sp>
        <p:nvSpPr>
          <p:cNvPr id="40" name="Shape 36"/>
          <p:cNvSpPr/>
          <p:nvPr/>
        </p:nvSpPr>
        <p:spPr>
          <a:xfrm>
            <a:off x="7333488" y="2926080"/>
            <a:ext cx="2048256" cy="457200"/>
          </a:xfrm>
          <a:prstGeom prst="roundRect">
            <a:avLst>
              <a:gd name="adj" fmla="val 12000"/>
            </a:avLst>
          </a:prstGeom>
          <a:solidFill>
            <a:srgbClr val="F3F7F9"/>
          </a:solidFill>
          <a:ln w="6350">
            <a:solidFill>
              <a:srgbClr val="DCE5EC"/>
            </a:solidFill>
            <a:prstDash val="solid"/>
          </a:ln>
        </p:spPr>
        <p:txBody>
          <a:bodyPr/>
          <a:lstStyle/>
          <a:p>
            <a:endParaRPr lang="en-US"/>
          </a:p>
        </p:txBody>
      </p:sp>
      <p:sp>
        <p:nvSpPr>
          <p:cNvPr id="41" name="Text 37"/>
          <p:cNvSpPr txBox="1"/>
          <p:nvPr/>
        </p:nvSpPr>
        <p:spPr>
          <a:xfrm>
            <a:off x="7424928" y="2926080"/>
            <a:ext cx="1865376" cy="457200"/>
          </a:xfrm>
          <a:prstGeom prst="rect">
            <a:avLst/>
          </a:prstGeom>
          <a:noFill/>
          <a:ln/>
        </p:spPr>
        <p:txBody>
          <a:bodyPr wrap="square" lIns="0" tIns="0" rIns="0" bIns="0" rtlCol="0" anchor="ctr"/>
          <a:lstStyle/>
          <a:p>
            <a:pPr marL="0" indent="0">
              <a:buNone/>
            </a:pPr>
            <a:r>
              <a:rPr lang="en-US" sz="950" b="1" dirty="0">
                <a:solidFill>
                  <a:srgbClr val="33404F"/>
                </a:solidFill>
                <a:latin typeface="Calibri" pitchFamily="34" charset="0"/>
                <a:ea typeface="Calibri" pitchFamily="34" charset="-122"/>
                <a:cs typeface="Calibri" pitchFamily="34" charset="-120"/>
              </a:rPr>
              <a:t>Cervicalgia (M54.2)</a:t>
            </a:r>
            <a:endParaRPr lang="en-US" sz="950" dirty="0"/>
          </a:p>
          <a:p>
            <a:pPr marL="0" indent="0">
              <a:buNone/>
            </a:pPr>
            <a:r>
              <a:rPr lang="en-US" sz="900" dirty="0">
                <a:solidFill>
                  <a:srgbClr val="33404F"/>
                </a:solidFill>
                <a:latin typeface="Calibri" pitchFamily="34" charset="0"/>
                <a:ea typeface="Calibri" pitchFamily="34" charset="-122"/>
                <a:cs typeface="Calibri" pitchFamily="34" charset="-120"/>
              </a:rPr>
              <a:t>AED 1.92M</a:t>
            </a:r>
            <a:endParaRPr lang="en-US" sz="950" dirty="0"/>
          </a:p>
        </p:txBody>
      </p:sp>
      <p:sp>
        <p:nvSpPr>
          <p:cNvPr id="42" name="Shape 38"/>
          <p:cNvSpPr/>
          <p:nvPr/>
        </p:nvSpPr>
        <p:spPr>
          <a:xfrm>
            <a:off x="7333488" y="3456432"/>
            <a:ext cx="2048256" cy="457200"/>
          </a:xfrm>
          <a:prstGeom prst="roundRect">
            <a:avLst>
              <a:gd name="adj" fmla="val 12000"/>
            </a:avLst>
          </a:prstGeom>
          <a:solidFill>
            <a:srgbClr val="F3F7F9"/>
          </a:solidFill>
          <a:ln w="6350">
            <a:solidFill>
              <a:srgbClr val="DCE5EC"/>
            </a:solidFill>
            <a:prstDash val="solid"/>
          </a:ln>
        </p:spPr>
        <p:txBody>
          <a:bodyPr/>
          <a:lstStyle/>
          <a:p>
            <a:endParaRPr lang="en-US"/>
          </a:p>
        </p:txBody>
      </p:sp>
      <p:sp>
        <p:nvSpPr>
          <p:cNvPr id="43" name="Text 39"/>
          <p:cNvSpPr txBox="1"/>
          <p:nvPr/>
        </p:nvSpPr>
        <p:spPr>
          <a:xfrm>
            <a:off x="7424928" y="3456432"/>
            <a:ext cx="1865376" cy="457200"/>
          </a:xfrm>
          <a:prstGeom prst="rect">
            <a:avLst/>
          </a:prstGeom>
          <a:noFill/>
          <a:ln/>
        </p:spPr>
        <p:txBody>
          <a:bodyPr wrap="square" lIns="0" tIns="0" rIns="0" bIns="0" rtlCol="0" anchor="ctr"/>
          <a:lstStyle/>
          <a:p>
            <a:pPr marL="0" indent="0">
              <a:buNone/>
            </a:pPr>
            <a:r>
              <a:rPr lang="en-US" sz="950" b="1" dirty="0">
                <a:solidFill>
                  <a:srgbClr val="33404F"/>
                </a:solidFill>
                <a:latin typeface="Calibri" pitchFamily="34" charset="0"/>
                <a:ea typeface="Calibri" pitchFamily="34" charset="-122"/>
                <a:cs typeface="Calibri" pitchFamily="34" charset="-120"/>
              </a:rPr>
              <a:t>Lumbago with sciatica</a:t>
            </a:r>
            <a:endParaRPr lang="en-US" sz="950" dirty="0"/>
          </a:p>
          <a:p>
            <a:pPr marL="0" indent="0">
              <a:buNone/>
            </a:pPr>
            <a:r>
              <a:rPr lang="en-US" sz="900" dirty="0">
                <a:solidFill>
                  <a:srgbClr val="33404F"/>
                </a:solidFill>
                <a:latin typeface="Calibri" pitchFamily="34" charset="0"/>
                <a:ea typeface="Calibri" pitchFamily="34" charset="-122"/>
                <a:cs typeface="Calibri" pitchFamily="34" charset="-120"/>
              </a:rPr>
              <a:t>AED 0.23M</a:t>
            </a:r>
            <a:endParaRPr lang="en-US" sz="950" dirty="0"/>
          </a:p>
        </p:txBody>
      </p:sp>
      <p:sp>
        <p:nvSpPr>
          <p:cNvPr id="44" name="Shape 40"/>
          <p:cNvSpPr/>
          <p:nvPr/>
        </p:nvSpPr>
        <p:spPr>
          <a:xfrm>
            <a:off x="7333488" y="3986784"/>
            <a:ext cx="2048256" cy="457200"/>
          </a:xfrm>
          <a:prstGeom prst="roundRect">
            <a:avLst>
              <a:gd name="adj" fmla="val 12000"/>
            </a:avLst>
          </a:prstGeom>
          <a:solidFill>
            <a:srgbClr val="F3F7F9"/>
          </a:solidFill>
          <a:ln w="6350">
            <a:solidFill>
              <a:srgbClr val="DCE5EC"/>
            </a:solidFill>
            <a:prstDash val="solid"/>
          </a:ln>
        </p:spPr>
        <p:txBody>
          <a:bodyPr/>
          <a:lstStyle/>
          <a:p>
            <a:endParaRPr lang="en-US"/>
          </a:p>
        </p:txBody>
      </p:sp>
      <p:sp>
        <p:nvSpPr>
          <p:cNvPr id="45" name="Text 41"/>
          <p:cNvSpPr txBox="1"/>
          <p:nvPr/>
        </p:nvSpPr>
        <p:spPr>
          <a:xfrm>
            <a:off x="7424928" y="3986784"/>
            <a:ext cx="1865376" cy="457200"/>
          </a:xfrm>
          <a:prstGeom prst="rect">
            <a:avLst/>
          </a:prstGeom>
          <a:noFill/>
          <a:ln/>
        </p:spPr>
        <p:txBody>
          <a:bodyPr wrap="square" lIns="0" tIns="0" rIns="0" bIns="0" rtlCol="0" anchor="ctr"/>
          <a:lstStyle/>
          <a:p>
            <a:pPr marL="0" indent="0">
              <a:buNone/>
            </a:pPr>
            <a:r>
              <a:rPr lang="en-US" sz="950" b="1" dirty="0">
                <a:solidFill>
                  <a:srgbClr val="33404F"/>
                </a:solidFill>
                <a:latin typeface="Calibri" pitchFamily="34" charset="0"/>
                <a:ea typeface="Calibri" pitchFamily="34" charset="-122"/>
                <a:cs typeface="Calibri" pitchFamily="34" charset="-120"/>
              </a:rPr>
              <a:t>Myalgia</a:t>
            </a:r>
            <a:endParaRPr lang="en-US" sz="950" dirty="0"/>
          </a:p>
          <a:p>
            <a:pPr marL="0" indent="0">
              <a:buNone/>
            </a:pPr>
            <a:r>
              <a:rPr lang="en-US" sz="900" dirty="0">
                <a:solidFill>
                  <a:srgbClr val="33404F"/>
                </a:solidFill>
                <a:latin typeface="Calibri" pitchFamily="34" charset="0"/>
                <a:ea typeface="Calibri" pitchFamily="34" charset="-122"/>
                <a:cs typeface="Calibri" pitchFamily="34" charset="-120"/>
              </a:rPr>
              <a:t>AED 0.16M</a:t>
            </a:r>
            <a:endParaRPr lang="en-US" sz="950" dirty="0"/>
          </a:p>
        </p:txBody>
      </p:sp>
      <p:sp>
        <p:nvSpPr>
          <p:cNvPr id="46" name="Text 42"/>
          <p:cNvSpPr txBox="1"/>
          <p:nvPr/>
        </p:nvSpPr>
        <p:spPr>
          <a:xfrm>
            <a:off x="9564624" y="2103120"/>
            <a:ext cx="2048256" cy="256032"/>
          </a:xfrm>
          <a:prstGeom prst="rect">
            <a:avLst/>
          </a:prstGeom>
          <a:noFill/>
          <a:ln/>
        </p:spPr>
        <p:txBody>
          <a:bodyPr wrap="square" lIns="0" tIns="0" rIns="0" bIns="0" rtlCol="0" anchor="ctr"/>
          <a:lstStyle/>
          <a:p>
            <a:pPr marL="0" indent="0">
              <a:buNone/>
            </a:pPr>
            <a:r>
              <a:rPr lang="en-US" sz="850" b="1" kern="0" spc="100" dirty="0">
                <a:solidFill>
                  <a:srgbClr val="55637A"/>
                </a:solidFill>
                <a:latin typeface="Calibri" pitchFamily="34" charset="0"/>
                <a:ea typeface="Calibri" pitchFamily="34" charset="-122"/>
                <a:cs typeface="Calibri" pitchFamily="34" charset="-120"/>
              </a:rPr>
              <a:t>Provider type (low back pain)</a:t>
            </a:r>
            <a:endParaRPr lang="en-US" sz="850" dirty="0"/>
          </a:p>
        </p:txBody>
      </p:sp>
      <p:sp>
        <p:nvSpPr>
          <p:cNvPr id="47" name="Shape 43"/>
          <p:cNvSpPr/>
          <p:nvPr/>
        </p:nvSpPr>
        <p:spPr>
          <a:xfrm>
            <a:off x="9564624" y="2395728"/>
            <a:ext cx="2048256" cy="457200"/>
          </a:xfrm>
          <a:prstGeom prst="roundRect">
            <a:avLst>
              <a:gd name="adj" fmla="val 12000"/>
            </a:avLst>
          </a:prstGeom>
          <a:solidFill>
            <a:srgbClr val="203370"/>
          </a:solidFill>
          <a:ln w="6350">
            <a:solidFill>
              <a:srgbClr val="203370"/>
            </a:solidFill>
            <a:prstDash val="solid"/>
          </a:ln>
        </p:spPr>
        <p:txBody>
          <a:bodyPr/>
          <a:lstStyle/>
          <a:p>
            <a:endParaRPr lang="en-US"/>
          </a:p>
        </p:txBody>
      </p:sp>
      <p:sp>
        <p:nvSpPr>
          <p:cNvPr id="48" name="Text 44"/>
          <p:cNvSpPr txBox="1"/>
          <p:nvPr/>
        </p:nvSpPr>
        <p:spPr>
          <a:xfrm>
            <a:off x="9656064" y="2395728"/>
            <a:ext cx="1865376"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Polyclinic</a:t>
            </a:r>
            <a:endParaRPr lang="en-US" sz="950" dirty="0"/>
          </a:p>
          <a:p>
            <a:pPr marL="0" indent="0">
              <a:buNone/>
            </a:pPr>
            <a:r>
              <a:rPr lang="en-US" sz="900" dirty="0">
                <a:solidFill>
                  <a:srgbClr val="FFFFFF"/>
                </a:solidFill>
                <a:latin typeface="Calibri" pitchFamily="34" charset="0"/>
                <a:ea typeface="Calibri" pitchFamily="34" charset="-122"/>
                <a:cs typeface="Calibri" pitchFamily="34" charset="-120"/>
              </a:rPr>
              <a:t>AED 2.37M · 90%</a:t>
            </a:r>
            <a:endParaRPr lang="en-US" sz="950" dirty="0"/>
          </a:p>
        </p:txBody>
      </p:sp>
      <p:sp>
        <p:nvSpPr>
          <p:cNvPr id="49" name="Shape 45"/>
          <p:cNvSpPr/>
          <p:nvPr/>
        </p:nvSpPr>
        <p:spPr>
          <a:xfrm>
            <a:off x="9564624" y="2926080"/>
            <a:ext cx="2048256" cy="457200"/>
          </a:xfrm>
          <a:prstGeom prst="roundRect">
            <a:avLst>
              <a:gd name="adj" fmla="val 12000"/>
            </a:avLst>
          </a:prstGeom>
          <a:solidFill>
            <a:srgbClr val="F3F7F9"/>
          </a:solidFill>
          <a:ln w="6350">
            <a:solidFill>
              <a:srgbClr val="DCE5EC"/>
            </a:solidFill>
            <a:prstDash val="solid"/>
          </a:ln>
        </p:spPr>
        <p:txBody>
          <a:bodyPr/>
          <a:lstStyle/>
          <a:p>
            <a:endParaRPr lang="en-US"/>
          </a:p>
        </p:txBody>
      </p:sp>
      <p:sp>
        <p:nvSpPr>
          <p:cNvPr id="50" name="Text 46"/>
          <p:cNvSpPr txBox="1"/>
          <p:nvPr/>
        </p:nvSpPr>
        <p:spPr>
          <a:xfrm>
            <a:off x="9656064" y="2926080"/>
            <a:ext cx="1865376" cy="457200"/>
          </a:xfrm>
          <a:prstGeom prst="rect">
            <a:avLst/>
          </a:prstGeom>
          <a:noFill/>
          <a:ln/>
        </p:spPr>
        <p:txBody>
          <a:bodyPr wrap="square" lIns="0" tIns="0" rIns="0" bIns="0" rtlCol="0" anchor="ctr"/>
          <a:lstStyle/>
          <a:p>
            <a:pPr marL="0" indent="0">
              <a:buNone/>
            </a:pPr>
            <a:r>
              <a:rPr lang="en-US" sz="950" b="1" dirty="0">
                <a:solidFill>
                  <a:srgbClr val="33404F"/>
                </a:solidFill>
                <a:latin typeface="Calibri" pitchFamily="34" charset="0"/>
                <a:ea typeface="Calibri" pitchFamily="34" charset="-122"/>
                <a:cs typeface="Calibri" pitchFamily="34" charset="-120"/>
              </a:rPr>
              <a:t>Hospital</a:t>
            </a:r>
            <a:endParaRPr lang="en-US" sz="950" dirty="0"/>
          </a:p>
          <a:p>
            <a:pPr marL="0" indent="0">
              <a:buNone/>
            </a:pPr>
            <a:r>
              <a:rPr lang="en-US" sz="900" dirty="0">
                <a:solidFill>
                  <a:srgbClr val="33404F"/>
                </a:solidFill>
                <a:latin typeface="Calibri" pitchFamily="34" charset="0"/>
                <a:ea typeface="Calibri" pitchFamily="34" charset="-122"/>
                <a:cs typeface="Calibri" pitchFamily="34" charset="-120"/>
              </a:rPr>
              <a:t>AED 0.17M</a:t>
            </a:r>
            <a:endParaRPr lang="en-US" sz="950" dirty="0"/>
          </a:p>
        </p:txBody>
      </p:sp>
      <p:sp>
        <p:nvSpPr>
          <p:cNvPr id="51" name="Shape 47"/>
          <p:cNvSpPr/>
          <p:nvPr/>
        </p:nvSpPr>
        <p:spPr>
          <a:xfrm>
            <a:off x="9564624" y="3456432"/>
            <a:ext cx="2048256" cy="457200"/>
          </a:xfrm>
          <a:prstGeom prst="roundRect">
            <a:avLst>
              <a:gd name="adj" fmla="val 12000"/>
            </a:avLst>
          </a:prstGeom>
          <a:solidFill>
            <a:srgbClr val="F3F7F9"/>
          </a:solidFill>
          <a:ln w="6350">
            <a:solidFill>
              <a:srgbClr val="DCE5EC"/>
            </a:solidFill>
            <a:prstDash val="solid"/>
          </a:ln>
        </p:spPr>
        <p:txBody>
          <a:bodyPr/>
          <a:lstStyle/>
          <a:p>
            <a:endParaRPr lang="en-US"/>
          </a:p>
        </p:txBody>
      </p:sp>
      <p:sp>
        <p:nvSpPr>
          <p:cNvPr id="52" name="Text 48"/>
          <p:cNvSpPr txBox="1"/>
          <p:nvPr/>
        </p:nvSpPr>
        <p:spPr>
          <a:xfrm>
            <a:off x="9656064" y="3456432"/>
            <a:ext cx="1865376" cy="457200"/>
          </a:xfrm>
          <a:prstGeom prst="rect">
            <a:avLst/>
          </a:prstGeom>
          <a:noFill/>
          <a:ln/>
        </p:spPr>
        <p:txBody>
          <a:bodyPr wrap="square" lIns="0" tIns="0" rIns="0" bIns="0" rtlCol="0" anchor="ctr"/>
          <a:lstStyle/>
          <a:p>
            <a:pPr marL="0" indent="0">
              <a:buNone/>
            </a:pPr>
            <a:r>
              <a:rPr lang="en-US" sz="950" b="1" dirty="0">
                <a:solidFill>
                  <a:srgbClr val="33404F"/>
                </a:solidFill>
                <a:latin typeface="Calibri" pitchFamily="34" charset="0"/>
                <a:ea typeface="Calibri" pitchFamily="34" charset="-122"/>
                <a:cs typeface="Calibri" pitchFamily="34" charset="-120"/>
              </a:rPr>
              <a:t>Pharmacy</a:t>
            </a:r>
            <a:endParaRPr lang="en-US" sz="950" dirty="0"/>
          </a:p>
          <a:p>
            <a:pPr marL="0" indent="0">
              <a:buNone/>
            </a:pPr>
            <a:r>
              <a:rPr lang="en-US" sz="900" dirty="0">
                <a:solidFill>
                  <a:srgbClr val="33404F"/>
                </a:solidFill>
                <a:latin typeface="Calibri" pitchFamily="34" charset="0"/>
                <a:ea typeface="Calibri" pitchFamily="34" charset="-122"/>
                <a:cs typeface="Calibri" pitchFamily="34" charset="-120"/>
              </a:rPr>
              <a:t>AED 0.08M</a:t>
            </a:r>
            <a:endParaRPr lang="en-US" sz="950" dirty="0"/>
          </a:p>
        </p:txBody>
      </p:sp>
      <p:sp>
        <p:nvSpPr>
          <p:cNvPr id="54" name="Text 50"/>
          <p:cNvSpPr txBox="1"/>
          <p:nvPr/>
        </p:nvSpPr>
        <p:spPr>
          <a:xfrm>
            <a:off x="457200" y="5321807"/>
            <a:ext cx="11292840" cy="1349926"/>
          </a:xfrm>
          <a:prstGeom prst="roundRect">
            <a:avLst>
              <a:gd name="adj" fmla="val 5998"/>
            </a:avLst>
          </a:prstGeom>
          <a:solidFill>
            <a:schemeClr val="accent1">
              <a:lumMod val="50000"/>
            </a:schemeClr>
          </a:solidFill>
          <a:ln/>
        </p:spPr>
        <p:txBody>
          <a:bodyPr wrap="square" lIns="0" tIns="0" rIns="0" bIns="0" rtlCol="0" anchor="t"/>
          <a:lstStyle/>
          <a:p>
            <a:pPr marL="53975">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15888">
              <a:buNone/>
            </a:pPr>
            <a:r>
              <a:rPr lang="en-US" sz="1000" dirty="0">
                <a:solidFill>
                  <a:schemeClr val="bg1"/>
                </a:solidFill>
                <a:latin typeface="Calibri" pitchFamily="34" charset="0"/>
                <a:ea typeface="Calibri" pitchFamily="34" charset="-122"/>
                <a:cs typeface="Calibri" pitchFamily="34" charset="-120"/>
              </a:rPr>
              <a:t>Follow the money and it narrows fast: </a:t>
            </a:r>
          </a:p>
          <a:p>
            <a:pPr marL="284163" indent="-17145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69% of spend is out-patient, inside it the musculoskeletal chapter is the largest (AED 8.55M, 17% of the whole book). </a:t>
            </a:r>
          </a:p>
          <a:p>
            <a:pPr marL="284163" indent="-17145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Inside that, two codes, low back pain and neck pain, are AED 4.56M (8.9% of everything, up 38% year on year, average claim AED 1,128 versus AED 378 for a normal out-patient visit). </a:t>
            </a:r>
          </a:p>
          <a:p>
            <a:pPr marL="284163" indent="-17145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90% of the low-back-pain money is billed by polyclinics. </a:t>
            </a:r>
          </a:p>
          <a:p>
            <a:pPr marL="112713"/>
            <a:r>
              <a:rPr lang="en-US" sz="1000" dirty="0">
                <a:solidFill>
                  <a:schemeClr val="bg1"/>
                </a:solidFill>
                <a:latin typeface="Calibri" pitchFamily="34" charset="0"/>
                <a:ea typeface="Calibri" pitchFamily="34" charset="-122"/>
                <a:cs typeface="Calibri" pitchFamily="34" charset="-120"/>
              </a:rPr>
              <a:t>In-patient tells a different story: </a:t>
            </a:r>
          </a:p>
          <a:p>
            <a:pPr marL="284163" indent="-17145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Respiratory, pregnancy (chapter O, AED 1.14M), circulatory and digestive, and hospitals carry AED 20.5M overall. </a:t>
            </a:r>
          </a:p>
          <a:p>
            <a:pPr marL="284163" indent="-171450">
              <a:buFont typeface="Arial" panose="020B0604020202020204" pitchFamily="34" charset="0"/>
              <a:buChar char="•"/>
            </a:pPr>
            <a:r>
              <a:rPr lang="en-US" sz="1000" dirty="0">
                <a:solidFill>
                  <a:schemeClr val="bg1"/>
                </a:solidFill>
                <a:latin typeface="Calibri" pitchFamily="34" charset="0"/>
                <a:ea typeface="Calibri" pitchFamily="34" charset="-122"/>
                <a:cs typeface="Calibri" pitchFamily="34" charset="-120"/>
              </a:rPr>
              <a:t>That path is the physiotherapy recommendation.</a:t>
            </a:r>
            <a:endParaRPr lang="en-US" sz="85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Page 3 · Outliers Finder, and the outlier card</a:t>
            </a:r>
            <a:endParaRPr lang="en-US" sz="2500" dirty="0"/>
          </a:p>
        </p:txBody>
      </p:sp>
      <p:sp>
        <p:nvSpPr>
          <p:cNvPr id="5" name="Shape 1"/>
          <p:cNvSpPr/>
          <p:nvPr/>
        </p:nvSpPr>
        <p:spPr>
          <a:xfrm>
            <a:off x="8476488" y="1069848"/>
            <a:ext cx="3273552"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8476488" y="1069848"/>
            <a:ext cx="3273552"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PAGE 3  ·  VISUALS 2–3 OF 5</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10 / 24</a:t>
            </a:r>
            <a:endParaRPr lang="en-US" sz="900" dirty="0"/>
          </a:p>
        </p:txBody>
      </p:sp>
      <p:sp>
        <p:nvSpPr>
          <p:cNvPr id="9" name="Text 5"/>
          <p:cNvSpPr txBox="1"/>
          <p:nvPr/>
        </p:nvSpPr>
        <p:spPr>
          <a:xfrm>
            <a:off x="594360" y="1764792"/>
            <a:ext cx="7132320" cy="45720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Outliers Finder - scatter by ICD description: X = Claims per Member, Y = Paid per Member (AED K), bubble = Members Affected</a:t>
            </a:r>
            <a:endParaRPr lang="en-US" sz="1100" dirty="0"/>
          </a:p>
        </p:txBody>
      </p:sp>
      <p:sp>
        <p:nvSpPr>
          <p:cNvPr id="10" name="Text 6"/>
          <p:cNvSpPr txBox="1"/>
          <p:nvPr/>
        </p:nvSpPr>
        <p:spPr>
          <a:xfrm>
            <a:off x="594360" y="4418761"/>
            <a:ext cx="7132320" cy="219456"/>
          </a:xfrm>
          <a:prstGeom prst="rect">
            <a:avLst/>
          </a:prstGeom>
          <a:noFill/>
          <a:ln/>
        </p:spPr>
        <p:txBody>
          <a:bodyPr wrap="square" lIns="0" tIns="0" rIns="0" bIns="0" rtlCol="0" anchor="ctr"/>
          <a:lstStyle/>
          <a:p>
            <a:pPr marL="0" indent="0">
              <a:buNone/>
            </a:pPr>
            <a:r>
              <a:rPr lang="en-US" sz="800" i="1" dirty="0">
                <a:latin typeface="Calibri" pitchFamily="34" charset="0"/>
                <a:ea typeface="Calibri" pitchFamily="34" charset="-122"/>
                <a:cs typeface="Calibri" pitchFamily="34" charset="-120"/>
              </a:rPr>
              <a:t>Interim chart from the full dataset (60 diagnoses with ≥15 claims per member or ≥AED 40K per member) - replace with the page-3 visual after the filter is removed.</a:t>
            </a:r>
            <a:endParaRPr lang="en-US" sz="800" dirty="0"/>
          </a:p>
        </p:txBody>
      </p:sp>
      <p:sp>
        <p:nvSpPr>
          <p:cNvPr id="11" name="Shape 7"/>
          <p:cNvSpPr/>
          <p:nvPr/>
        </p:nvSpPr>
        <p:spPr>
          <a:xfrm>
            <a:off x="594360" y="4672417"/>
            <a:ext cx="7132320" cy="0"/>
          </a:xfrm>
          <a:prstGeom prst="line">
            <a:avLst/>
          </a:prstGeom>
          <a:noFill/>
          <a:ln w="9525">
            <a:solidFill>
              <a:srgbClr val="DCE5EC"/>
            </a:solidFill>
            <a:prstDash val="solid"/>
          </a:ln>
        </p:spPr>
        <p:txBody>
          <a:bodyPr/>
          <a:lstStyle/>
          <a:p>
            <a:endParaRPr lang="en-US"/>
          </a:p>
        </p:txBody>
      </p:sp>
      <p:sp>
        <p:nvSpPr>
          <p:cNvPr id="12" name="Text 8"/>
          <p:cNvSpPr txBox="1"/>
          <p:nvPr/>
        </p:nvSpPr>
        <p:spPr>
          <a:xfrm>
            <a:off x="594360" y="4758786"/>
            <a:ext cx="7132320" cy="1596292"/>
          </a:xfrm>
          <a:prstGeom prst="roundRect">
            <a:avLst>
              <a:gd name="adj" fmla="val 5210"/>
            </a:avLst>
          </a:prstGeom>
          <a:solidFill>
            <a:schemeClr val="accent1">
              <a:lumMod val="50000"/>
            </a:schemeClr>
          </a:solidFill>
          <a:ln/>
        </p:spPr>
        <p:txBody>
          <a:bodyPr wrap="square" lIns="0" tIns="0" rIns="0" bIns="0" rtlCol="0" anchor="t"/>
          <a:lstStyle/>
          <a:p>
            <a:pPr marL="53975">
              <a:buNone/>
            </a:pPr>
            <a:r>
              <a:rPr lang="en-US" sz="850" b="1" kern="0" spc="150" dirty="0">
                <a:solidFill>
                  <a:srgbClr val="2E8B78"/>
                </a:solidFill>
                <a:latin typeface="Calibri" pitchFamily="34" charset="0"/>
                <a:ea typeface="Calibri" pitchFamily="34" charset="-122"/>
                <a:cs typeface="Calibri" pitchFamily="34" charset="-120"/>
              </a:rPr>
              <a:t>WHAT WE FOUND  </a:t>
            </a:r>
          </a:p>
          <a:p>
            <a:pPr marL="53975">
              <a:buNone/>
            </a:pPr>
            <a:r>
              <a:rPr lang="en-US" sz="950" dirty="0">
                <a:solidFill>
                  <a:schemeClr val="bg1"/>
                </a:solidFill>
                <a:latin typeface="Calibri" pitchFamily="34" charset="0"/>
                <a:ea typeface="Calibri" pitchFamily="34" charset="-122"/>
                <a:cs typeface="Calibri" pitchFamily="34" charset="-120"/>
              </a:rPr>
              <a:t>Two corners matter. </a:t>
            </a:r>
          </a:p>
          <a:p>
            <a:pPr marL="128588">
              <a:buNone/>
            </a:pPr>
            <a:r>
              <a:rPr lang="en-US" sz="950" dirty="0">
                <a:solidFill>
                  <a:schemeClr val="bg1"/>
                </a:solidFill>
                <a:latin typeface="Calibri" pitchFamily="34" charset="0"/>
                <a:ea typeface="Calibri" pitchFamily="34" charset="-122"/>
                <a:cs typeface="Calibri" pitchFamily="34" charset="-120"/>
              </a:rPr>
              <a:t>Top-left (few claims, huge cost): </a:t>
            </a:r>
          </a:p>
          <a:p>
            <a:pPr marL="250825" indent="-1079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Multiple myeloma AED 368K per member, primary pulmonary hypertension 330K, acute lymphoblastic leukaemia 250K, secondary pulmonary hypertension 230K, thoracolumbar scoliosis 124K, acromegaly 117K (one or two members each). </a:t>
            </a:r>
          </a:p>
          <a:p>
            <a:pPr marL="128588">
              <a:buNone/>
            </a:pPr>
            <a:r>
              <a:rPr lang="en-US" sz="950" dirty="0">
                <a:solidFill>
                  <a:schemeClr val="bg1"/>
                </a:solidFill>
                <a:latin typeface="Calibri" pitchFamily="34" charset="0"/>
                <a:ea typeface="Calibri" pitchFamily="34" charset="-122"/>
                <a:cs typeface="Calibri" pitchFamily="34" charset="-120"/>
              </a:rPr>
              <a:t>Bottom-right (many claims per member): </a:t>
            </a:r>
          </a:p>
          <a:p>
            <a:pPr marL="250825" indent="-1079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Sarcoidosis of lung 74 claims per member, lack of coordination 74 (5 children), cluster headache 59–63, mixed language disorder 51 </a:t>
            </a:r>
            <a:br>
              <a:rPr lang="en-US" sz="950" dirty="0">
                <a:solidFill>
                  <a:schemeClr val="bg1"/>
                </a:solidFill>
                <a:latin typeface="Calibri" pitchFamily="34" charset="0"/>
                <a:ea typeface="Calibri" pitchFamily="34" charset="-122"/>
                <a:cs typeface="Calibri" pitchFamily="34" charset="-120"/>
              </a:rPr>
            </a:br>
            <a:r>
              <a:rPr lang="en-US" sz="950" dirty="0">
                <a:solidFill>
                  <a:schemeClr val="bg1"/>
                </a:solidFill>
                <a:latin typeface="Calibri" pitchFamily="34" charset="0"/>
                <a:ea typeface="Calibri" pitchFamily="34" charset="-122"/>
                <a:cs typeface="Calibri" pitchFamily="34" charset="-120"/>
              </a:rPr>
              <a:t>(6 children), delayed milestone 42 (20 children). </a:t>
            </a:r>
          </a:p>
          <a:p>
            <a:pPr marL="128588">
              <a:buNone/>
            </a:pPr>
            <a:r>
              <a:rPr lang="en-US" sz="950" dirty="0">
                <a:solidFill>
                  <a:schemeClr val="bg1"/>
                </a:solidFill>
                <a:latin typeface="Calibri" pitchFamily="34" charset="0"/>
                <a:ea typeface="Calibri" pitchFamily="34" charset="-122"/>
                <a:cs typeface="Calibri" pitchFamily="34" charset="-120"/>
              </a:rPr>
              <a:t>The developmental cluster is the frequency problem: </a:t>
            </a:r>
          </a:p>
          <a:p>
            <a:pPr marL="250825" indent="-1079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The oncology / cardiopulmonary cluster is the severity problem.</a:t>
            </a:r>
            <a:endParaRPr lang="en-US" sz="850" dirty="0">
              <a:solidFill>
                <a:schemeClr val="bg1"/>
              </a:solidFill>
            </a:endParaRPr>
          </a:p>
        </p:txBody>
      </p:sp>
      <p:sp>
        <p:nvSpPr>
          <p:cNvPr id="14" name="Shape 9"/>
          <p:cNvSpPr/>
          <p:nvPr/>
        </p:nvSpPr>
        <p:spPr>
          <a:xfrm>
            <a:off x="8046720" y="1691640"/>
            <a:ext cx="3703320" cy="4663440"/>
          </a:xfrm>
          <a:prstGeom prst="roundRect">
            <a:avLst>
              <a:gd name="adj" fmla="val 2963"/>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0"/>
          <p:cNvSpPr txBox="1"/>
          <p:nvPr/>
        </p:nvSpPr>
        <p:spPr>
          <a:xfrm>
            <a:off x="8183880" y="1764792"/>
            <a:ext cx="342900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The Most Common Outlier Detected - card</a:t>
            </a:r>
            <a:endParaRPr lang="en-US" sz="1100" dirty="0"/>
          </a:p>
        </p:txBody>
      </p:sp>
      <p:sp>
        <p:nvSpPr>
          <p:cNvPr id="16" name="Shape 11"/>
          <p:cNvSpPr/>
          <p:nvPr/>
        </p:nvSpPr>
        <p:spPr>
          <a:xfrm>
            <a:off x="8183880" y="3977811"/>
            <a:ext cx="3429000" cy="0"/>
          </a:xfrm>
          <a:prstGeom prst="line">
            <a:avLst/>
          </a:prstGeom>
          <a:noFill/>
          <a:ln w="9525">
            <a:solidFill>
              <a:srgbClr val="DCE5EC"/>
            </a:solidFill>
            <a:prstDash val="solid"/>
          </a:ln>
        </p:spPr>
        <p:txBody>
          <a:bodyPr/>
          <a:lstStyle/>
          <a:p>
            <a:endParaRPr lang="en-US"/>
          </a:p>
        </p:txBody>
      </p:sp>
      <p:sp>
        <p:nvSpPr>
          <p:cNvPr id="17" name="Text 12"/>
          <p:cNvSpPr txBox="1"/>
          <p:nvPr/>
        </p:nvSpPr>
        <p:spPr>
          <a:xfrm>
            <a:off x="8183880" y="4558453"/>
            <a:ext cx="3429000" cy="1686899"/>
          </a:xfrm>
          <a:prstGeom prst="rect">
            <a:avLst/>
          </a:prstGeom>
          <a:noFill/>
          <a:ln/>
        </p:spPr>
        <p:txBody>
          <a:bodyPr wrap="square" lIns="0" tIns="0" rIns="0" bIns="0" rtlCol="0" anchor="t"/>
          <a:lstStyle/>
          <a:p>
            <a:pPr marL="0" indent="0">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17475">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The card scores every diagnosis on claims-per-member and paid-per-member (each divided by its maximum) and returns the highest. </a:t>
            </a:r>
          </a:p>
          <a:p>
            <a:pPr marL="171450" indent="-117475">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'Multiple myeloma not having achieved remission' - one member, 39 claims, AED 368K over two years. </a:t>
            </a:r>
          </a:p>
          <a:p>
            <a:pPr marL="0" indent="0">
              <a:buNone/>
            </a:pPr>
            <a:r>
              <a:rPr lang="en-US" sz="950" dirty="0">
                <a:solidFill>
                  <a:srgbClr val="33404F"/>
                </a:solidFill>
                <a:latin typeface="Calibri" pitchFamily="34" charset="0"/>
                <a:ea typeface="Calibri" pitchFamily="34" charset="-122"/>
                <a:cs typeface="Calibri" pitchFamily="34" charset="-120"/>
              </a:rPr>
              <a:t>Runners-up on the same score: </a:t>
            </a:r>
          </a:p>
          <a:p>
            <a:pPr marL="171450" indent="-117475">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sarcoidosis of lung, other lack of coordination, primary pulmonary hypertension. The answer is the same with or without the stray filter.</a:t>
            </a:r>
            <a:endParaRPr lang="en-US" sz="850" dirty="0"/>
          </a:p>
        </p:txBody>
      </p:sp>
      <p:pic>
        <p:nvPicPr>
          <p:cNvPr id="21" name="Picture 20">
            <a:extLst>
              <a:ext uri="{FF2B5EF4-FFF2-40B4-BE49-F238E27FC236}">
                <a16:creationId xmlns:a16="http://schemas.microsoft.com/office/drawing/2014/main" id="{17E589E4-651C-B078-7839-23B2DE027B68}"/>
              </a:ext>
            </a:extLst>
          </p:cNvPr>
          <p:cNvPicPr>
            <a:picLocks noChangeAspect="1"/>
          </p:cNvPicPr>
          <p:nvPr/>
        </p:nvPicPr>
        <p:blipFill>
          <a:blip r:embed="rId6"/>
          <a:stretch>
            <a:fillRect/>
          </a:stretch>
        </p:blipFill>
        <p:spPr>
          <a:xfrm>
            <a:off x="594360" y="2334163"/>
            <a:ext cx="7085312" cy="2014313"/>
          </a:xfrm>
          <a:prstGeom prst="rect">
            <a:avLst/>
          </a:prstGeom>
          <a:ln>
            <a:noFill/>
          </a:ln>
          <a:effectLst>
            <a:outerShdw blurRad="292100" dist="139700" dir="2700000" algn="tl" rotWithShape="0">
              <a:srgbClr val="333333">
                <a:alpha val="65000"/>
              </a:srgbClr>
            </a:outerShdw>
          </a:effectLst>
        </p:spPr>
      </p:pic>
      <p:pic>
        <p:nvPicPr>
          <p:cNvPr id="23" name="Picture 22">
            <a:extLst>
              <a:ext uri="{FF2B5EF4-FFF2-40B4-BE49-F238E27FC236}">
                <a16:creationId xmlns:a16="http://schemas.microsoft.com/office/drawing/2014/main" id="{0409233A-CFE4-9C6F-9CF7-AA0A9906500B}"/>
              </a:ext>
            </a:extLst>
          </p:cNvPr>
          <p:cNvPicPr>
            <a:picLocks noChangeAspect="1"/>
          </p:cNvPicPr>
          <p:nvPr/>
        </p:nvPicPr>
        <p:blipFill>
          <a:blip r:embed="rId7"/>
          <a:srcRect l="1160" r="1065" b="2013"/>
          <a:stretch>
            <a:fillRect/>
          </a:stretch>
        </p:blipFill>
        <p:spPr>
          <a:xfrm>
            <a:off x="8157696" y="2313432"/>
            <a:ext cx="3483065" cy="14051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Page 3 · Top 10 Diagnoses, and Demographics</a:t>
            </a:r>
            <a:endParaRPr lang="en-US" sz="2500" dirty="0"/>
          </a:p>
        </p:txBody>
      </p:sp>
      <p:sp>
        <p:nvSpPr>
          <p:cNvPr id="5" name="Shape 1"/>
          <p:cNvSpPr/>
          <p:nvPr/>
        </p:nvSpPr>
        <p:spPr>
          <a:xfrm>
            <a:off x="8476488" y="1069848"/>
            <a:ext cx="3273552"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8476488" y="1069848"/>
            <a:ext cx="3273552"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PAGE 3  ·  VISUALS 4–5 OF 5</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11 / 24</a:t>
            </a:r>
            <a:endParaRPr lang="en-US" sz="900" dirty="0"/>
          </a:p>
        </p:txBody>
      </p:sp>
      <p:sp>
        <p:nvSpPr>
          <p:cNvPr id="9" name="Text 5"/>
          <p:cNvSpPr txBox="1"/>
          <p:nvPr/>
        </p:nvSpPr>
        <p:spPr>
          <a:xfrm>
            <a:off x="594360" y="1764792"/>
            <a:ext cx="676656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Top 10 Diagnoses - Total Paid (bars) with Severity, i.e. AED per claim (line)</a:t>
            </a:r>
            <a:endParaRPr lang="en-US" sz="1100" dirty="0"/>
          </a:p>
        </p:txBody>
      </p:sp>
      <p:sp>
        <p:nvSpPr>
          <p:cNvPr id="10" name="Text 6"/>
          <p:cNvSpPr txBox="1"/>
          <p:nvPr/>
        </p:nvSpPr>
        <p:spPr>
          <a:xfrm>
            <a:off x="594360" y="4283297"/>
            <a:ext cx="6766560" cy="219456"/>
          </a:xfrm>
          <a:prstGeom prst="rect">
            <a:avLst/>
          </a:prstGeom>
          <a:noFill/>
          <a:ln/>
        </p:spPr>
        <p:txBody>
          <a:bodyPr wrap="square" lIns="0" tIns="0" rIns="0" bIns="0" rtlCol="0" anchor="ctr"/>
          <a:lstStyle/>
          <a:p>
            <a:pPr marL="0" indent="0">
              <a:buNone/>
            </a:pPr>
            <a:r>
              <a:rPr lang="en-US" sz="800" i="1" dirty="0">
                <a:latin typeface="Calibri" pitchFamily="34" charset="0"/>
                <a:ea typeface="Calibri" pitchFamily="34" charset="-122"/>
                <a:cs typeface="Calibri" pitchFamily="34" charset="-120"/>
              </a:rPr>
              <a:t>Interim chart from the full dataset - the exported visual shows 'Delayed milestone' first because of the Top-10 filter, replace after re-export.</a:t>
            </a:r>
            <a:endParaRPr lang="en-US" sz="800" dirty="0"/>
          </a:p>
        </p:txBody>
      </p:sp>
      <p:sp>
        <p:nvSpPr>
          <p:cNvPr id="11" name="Shape 7"/>
          <p:cNvSpPr/>
          <p:nvPr/>
        </p:nvSpPr>
        <p:spPr>
          <a:xfrm>
            <a:off x="594360" y="4543730"/>
            <a:ext cx="6766560" cy="0"/>
          </a:xfrm>
          <a:prstGeom prst="line">
            <a:avLst/>
          </a:prstGeom>
          <a:noFill/>
          <a:ln w="9525">
            <a:solidFill>
              <a:srgbClr val="DCE5EC"/>
            </a:solidFill>
            <a:prstDash val="solid"/>
          </a:ln>
        </p:spPr>
        <p:txBody>
          <a:bodyPr/>
          <a:lstStyle/>
          <a:p>
            <a:endParaRPr lang="en-US"/>
          </a:p>
        </p:txBody>
      </p:sp>
      <p:sp>
        <p:nvSpPr>
          <p:cNvPr id="12" name="Text 8"/>
          <p:cNvSpPr txBox="1"/>
          <p:nvPr/>
        </p:nvSpPr>
        <p:spPr>
          <a:xfrm>
            <a:off x="579119" y="4639907"/>
            <a:ext cx="6766560" cy="2119882"/>
          </a:xfrm>
          <a:prstGeom prst="roundRect">
            <a:avLst>
              <a:gd name="adj" fmla="val 2596"/>
            </a:avLst>
          </a:prstGeom>
          <a:solidFill>
            <a:schemeClr val="accent1">
              <a:lumMod val="50000"/>
            </a:schemeClr>
          </a:solidFill>
          <a:ln/>
        </p:spPr>
        <p:txBody>
          <a:bodyPr wrap="square" lIns="0" tIns="0" rIns="0" bIns="0" rtlCol="0" anchor="t"/>
          <a:lstStyle/>
          <a:p>
            <a:pPr marL="53975">
              <a:buNone/>
            </a:pPr>
            <a:r>
              <a:rPr lang="en-US" sz="850" b="1" kern="0" spc="150" dirty="0">
                <a:solidFill>
                  <a:srgbClr val="2E8B78"/>
                </a:solidFill>
                <a:latin typeface="Calibri" pitchFamily="34" charset="0"/>
                <a:ea typeface="Calibri" pitchFamily="34" charset="-122"/>
                <a:cs typeface="Calibri" pitchFamily="34" charset="-120"/>
              </a:rPr>
              <a:t>WHAT WE FOUND</a:t>
            </a:r>
            <a:r>
              <a:rPr lang="en-US" sz="850" b="1" kern="0" spc="150" dirty="0">
                <a:solidFill>
                  <a:schemeClr val="bg1"/>
                </a:solidFill>
                <a:latin typeface="Calibri" pitchFamily="34" charset="0"/>
                <a:ea typeface="Calibri" pitchFamily="34" charset="-122"/>
                <a:cs typeface="Calibri" pitchFamily="34" charset="-120"/>
              </a:rPr>
              <a:t>  </a:t>
            </a:r>
          </a:p>
          <a:p>
            <a:pPr marL="284163" indent="-1714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Low back pain leads at AED 2.64M (5.1% of spend, 2,524 claims).</a:t>
            </a:r>
          </a:p>
          <a:p>
            <a:pPr marL="284163" indent="-1714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Cervicalgia AED 1.92M (3.7%). </a:t>
            </a:r>
          </a:p>
          <a:p>
            <a:pPr marL="284163" indent="-1714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Delayed milestone in childhood 1.13M.</a:t>
            </a:r>
          </a:p>
          <a:p>
            <a:pPr marL="284163" indent="-1714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Upper respiratory infection 1.05M. </a:t>
            </a:r>
          </a:p>
          <a:p>
            <a:pPr marL="284163" indent="-1714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Hypertension 1.00M.</a:t>
            </a:r>
          </a:p>
          <a:p>
            <a:pPr marL="284163" indent="-1714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Refraction disorders 1.00M. </a:t>
            </a:r>
          </a:p>
          <a:p>
            <a:pPr marL="284163" indent="-1714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Dental caries 0.89M.</a:t>
            </a:r>
          </a:p>
          <a:p>
            <a:pPr marL="284163" indent="-1714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Acute bronchitis 0.76M. </a:t>
            </a:r>
          </a:p>
          <a:p>
            <a:pPr marL="284163" indent="-1714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Myopia 0.68M.</a:t>
            </a:r>
          </a:p>
          <a:p>
            <a:pPr marL="284163" indent="-1714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fever 0.65M. </a:t>
            </a:r>
          </a:p>
          <a:p>
            <a:pPr marL="284163" indent="-171450"/>
            <a:r>
              <a:rPr lang="en-US" sz="950" dirty="0">
                <a:solidFill>
                  <a:schemeClr val="bg1"/>
                </a:solidFill>
                <a:latin typeface="Calibri" pitchFamily="34" charset="0"/>
                <a:ea typeface="Calibri" pitchFamily="34" charset="-122"/>
                <a:cs typeface="Calibri" pitchFamily="34" charset="-120"/>
              </a:rPr>
              <a:t>The severity line separates two kinds of cost: </a:t>
            </a:r>
          </a:p>
          <a:p>
            <a:pPr marL="284163" indent="-1714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delayed milestone (AED 1,350 per claim) and back / neck pain (1,045–1,268) are expensive per visit.</a:t>
            </a:r>
          </a:p>
          <a:p>
            <a:pPr marL="284163" indent="-171450">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respiratory infections and fever are cheap (176–217) but very frequent (3,300–6,000 claims each).</a:t>
            </a:r>
            <a:endParaRPr lang="en-US" sz="850" dirty="0">
              <a:solidFill>
                <a:schemeClr val="bg1"/>
              </a:solidFill>
            </a:endParaRPr>
          </a:p>
        </p:txBody>
      </p:sp>
      <p:sp>
        <p:nvSpPr>
          <p:cNvPr id="14" name="Shape 9"/>
          <p:cNvSpPr/>
          <p:nvPr/>
        </p:nvSpPr>
        <p:spPr>
          <a:xfrm>
            <a:off x="7680960" y="1691640"/>
            <a:ext cx="4069080" cy="4663440"/>
          </a:xfrm>
          <a:prstGeom prst="roundRect">
            <a:avLst>
              <a:gd name="adj" fmla="val 269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0"/>
          <p:cNvSpPr txBox="1"/>
          <p:nvPr/>
        </p:nvSpPr>
        <p:spPr>
          <a:xfrm>
            <a:off x="7818120" y="1764792"/>
            <a:ext cx="3794760" cy="45720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Demographics - table: Dependency × Gender → Frequency, Cost per Member</a:t>
            </a:r>
            <a:endParaRPr lang="en-US" sz="1100" dirty="0"/>
          </a:p>
        </p:txBody>
      </p:sp>
      <p:pic>
        <p:nvPicPr>
          <p:cNvPr id="16" name="Image 2" descr="crops_small/t1_demographics.jpg"/>
          <p:cNvPicPr>
            <a:picLocks noChangeAspect="1"/>
          </p:cNvPicPr>
          <p:nvPr/>
        </p:nvPicPr>
        <p:blipFill>
          <a:blip r:embed="rId6"/>
          <a:srcRect l="1231" t="1797" r="994"/>
          <a:stretch>
            <a:fillRect/>
          </a:stretch>
        </p:blipFill>
        <p:spPr>
          <a:xfrm>
            <a:off x="7864818" y="2816412"/>
            <a:ext cx="3710328" cy="1718394"/>
          </a:xfrm>
          <a:prstGeom prst="rect">
            <a:avLst/>
          </a:prstGeom>
        </p:spPr>
      </p:pic>
      <p:sp>
        <p:nvSpPr>
          <p:cNvPr id="17" name="Shape 11"/>
          <p:cNvSpPr/>
          <p:nvPr/>
        </p:nvSpPr>
        <p:spPr>
          <a:xfrm>
            <a:off x="7818120" y="5088636"/>
            <a:ext cx="3794760" cy="0"/>
          </a:xfrm>
          <a:prstGeom prst="line">
            <a:avLst/>
          </a:prstGeom>
          <a:noFill/>
          <a:ln w="9525">
            <a:solidFill>
              <a:srgbClr val="DCE5EC"/>
            </a:solidFill>
            <a:prstDash val="solid"/>
          </a:ln>
        </p:spPr>
        <p:txBody>
          <a:bodyPr/>
          <a:lstStyle/>
          <a:p>
            <a:endParaRPr lang="en-US"/>
          </a:p>
        </p:txBody>
      </p:sp>
      <p:sp>
        <p:nvSpPr>
          <p:cNvPr id="18" name="Text 12"/>
          <p:cNvSpPr txBox="1"/>
          <p:nvPr/>
        </p:nvSpPr>
        <p:spPr>
          <a:xfrm>
            <a:off x="7818120" y="4903893"/>
            <a:ext cx="3794760" cy="1341459"/>
          </a:xfrm>
          <a:prstGeom prst="rect">
            <a:avLst/>
          </a:prstGeom>
          <a:noFill/>
          <a:ln/>
        </p:spPr>
        <p:txBody>
          <a:bodyPr wrap="square" lIns="0" tIns="0" rIns="0" bIns="0" rtlCol="0" anchor="t"/>
          <a:lstStyle/>
          <a:p>
            <a:pPr marL="0" indent="0">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69863"/>
            <a:r>
              <a:rPr lang="en-US" sz="950" dirty="0">
                <a:solidFill>
                  <a:srgbClr val="33404F"/>
                </a:solidFill>
                <a:latin typeface="Calibri" pitchFamily="34" charset="0"/>
                <a:ea typeface="Calibri" pitchFamily="34" charset="-122"/>
                <a:cs typeface="Calibri" pitchFamily="34" charset="-120"/>
              </a:rPr>
              <a:t>Adult women cost the most per head:</a:t>
            </a:r>
          </a:p>
          <a:p>
            <a:pPr marL="171450" indent="-117475">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principal female AED 22,671 (frequency 36.6) and spouse female 19,559 (37.1 - the highest frequency). </a:t>
            </a:r>
          </a:p>
          <a:p>
            <a:pPr marL="171450" indent="-117475">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Principal males are the biggest group - 1,321 members, AED 15,780 each, 41% of all spend. </a:t>
            </a:r>
          </a:p>
          <a:p>
            <a:pPr marL="171450" indent="-117475">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Children are cheapest per head (AED 8,605 girls, 11,043 boys) yet 24% of spend, and they hold the therapy outliers. </a:t>
            </a:r>
          </a:p>
          <a:p>
            <a:pPr marL="171450" indent="-117475">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Book total: 30.3 claims and AED 14,793 per member over two years.</a:t>
            </a:r>
            <a:endParaRPr lang="en-US" sz="850" dirty="0"/>
          </a:p>
        </p:txBody>
      </p:sp>
      <p:pic>
        <p:nvPicPr>
          <p:cNvPr id="22" name="Picture 21">
            <a:extLst>
              <a:ext uri="{FF2B5EF4-FFF2-40B4-BE49-F238E27FC236}">
                <a16:creationId xmlns:a16="http://schemas.microsoft.com/office/drawing/2014/main" id="{3BBEDF9F-22A4-5EA4-8453-34B64907C588}"/>
              </a:ext>
            </a:extLst>
          </p:cNvPr>
          <p:cNvPicPr>
            <a:picLocks noChangeAspect="1"/>
          </p:cNvPicPr>
          <p:nvPr/>
        </p:nvPicPr>
        <p:blipFill>
          <a:blip r:embed="rId7"/>
          <a:stretch>
            <a:fillRect/>
          </a:stretch>
        </p:blipFill>
        <p:spPr>
          <a:xfrm>
            <a:off x="2712719" y="2066544"/>
            <a:ext cx="2499360" cy="2150501"/>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Page 4 · KPI tiles, and paid by UWY month</a:t>
            </a:r>
            <a:endParaRPr lang="en-US" sz="2500" dirty="0"/>
          </a:p>
        </p:txBody>
      </p:sp>
      <p:sp>
        <p:nvSpPr>
          <p:cNvPr id="5" name="Shape 1"/>
          <p:cNvSpPr/>
          <p:nvPr/>
        </p:nvSpPr>
        <p:spPr>
          <a:xfrm>
            <a:off x="8476488" y="1069848"/>
            <a:ext cx="3273552"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8476488" y="1069848"/>
            <a:ext cx="3273552"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PAGE 4  ·  VISUALS 1–2 OF 4</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12 / 24</a:t>
            </a:r>
            <a:endParaRPr lang="en-US" sz="900" dirty="0"/>
          </a:p>
        </p:txBody>
      </p:sp>
      <p:pic>
        <p:nvPicPr>
          <p:cNvPr id="9" name="Image 2" descr="crops_small/t1_p4kpis.jpg"/>
          <p:cNvPicPr>
            <a:picLocks noChangeAspect="1"/>
          </p:cNvPicPr>
          <p:nvPr/>
        </p:nvPicPr>
        <p:blipFill>
          <a:blip r:embed="rId6"/>
          <a:stretch>
            <a:fillRect/>
          </a:stretch>
        </p:blipFill>
        <p:spPr>
          <a:xfrm>
            <a:off x="457200" y="1737360"/>
            <a:ext cx="11292839" cy="822960"/>
          </a:xfrm>
          <a:prstGeom prst="rect">
            <a:avLst/>
          </a:prstGeom>
          <a:ln>
            <a:noFill/>
          </a:ln>
          <a:effectLst>
            <a:outerShdw blurRad="292100" dist="139700" dir="2700000" algn="tl" rotWithShape="0">
              <a:srgbClr val="333333">
                <a:alpha val="65000"/>
              </a:srgbClr>
            </a:outerShdw>
          </a:effectLst>
        </p:spPr>
      </p:pic>
      <p:sp>
        <p:nvSpPr>
          <p:cNvPr id="10" name="Shape 5"/>
          <p:cNvSpPr/>
          <p:nvPr/>
        </p:nvSpPr>
        <p:spPr>
          <a:xfrm>
            <a:off x="457200" y="2668705"/>
            <a:ext cx="2185416" cy="819562"/>
          </a:xfrm>
          <a:prstGeom prst="roundRect">
            <a:avLst>
              <a:gd name="adj" fmla="val 1090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6"/>
          <p:cNvSpPr txBox="1"/>
          <p:nvPr/>
        </p:nvSpPr>
        <p:spPr>
          <a:xfrm>
            <a:off x="566928" y="2639234"/>
            <a:ext cx="1965960" cy="237744"/>
          </a:xfrm>
          <a:prstGeom prst="rect">
            <a:avLst/>
          </a:prstGeom>
          <a:noFill/>
          <a:ln/>
        </p:spPr>
        <p:txBody>
          <a:bodyPr wrap="square" lIns="0" tIns="0" rIns="0" bIns="0" rtlCol="0" anchor="ctr"/>
          <a:lstStyle/>
          <a:p>
            <a:pPr marL="0" indent="0">
              <a:buNone/>
            </a:pPr>
            <a:r>
              <a:rPr lang="en-US" sz="850" b="1" kern="0" spc="100" dirty="0">
                <a:solidFill>
                  <a:srgbClr val="55637A"/>
                </a:solidFill>
                <a:latin typeface="Calibri" pitchFamily="34" charset="0"/>
                <a:ea typeface="Calibri" pitchFamily="34" charset="-122"/>
                <a:cs typeface="Calibri" pitchFamily="34" charset="-120"/>
              </a:rPr>
              <a:t>OUT-PATIENT</a:t>
            </a:r>
            <a:endParaRPr lang="en-US" sz="850" dirty="0"/>
          </a:p>
        </p:txBody>
      </p:sp>
      <p:sp>
        <p:nvSpPr>
          <p:cNvPr id="12" name="Text 7"/>
          <p:cNvSpPr txBox="1"/>
          <p:nvPr/>
        </p:nvSpPr>
        <p:spPr>
          <a:xfrm>
            <a:off x="566928" y="2849546"/>
            <a:ext cx="1965960" cy="365760"/>
          </a:xfrm>
          <a:prstGeom prst="rect">
            <a:avLst/>
          </a:prstGeom>
          <a:noFill/>
          <a:ln/>
        </p:spPr>
        <p:txBody>
          <a:bodyPr wrap="square" lIns="0" tIns="0" rIns="0" bIns="0" rtlCol="0" anchor="ctr"/>
          <a:lstStyle/>
          <a:p>
            <a:pPr marL="0" indent="0">
              <a:buNone/>
            </a:pPr>
            <a:r>
              <a:rPr lang="en-US" sz="1800" b="1" dirty="0">
                <a:solidFill>
                  <a:srgbClr val="203370"/>
                </a:solidFill>
                <a:latin typeface="Calibri" pitchFamily="34" charset="0"/>
                <a:ea typeface="Calibri" pitchFamily="34" charset="-122"/>
                <a:cs typeface="Calibri" pitchFamily="34" charset="-120"/>
              </a:rPr>
              <a:t>AED 35.4M</a:t>
            </a:r>
            <a:endParaRPr lang="en-US" sz="1800" dirty="0"/>
          </a:p>
        </p:txBody>
      </p:sp>
      <p:sp>
        <p:nvSpPr>
          <p:cNvPr id="13" name="Text 8"/>
          <p:cNvSpPr txBox="1"/>
          <p:nvPr/>
        </p:nvSpPr>
        <p:spPr>
          <a:xfrm>
            <a:off x="566928" y="3197018"/>
            <a:ext cx="1965960" cy="384048"/>
          </a:xfrm>
          <a:prstGeom prst="rect">
            <a:avLst/>
          </a:prstGeom>
          <a:noFill/>
          <a:ln/>
        </p:spPr>
        <p:txBody>
          <a:bodyPr wrap="square" lIns="0" tIns="0" rIns="0" bIns="0" rtlCol="0" anchor="t"/>
          <a:lstStyle/>
          <a:p>
            <a:pPr marL="0" indent="0">
              <a:buNone/>
            </a:pPr>
            <a:r>
              <a:rPr lang="en-US" sz="850" dirty="0">
                <a:solidFill>
                  <a:srgbClr val="33404F"/>
                </a:solidFill>
                <a:latin typeface="Calibri" pitchFamily="34" charset="0"/>
                <a:ea typeface="Calibri" pitchFamily="34" charset="-122"/>
                <a:cs typeface="Calibri" pitchFamily="34" charset="-120"/>
              </a:rPr>
              <a:t>Family of Benefit · 69% of paid</a:t>
            </a:r>
            <a:endParaRPr lang="en-US" sz="850" dirty="0"/>
          </a:p>
        </p:txBody>
      </p:sp>
      <p:sp>
        <p:nvSpPr>
          <p:cNvPr id="14" name="Shape 9"/>
          <p:cNvSpPr/>
          <p:nvPr/>
        </p:nvSpPr>
        <p:spPr>
          <a:xfrm>
            <a:off x="2734056" y="2668705"/>
            <a:ext cx="2185416" cy="819562"/>
          </a:xfrm>
          <a:prstGeom prst="roundRect">
            <a:avLst>
              <a:gd name="adj" fmla="val 1090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0"/>
          <p:cNvSpPr txBox="1"/>
          <p:nvPr/>
        </p:nvSpPr>
        <p:spPr>
          <a:xfrm>
            <a:off x="2843784" y="2639234"/>
            <a:ext cx="1965960" cy="237744"/>
          </a:xfrm>
          <a:prstGeom prst="rect">
            <a:avLst/>
          </a:prstGeom>
          <a:noFill/>
          <a:ln/>
        </p:spPr>
        <p:txBody>
          <a:bodyPr wrap="square" lIns="0" tIns="0" rIns="0" bIns="0" rtlCol="0" anchor="ctr"/>
          <a:lstStyle/>
          <a:p>
            <a:pPr marL="0" indent="0">
              <a:buNone/>
            </a:pPr>
            <a:r>
              <a:rPr lang="en-US" sz="850" b="1" kern="0" spc="100" dirty="0">
                <a:solidFill>
                  <a:srgbClr val="55637A"/>
                </a:solidFill>
                <a:latin typeface="Calibri" pitchFamily="34" charset="0"/>
                <a:ea typeface="Calibri" pitchFamily="34" charset="-122"/>
                <a:cs typeface="Calibri" pitchFamily="34" charset="-120"/>
              </a:rPr>
              <a:t>THIRD PARTY ASSISTANCE</a:t>
            </a:r>
            <a:endParaRPr lang="en-US" sz="850" dirty="0"/>
          </a:p>
        </p:txBody>
      </p:sp>
      <p:sp>
        <p:nvSpPr>
          <p:cNvPr id="16" name="Text 11"/>
          <p:cNvSpPr txBox="1"/>
          <p:nvPr/>
        </p:nvSpPr>
        <p:spPr>
          <a:xfrm>
            <a:off x="2843784" y="2849546"/>
            <a:ext cx="1965960" cy="365760"/>
          </a:xfrm>
          <a:prstGeom prst="rect">
            <a:avLst/>
          </a:prstGeom>
          <a:noFill/>
          <a:ln/>
        </p:spPr>
        <p:txBody>
          <a:bodyPr wrap="square" lIns="0" tIns="0" rIns="0" bIns="0" rtlCol="0" anchor="ctr"/>
          <a:lstStyle/>
          <a:p>
            <a:pPr marL="0" indent="0">
              <a:buNone/>
            </a:pPr>
            <a:r>
              <a:rPr lang="en-US" sz="1800" b="1" dirty="0">
                <a:solidFill>
                  <a:srgbClr val="203370"/>
                </a:solidFill>
                <a:latin typeface="Calibri" pitchFamily="34" charset="0"/>
                <a:ea typeface="Calibri" pitchFamily="34" charset="-122"/>
                <a:cs typeface="Calibri" pitchFamily="34" charset="-120"/>
              </a:rPr>
              <a:t>AED 0.0M</a:t>
            </a:r>
            <a:endParaRPr lang="en-US" sz="1800" dirty="0"/>
          </a:p>
        </p:txBody>
      </p:sp>
      <p:sp>
        <p:nvSpPr>
          <p:cNvPr id="17" name="Text 12"/>
          <p:cNvSpPr txBox="1"/>
          <p:nvPr/>
        </p:nvSpPr>
        <p:spPr>
          <a:xfrm>
            <a:off x="2843784" y="3197018"/>
            <a:ext cx="1965960" cy="384048"/>
          </a:xfrm>
          <a:prstGeom prst="rect">
            <a:avLst/>
          </a:prstGeom>
          <a:noFill/>
          <a:ln/>
        </p:spPr>
        <p:txBody>
          <a:bodyPr wrap="square" lIns="0" tIns="0" rIns="0" bIns="0" rtlCol="0" anchor="t"/>
          <a:lstStyle/>
          <a:p>
            <a:pPr marL="0" indent="0">
              <a:buNone/>
            </a:pPr>
            <a:r>
              <a:rPr lang="en-US" sz="850" dirty="0">
                <a:solidFill>
                  <a:srgbClr val="33404F"/>
                </a:solidFill>
                <a:latin typeface="Calibri" pitchFamily="34" charset="0"/>
                <a:ea typeface="Calibri" pitchFamily="34" charset="-122"/>
                <a:cs typeface="Calibri" pitchFamily="34" charset="-120"/>
              </a:rPr>
              <a:t>Provider type · one claim, AED 367</a:t>
            </a:r>
            <a:endParaRPr lang="en-US" sz="850" dirty="0"/>
          </a:p>
        </p:txBody>
      </p:sp>
      <p:sp>
        <p:nvSpPr>
          <p:cNvPr id="18" name="Shape 13"/>
          <p:cNvSpPr/>
          <p:nvPr/>
        </p:nvSpPr>
        <p:spPr>
          <a:xfrm>
            <a:off x="5010912" y="2668705"/>
            <a:ext cx="2185416" cy="819562"/>
          </a:xfrm>
          <a:prstGeom prst="roundRect">
            <a:avLst>
              <a:gd name="adj" fmla="val 1090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9" name="Text 14"/>
          <p:cNvSpPr txBox="1"/>
          <p:nvPr/>
        </p:nvSpPr>
        <p:spPr>
          <a:xfrm>
            <a:off x="5120640" y="2639234"/>
            <a:ext cx="1965960" cy="237744"/>
          </a:xfrm>
          <a:prstGeom prst="rect">
            <a:avLst/>
          </a:prstGeom>
          <a:noFill/>
          <a:ln/>
        </p:spPr>
        <p:txBody>
          <a:bodyPr wrap="square" lIns="0" tIns="0" rIns="0" bIns="0" rtlCol="0" anchor="ctr"/>
          <a:lstStyle/>
          <a:p>
            <a:pPr marL="0" indent="0">
              <a:buNone/>
            </a:pPr>
            <a:r>
              <a:rPr lang="en-US" sz="850" b="1" kern="0" spc="100" dirty="0">
                <a:solidFill>
                  <a:srgbClr val="55637A"/>
                </a:solidFill>
                <a:latin typeface="Calibri" pitchFamily="34" charset="0"/>
                <a:ea typeface="Calibri" pitchFamily="34" charset="-122"/>
                <a:cs typeface="Calibri" pitchFamily="34" charset="-120"/>
              </a:rPr>
              <a:t>NETWORK_7</a:t>
            </a:r>
            <a:endParaRPr lang="en-US" sz="850" dirty="0"/>
          </a:p>
        </p:txBody>
      </p:sp>
      <p:sp>
        <p:nvSpPr>
          <p:cNvPr id="20" name="Text 15"/>
          <p:cNvSpPr txBox="1"/>
          <p:nvPr/>
        </p:nvSpPr>
        <p:spPr>
          <a:xfrm>
            <a:off x="5120640" y="2849546"/>
            <a:ext cx="1965960" cy="365760"/>
          </a:xfrm>
          <a:prstGeom prst="rect">
            <a:avLst/>
          </a:prstGeom>
          <a:noFill/>
          <a:ln/>
        </p:spPr>
        <p:txBody>
          <a:bodyPr wrap="square" lIns="0" tIns="0" rIns="0" bIns="0" rtlCol="0" anchor="ctr"/>
          <a:lstStyle/>
          <a:p>
            <a:pPr marL="0" indent="0">
              <a:buNone/>
            </a:pPr>
            <a:r>
              <a:rPr lang="en-US" sz="1800" b="1" dirty="0">
                <a:solidFill>
                  <a:srgbClr val="203370"/>
                </a:solidFill>
                <a:latin typeface="Calibri" pitchFamily="34" charset="0"/>
                <a:ea typeface="Calibri" pitchFamily="34" charset="-122"/>
                <a:cs typeface="Calibri" pitchFamily="34" charset="-120"/>
              </a:rPr>
              <a:t>AED 2.6M</a:t>
            </a:r>
            <a:endParaRPr lang="en-US" sz="1800" dirty="0"/>
          </a:p>
        </p:txBody>
      </p:sp>
      <p:sp>
        <p:nvSpPr>
          <p:cNvPr id="21" name="Text 16"/>
          <p:cNvSpPr txBox="1"/>
          <p:nvPr/>
        </p:nvSpPr>
        <p:spPr>
          <a:xfrm>
            <a:off x="5120640" y="3197018"/>
            <a:ext cx="1965960" cy="384048"/>
          </a:xfrm>
          <a:prstGeom prst="rect">
            <a:avLst/>
          </a:prstGeom>
          <a:noFill/>
          <a:ln/>
        </p:spPr>
        <p:txBody>
          <a:bodyPr wrap="square" lIns="0" tIns="0" rIns="0" bIns="0" rtlCol="0" anchor="t"/>
          <a:lstStyle/>
          <a:p>
            <a:pPr marL="0" indent="0">
              <a:buNone/>
            </a:pPr>
            <a:r>
              <a:rPr lang="en-US" sz="850" dirty="0">
                <a:solidFill>
                  <a:srgbClr val="33404F"/>
                </a:solidFill>
                <a:latin typeface="Calibri" pitchFamily="34" charset="0"/>
                <a:ea typeface="Calibri" pitchFamily="34" charset="-122"/>
                <a:cs typeface="Calibri" pitchFamily="34" charset="-120"/>
              </a:rPr>
              <a:t>Provider network · 5.1% (Network_3 leads at 41%)</a:t>
            </a:r>
            <a:endParaRPr lang="en-US" sz="850" dirty="0"/>
          </a:p>
        </p:txBody>
      </p:sp>
      <p:sp>
        <p:nvSpPr>
          <p:cNvPr id="22" name="Shape 17"/>
          <p:cNvSpPr/>
          <p:nvPr/>
        </p:nvSpPr>
        <p:spPr>
          <a:xfrm>
            <a:off x="7287768" y="2668705"/>
            <a:ext cx="2185416" cy="819562"/>
          </a:xfrm>
          <a:prstGeom prst="roundRect">
            <a:avLst>
              <a:gd name="adj" fmla="val 1090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3" name="Text 18"/>
          <p:cNvSpPr txBox="1"/>
          <p:nvPr/>
        </p:nvSpPr>
        <p:spPr>
          <a:xfrm>
            <a:off x="7397496" y="2639234"/>
            <a:ext cx="1965960" cy="237744"/>
          </a:xfrm>
          <a:prstGeom prst="rect">
            <a:avLst/>
          </a:prstGeom>
          <a:noFill/>
          <a:ln/>
        </p:spPr>
        <p:txBody>
          <a:bodyPr wrap="square" lIns="0" tIns="0" rIns="0" bIns="0" rtlCol="0" anchor="ctr"/>
          <a:lstStyle/>
          <a:p>
            <a:pPr marL="0" indent="0">
              <a:buNone/>
            </a:pPr>
            <a:r>
              <a:rPr lang="en-US" sz="850" b="1" kern="0" spc="100" dirty="0">
                <a:solidFill>
                  <a:srgbClr val="55637A"/>
                </a:solidFill>
                <a:latin typeface="Calibri" pitchFamily="34" charset="0"/>
                <a:ea typeface="Calibri" pitchFamily="34" charset="-122"/>
                <a:cs typeface="Calibri" pitchFamily="34" charset="-120"/>
              </a:rPr>
              <a:t>SPOUSE</a:t>
            </a:r>
            <a:endParaRPr lang="en-US" sz="850" dirty="0"/>
          </a:p>
        </p:txBody>
      </p:sp>
      <p:sp>
        <p:nvSpPr>
          <p:cNvPr id="24" name="Text 19"/>
          <p:cNvSpPr txBox="1"/>
          <p:nvPr/>
        </p:nvSpPr>
        <p:spPr>
          <a:xfrm>
            <a:off x="7397496" y="2849546"/>
            <a:ext cx="1965960" cy="365760"/>
          </a:xfrm>
          <a:prstGeom prst="rect">
            <a:avLst/>
          </a:prstGeom>
          <a:noFill/>
          <a:ln/>
        </p:spPr>
        <p:txBody>
          <a:bodyPr wrap="square" lIns="0" tIns="0" rIns="0" bIns="0" rtlCol="0" anchor="ctr"/>
          <a:lstStyle/>
          <a:p>
            <a:pPr marL="0" indent="0">
              <a:buNone/>
            </a:pPr>
            <a:r>
              <a:rPr lang="en-US" sz="1800" b="1" dirty="0">
                <a:solidFill>
                  <a:srgbClr val="203370"/>
                </a:solidFill>
                <a:latin typeface="Calibri" pitchFamily="34" charset="0"/>
                <a:ea typeface="Calibri" pitchFamily="34" charset="-122"/>
                <a:cs typeface="Calibri" pitchFamily="34" charset="-120"/>
              </a:rPr>
              <a:t>AED 14.1M</a:t>
            </a:r>
            <a:endParaRPr lang="en-US" sz="1800" dirty="0"/>
          </a:p>
        </p:txBody>
      </p:sp>
      <p:sp>
        <p:nvSpPr>
          <p:cNvPr id="25" name="Text 20"/>
          <p:cNvSpPr txBox="1"/>
          <p:nvPr/>
        </p:nvSpPr>
        <p:spPr>
          <a:xfrm>
            <a:off x="7397496" y="3197018"/>
            <a:ext cx="1965960" cy="384048"/>
          </a:xfrm>
          <a:prstGeom prst="rect">
            <a:avLst/>
          </a:prstGeom>
          <a:noFill/>
          <a:ln/>
        </p:spPr>
        <p:txBody>
          <a:bodyPr wrap="square" lIns="0" tIns="0" rIns="0" bIns="0" rtlCol="0" anchor="t"/>
          <a:lstStyle/>
          <a:p>
            <a:pPr marL="0" indent="0">
              <a:buNone/>
            </a:pPr>
            <a:r>
              <a:rPr lang="en-US" sz="850" dirty="0">
                <a:solidFill>
                  <a:srgbClr val="33404F"/>
                </a:solidFill>
                <a:latin typeface="Calibri" pitchFamily="34" charset="0"/>
                <a:ea typeface="Calibri" pitchFamily="34" charset="-122"/>
                <a:cs typeface="Calibri" pitchFamily="34" charset="-120"/>
              </a:rPr>
              <a:t>Dependency · 27% of paid, 719 members</a:t>
            </a:r>
            <a:endParaRPr lang="en-US" sz="850" dirty="0"/>
          </a:p>
        </p:txBody>
      </p:sp>
      <p:sp>
        <p:nvSpPr>
          <p:cNvPr id="26" name="Shape 21"/>
          <p:cNvSpPr/>
          <p:nvPr/>
        </p:nvSpPr>
        <p:spPr>
          <a:xfrm>
            <a:off x="9564624" y="2668705"/>
            <a:ext cx="2185416" cy="819562"/>
          </a:xfrm>
          <a:prstGeom prst="roundRect">
            <a:avLst>
              <a:gd name="adj" fmla="val 1090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7" name="Text 22"/>
          <p:cNvSpPr txBox="1"/>
          <p:nvPr/>
        </p:nvSpPr>
        <p:spPr>
          <a:xfrm>
            <a:off x="9674352" y="2639234"/>
            <a:ext cx="1965960" cy="237744"/>
          </a:xfrm>
          <a:prstGeom prst="rect">
            <a:avLst/>
          </a:prstGeom>
          <a:noFill/>
          <a:ln/>
        </p:spPr>
        <p:txBody>
          <a:bodyPr wrap="square" lIns="0" tIns="0" rIns="0" bIns="0" rtlCol="0" anchor="ctr"/>
          <a:lstStyle/>
          <a:p>
            <a:pPr marL="0" indent="0">
              <a:buNone/>
            </a:pPr>
            <a:r>
              <a:rPr lang="en-US" sz="850" b="1" kern="0" spc="100" dirty="0">
                <a:solidFill>
                  <a:srgbClr val="55637A"/>
                </a:solidFill>
                <a:latin typeface="Calibri" pitchFamily="34" charset="0"/>
                <a:ea typeface="Calibri" pitchFamily="34" charset="-122"/>
                <a:cs typeface="Calibri" pitchFamily="34" charset="-120"/>
              </a:rPr>
              <a:t>EMERGENCY = YES</a:t>
            </a:r>
            <a:endParaRPr lang="en-US" sz="850" dirty="0"/>
          </a:p>
        </p:txBody>
      </p:sp>
      <p:sp>
        <p:nvSpPr>
          <p:cNvPr id="28" name="Text 23"/>
          <p:cNvSpPr txBox="1"/>
          <p:nvPr/>
        </p:nvSpPr>
        <p:spPr>
          <a:xfrm>
            <a:off x="9674352" y="2849546"/>
            <a:ext cx="1965960" cy="365760"/>
          </a:xfrm>
          <a:prstGeom prst="rect">
            <a:avLst/>
          </a:prstGeom>
          <a:noFill/>
          <a:ln/>
        </p:spPr>
        <p:txBody>
          <a:bodyPr wrap="square" lIns="0" tIns="0" rIns="0" bIns="0" rtlCol="0" anchor="ctr"/>
          <a:lstStyle/>
          <a:p>
            <a:pPr marL="0" indent="0">
              <a:buNone/>
            </a:pPr>
            <a:r>
              <a:rPr lang="en-US" sz="1800" b="1" dirty="0">
                <a:solidFill>
                  <a:srgbClr val="203370"/>
                </a:solidFill>
                <a:latin typeface="Calibri" pitchFamily="34" charset="0"/>
                <a:ea typeface="Calibri" pitchFamily="34" charset="-122"/>
                <a:cs typeface="Calibri" pitchFamily="34" charset="-120"/>
              </a:rPr>
              <a:t>AED 3.0M</a:t>
            </a:r>
            <a:endParaRPr lang="en-US" sz="1800" dirty="0"/>
          </a:p>
        </p:txBody>
      </p:sp>
      <p:sp>
        <p:nvSpPr>
          <p:cNvPr id="29" name="Text 24"/>
          <p:cNvSpPr txBox="1"/>
          <p:nvPr/>
        </p:nvSpPr>
        <p:spPr>
          <a:xfrm>
            <a:off x="9674352" y="3197018"/>
            <a:ext cx="1965960" cy="384048"/>
          </a:xfrm>
          <a:prstGeom prst="rect">
            <a:avLst/>
          </a:prstGeom>
          <a:noFill/>
          <a:ln/>
        </p:spPr>
        <p:txBody>
          <a:bodyPr wrap="square" lIns="0" tIns="0" rIns="0" bIns="0" rtlCol="0" anchor="t"/>
          <a:lstStyle/>
          <a:p>
            <a:pPr marL="0" indent="0">
              <a:buNone/>
            </a:pPr>
            <a:r>
              <a:rPr lang="en-US" sz="850" dirty="0">
                <a:solidFill>
                  <a:srgbClr val="33404F"/>
                </a:solidFill>
                <a:latin typeface="Calibri" pitchFamily="34" charset="0"/>
                <a:ea typeface="Calibri" pitchFamily="34" charset="-122"/>
                <a:cs typeface="Calibri" pitchFamily="34" charset="-120"/>
              </a:rPr>
              <a:t>Emergency flag · 5.9% of paid, 2,295 claims</a:t>
            </a:r>
            <a:endParaRPr lang="en-US" sz="850" dirty="0"/>
          </a:p>
        </p:txBody>
      </p:sp>
      <p:sp>
        <p:nvSpPr>
          <p:cNvPr id="31" name="Text 26"/>
          <p:cNvSpPr txBox="1"/>
          <p:nvPr/>
        </p:nvSpPr>
        <p:spPr>
          <a:xfrm>
            <a:off x="504984" y="3551653"/>
            <a:ext cx="676656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Total Paid by UWY Month No, split by UWY - both policy years on one axis (AED M)</a:t>
            </a:r>
            <a:endParaRPr lang="en-US" sz="1100" dirty="0"/>
          </a:p>
        </p:txBody>
      </p:sp>
      <p:sp>
        <p:nvSpPr>
          <p:cNvPr id="32" name="Text 27"/>
          <p:cNvSpPr txBox="1"/>
          <p:nvPr/>
        </p:nvSpPr>
        <p:spPr>
          <a:xfrm>
            <a:off x="594360" y="5445252"/>
            <a:ext cx="6766560" cy="219456"/>
          </a:xfrm>
          <a:prstGeom prst="rect">
            <a:avLst/>
          </a:prstGeom>
          <a:noFill/>
          <a:ln/>
        </p:spPr>
        <p:txBody>
          <a:bodyPr wrap="square" lIns="0" tIns="0" rIns="0" bIns="0" rtlCol="0" anchor="ctr"/>
          <a:lstStyle/>
          <a:p>
            <a:pPr marL="0" indent="0">
              <a:buNone/>
            </a:pPr>
            <a:r>
              <a:rPr lang="en-US" sz="800" i="1" dirty="0">
                <a:solidFill>
                  <a:schemeClr val="bg1"/>
                </a:solidFill>
                <a:latin typeface="Calibri" pitchFamily="34" charset="0"/>
                <a:ea typeface="Calibri" pitchFamily="34" charset="-122"/>
                <a:cs typeface="Calibri" pitchFamily="34" charset="-120"/>
              </a:rPr>
              <a:t>Interim chart from the full dataset - replace after re-export.</a:t>
            </a:r>
            <a:endParaRPr lang="en-US" sz="800" dirty="0">
              <a:solidFill>
                <a:schemeClr val="bg1"/>
              </a:solidFill>
            </a:endParaRPr>
          </a:p>
        </p:txBody>
      </p:sp>
      <p:sp>
        <p:nvSpPr>
          <p:cNvPr id="33" name="Shape 28"/>
          <p:cNvSpPr/>
          <p:nvPr/>
        </p:nvSpPr>
        <p:spPr>
          <a:xfrm>
            <a:off x="594360" y="5692140"/>
            <a:ext cx="6766560" cy="0"/>
          </a:xfrm>
          <a:prstGeom prst="line">
            <a:avLst/>
          </a:prstGeom>
          <a:noFill/>
          <a:ln w="9525">
            <a:solidFill>
              <a:srgbClr val="DCE5EC"/>
            </a:solidFill>
            <a:prstDash val="solid"/>
          </a:ln>
        </p:spPr>
        <p:txBody>
          <a:bodyPr/>
          <a:lstStyle/>
          <a:p>
            <a:endParaRPr lang="en-US"/>
          </a:p>
        </p:txBody>
      </p:sp>
      <p:sp>
        <p:nvSpPr>
          <p:cNvPr id="34" name="Text 29"/>
          <p:cNvSpPr txBox="1"/>
          <p:nvPr/>
        </p:nvSpPr>
        <p:spPr>
          <a:xfrm>
            <a:off x="594360" y="5737860"/>
            <a:ext cx="6766560" cy="500380"/>
          </a:xfrm>
          <a:prstGeom prst="roundRect">
            <a:avLst>
              <a:gd name="adj" fmla="val 8423"/>
            </a:avLst>
          </a:prstGeom>
          <a:solidFill>
            <a:schemeClr val="accent1">
              <a:lumMod val="50000"/>
            </a:schemeClr>
          </a:solidFill>
          <a:ln/>
        </p:spPr>
        <p:txBody>
          <a:bodyPr wrap="square" lIns="0" tIns="0" rIns="0" bIns="0" rtlCol="0" anchor="t"/>
          <a:lstStyle/>
          <a:p>
            <a:pPr marL="55563">
              <a:buNone/>
            </a:pPr>
            <a:r>
              <a:rPr lang="en-US" sz="850" b="1" kern="0" spc="150" dirty="0">
                <a:solidFill>
                  <a:srgbClr val="2E8B78"/>
                </a:solidFill>
                <a:latin typeface="Calibri" pitchFamily="34" charset="0"/>
                <a:ea typeface="Calibri" pitchFamily="34" charset="-122"/>
                <a:cs typeface="Calibri" pitchFamily="34" charset="-120"/>
              </a:rPr>
              <a:t>WHAT WE FOUND</a:t>
            </a:r>
            <a:r>
              <a:rPr lang="en-US" sz="850" b="1" kern="0" spc="150" dirty="0">
                <a:solidFill>
                  <a:schemeClr val="bg1"/>
                </a:solidFill>
                <a:latin typeface="Calibri" pitchFamily="34" charset="0"/>
                <a:ea typeface="Calibri" pitchFamily="34" charset="-122"/>
                <a:cs typeface="Calibri" pitchFamily="34" charset="-120"/>
              </a:rPr>
              <a:t>  </a:t>
            </a:r>
          </a:p>
          <a:p>
            <a:pPr marL="117475">
              <a:buNone/>
            </a:pPr>
            <a:r>
              <a:rPr lang="en-US" sz="950" dirty="0">
                <a:solidFill>
                  <a:schemeClr val="bg1"/>
                </a:solidFill>
                <a:latin typeface="Calibri" pitchFamily="34" charset="0"/>
                <a:ea typeface="Calibri" pitchFamily="34" charset="-122"/>
                <a:cs typeface="Calibri" pitchFamily="34" charset="-120"/>
              </a:rPr>
              <a:t>Same series as page 1, read as a gap: year two is above year one in 9 of 12 months, with the widest gaps in April (+52%) and July (+34%), it drops just below year one only in January, February and June. October is the top of both curves.</a:t>
            </a:r>
            <a:endParaRPr lang="en-US" sz="850" dirty="0">
              <a:solidFill>
                <a:schemeClr val="bg1"/>
              </a:solidFill>
            </a:endParaRPr>
          </a:p>
        </p:txBody>
      </p:sp>
      <p:sp>
        <p:nvSpPr>
          <p:cNvPr id="36" name="Shape 30"/>
          <p:cNvSpPr/>
          <p:nvPr/>
        </p:nvSpPr>
        <p:spPr>
          <a:xfrm>
            <a:off x="7680960" y="3794760"/>
            <a:ext cx="4069080" cy="2560320"/>
          </a:xfrm>
          <a:prstGeom prst="roundRect">
            <a:avLst>
              <a:gd name="adj" fmla="val 4286"/>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37" name="Text 31"/>
          <p:cNvSpPr txBox="1"/>
          <p:nvPr/>
        </p:nvSpPr>
        <p:spPr>
          <a:xfrm>
            <a:off x="7818120" y="3867912"/>
            <a:ext cx="379476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What the five tiles are</a:t>
            </a:r>
            <a:endParaRPr lang="en-US" sz="1100" dirty="0"/>
          </a:p>
        </p:txBody>
      </p:sp>
      <p:sp>
        <p:nvSpPr>
          <p:cNvPr id="38" name="Text 32"/>
          <p:cNvSpPr txBox="1"/>
          <p:nvPr/>
        </p:nvSpPr>
        <p:spPr>
          <a:xfrm>
            <a:off x="7818120" y="4187952"/>
            <a:ext cx="3794760" cy="2103120"/>
          </a:xfrm>
          <a:prstGeom prst="rect">
            <a:avLst/>
          </a:prstGeom>
          <a:noFill/>
          <a:ln/>
        </p:spPr>
        <p:txBody>
          <a:bodyPr wrap="square" lIns="0" tIns="0" rIns="0" bIns="0" rtlCol="0" anchor="t"/>
          <a:lstStyle/>
          <a:p>
            <a:pPr marL="0" indent="0">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71450">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Five KPI visuals, each with Total Paid as the indicator and a category column as the trend axis (benefit family, provider type, network, dependency, emergency flag). </a:t>
            </a:r>
          </a:p>
          <a:p>
            <a:pPr marL="171450" indent="-171450">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Each tile displays the last category on its axis - a quick read of five different cuts of the same AED 51.3M. </a:t>
            </a:r>
          </a:p>
          <a:p>
            <a:pPr marL="171450" indent="-171450">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The goal field is a count placeholder, so the variance % on the tiles is not meaningful: replace it with a budget or prior-year target.</a:t>
            </a:r>
            <a:endParaRPr lang="en-US" sz="850" dirty="0"/>
          </a:p>
        </p:txBody>
      </p:sp>
      <p:pic>
        <p:nvPicPr>
          <p:cNvPr id="61" name="Picture 60">
            <a:extLst>
              <a:ext uri="{FF2B5EF4-FFF2-40B4-BE49-F238E27FC236}">
                <a16:creationId xmlns:a16="http://schemas.microsoft.com/office/drawing/2014/main" id="{4B4516FC-B47E-3E27-00EF-55FECB8AB5FF}"/>
              </a:ext>
            </a:extLst>
          </p:cNvPr>
          <p:cNvPicPr>
            <a:picLocks noChangeAspect="1"/>
          </p:cNvPicPr>
          <p:nvPr/>
        </p:nvPicPr>
        <p:blipFill>
          <a:blip r:embed="rId7"/>
          <a:stretch>
            <a:fillRect/>
          </a:stretch>
        </p:blipFill>
        <p:spPr>
          <a:xfrm>
            <a:off x="608110" y="3825973"/>
            <a:ext cx="6581616" cy="157800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Page 4 · cost per member trend, and TAT trend</a:t>
            </a:r>
            <a:endParaRPr lang="en-US" sz="2500" dirty="0"/>
          </a:p>
        </p:txBody>
      </p:sp>
      <p:sp>
        <p:nvSpPr>
          <p:cNvPr id="5" name="Shape 1"/>
          <p:cNvSpPr/>
          <p:nvPr/>
        </p:nvSpPr>
        <p:spPr>
          <a:xfrm>
            <a:off x="8476488" y="1069848"/>
            <a:ext cx="3273552"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8476488" y="1069848"/>
            <a:ext cx="3273552"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PAGE 4  ·  VISUALS 3–4 OF 4</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13 / 24</a:t>
            </a:r>
            <a:endParaRPr lang="en-US" sz="900" dirty="0"/>
          </a:p>
        </p:txBody>
      </p:sp>
      <p:sp>
        <p:nvSpPr>
          <p:cNvPr id="9" name="Text 5"/>
          <p:cNvSpPr txBox="1"/>
          <p:nvPr/>
        </p:nvSpPr>
        <p:spPr>
          <a:xfrm>
            <a:off x="594360" y="1764792"/>
            <a:ext cx="530352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Cost per Member with trend line - line by date, one series per UWY</a:t>
            </a:r>
            <a:endParaRPr lang="en-US" sz="1100" dirty="0"/>
          </a:p>
        </p:txBody>
      </p:sp>
      <p:sp>
        <p:nvSpPr>
          <p:cNvPr id="10" name="Text 6"/>
          <p:cNvSpPr txBox="1"/>
          <p:nvPr/>
        </p:nvSpPr>
        <p:spPr>
          <a:xfrm>
            <a:off x="566859" y="3967466"/>
            <a:ext cx="5303520" cy="219456"/>
          </a:xfrm>
          <a:prstGeom prst="rect">
            <a:avLst/>
          </a:prstGeom>
          <a:noFill/>
          <a:ln/>
        </p:spPr>
        <p:txBody>
          <a:bodyPr wrap="square" lIns="0" tIns="0" rIns="0" bIns="0" rtlCol="0" anchor="ctr"/>
          <a:lstStyle/>
          <a:p>
            <a:pPr marL="0" indent="0">
              <a:buNone/>
            </a:pPr>
            <a:r>
              <a:rPr lang="en-US" sz="800" i="1" dirty="0">
                <a:solidFill>
                  <a:srgbClr val="55637A"/>
                </a:solidFill>
                <a:latin typeface="Calibri" pitchFamily="34" charset="0"/>
                <a:ea typeface="Calibri" pitchFamily="34" charset="-122"/>
                <a:cs typeface="Calibri" pitchFamily="34" charset="-120"/>
              </a:rPr>
              <a:t>Interim: monthly cost per member from the full dataset - replace with the daily visual after re-export.</a:t>
            </a:r>
            <a:endParaRPr lang="en-US" sz="800" dirty="0"/>
          </a:p>
        </p:txBody>
      </p:sp>
      <p:sp>
        <p:nvSpPr>
          <p:cNvPr id="11" name="Shape 7"/>
          <p:cNvSpPr/>
          <p:nvPr/>
        </p:nvSpPr>
        <p:spPr>
          <a:xfrm>
            <a:off x="594360" y="4228100"/>
            <a:ext cx="5303520" cy="0"/>
          </a:xfrm>
          <a:prstGeom prst="line">
            <a:avLst/>
          </a:prstGeom>
          <a:noFill/>
          <a:ln w="9525">
            <a:solidFill>
              <a:srgbClr val="DCE5EC"/>
            </a:solidFill>
            <a:prstDash val="solid"/>
          </a:ln>
        </p:spPr>
        <p:txBody>
          <a:bodyPr/>
          <a:lstStyle/>
          <a:p>
            <a:endParaRPr lang="en-US"/>
          </a:p>
        </p:txBody>
      </p:sp>
      <p:sp>
        <p:nvSpPr>
          <p:cNvPr id="12" name="Text 8"/>
          <p:cNvSpPr txBox="1"/>
          <p:nvPr/>
        </p:nvSpPr>
        <p:spPr>
          <a:xfrm>
            <a:off x="594360" y="4397578"/>
            <a:ext cx="5303520" cy="1068198"/>
          </a:xfrm>
          <a:prstGeom prst="roundRect">
            <a:avLst>
              <a:gd name="adj" fmla="val 4438"/>
            </a:avLst>
          </a:prstGeom>
          <a:solidFill>
            <a:schemeClr val="accent1">
              <a:lumMod val="50000"/>
            </a:schemeClr>
          </a:solidFill>
          <a:ln/>
        </p:spPr>
        <p:txBody>
          <a:bodyPr wrap="square" lIns="0" tIns="0" rIns="0" bIns="0" rtlCol="0" anchor="t"/>
          <a:lstStyle/>
          <a:p>
            <a:pPr marL="55563">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15888">
              <a:buFont typeface="Arial" panose="020B0604020202020204" pitchFamily="34" charset="0"/>
              <a:buChar char="•"/>
            </a:pPr>
            <a:r>
              <a:rPr lang="en-US" sz="950" dirty="0">
                <a:solidFill>
                  <a:schemeClr val="bg2"/>
                </a:solidFill>
                <a:latin typeface="Calibri" pitchFamily="34" charset="0"/>
                <a:ea typeface="Calibri" pitchFamily="34" charset="-122"/>
                <a:cs typeface="Calibri" pitchFamily="34" charset="-120"/>
              </a:rPr>
              <a:t>Read monthly, cost per member runs AED 490–840 a month: year two sits at AED 600–840 and peaks in October (AED 836) and November (791). </a:t>
            </a:r>
          </a:p>
          <a:p>
            <a:pPr marL="171450" indent="-115888">
              <a:buFont typeface="Arial" panose="020B0604020202020204" pitchFamily="34" charset="0"/>
              <a:buChar char="•"/>
            </a:pPr>
            <a:r>
              <a:rPr lang="en-US" sz="950" dirty="0">
                <a:solidFill>
                  <a:schemeClr val="bg2"/>
                </a:solidFill>
                <a:latin typeface="Calibri" pitchFamily="34" charset="0"/>
                <a:ea typeface="Calibri" pitchFamily="34" charset="-122"/>
                <a:cs typeface="Calibri" pitchFamily="34" charset="-120"/>
              </a:rPr>
              <a:t>The page's daily view is spiky on purpose - single in-patient events land on one date: the biggest day is AED 388K (14 Feb 2024) against a median day of AED 66K, and those spikes are the outliers from page 3 arriving.</a:t>
            </a:r>
            <a:endParaRPr lang="en-US" sz="850" dirty="0">
              <a:solidFill>
                <a:schemeClr val="bg2"/>
              </a:solidFill>
            </a:endParaRPr>
          </a:p>
        </p:txBody>
      </p:sp>
      <p:sp>
        <p:nvSpPr>
          <p:cNvPr id="15" name="Text 10"/>
          <p:cNvSpPr txBox="1"/>
          <p:nvPr/>
        </p:nvSpPr>
        <p:spPr>
          <a:xfrm>
            <a:off x="6309360" y="1764792"/>
            <a:ext cx="530352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Average Turnaround time Days by settlement month - line by date, one series per UWY</a:t>
            </a:r>
            <a:endParaRPr lang="en-US" sz="1100" dirty="0"/>
          </a:p>
        </p:txBody>
      </p:sp>
      <p:sp>
        <p:nvSpPr>
          <p:cNvPr id="16" name="Text 11"/>
          <p:cNvSpPr txBox="1"/>
          <p:nvPr/>
        </p:nvSpPr>
        <p:spPr>
          <a:xfrm>
            <a:off x="6309360" y="3946839"/>
            <a:ext cx="5303520" cy="219456"/>
          </a:xfrm>
          <a:prstGeom prst="rect">
            <a:avLst/>
          </a:prstGeom>
          <a:noFill/>
          <a:ln/>
        </p:spPr>
        <p:txBody>
          <a:bodyPr wrap="square" lIns="0" tIns="0" rIns="0" bIns="0" rtlCol="0" anchor="ctr"/>
          <a:lstStyle/>
          <a:p>
            <a:pPr marL="0" indent="0">
              <a:buNone/>
            </a:pPr>
            <a:r>
              <a:rPr lang="en-US" sz="800" i="1" dirty="0">
                <a:solidFill>
                  <a:srgbClr val="55637A"/>
                </a:solidFill>
                <a:latin typeface="Calibri" pitchFamily="34" charset="0"/>
                <a:ea typeface="Calibri" pitchFamily="34" charset="-122"/>
                <a:cs typeface="Calibri" pitchFamily="34" charset="-120"/>
              </a:rPr>
              <a:t>Interim: monthly average TAT by settlement month from the full dataset - replace after re-export.</a:t>
            </a:r>
            <a:endParaRPr lang="en-US" sz="800" dirty="0"/>
          </a:p>
        </p:txBody>
      </p:sp>
      <p:sp>
        <p:nvSpPr>
          <p:cNvPr id="17" name="Shape 12"/>
          <p:cNvSpPr/>
          <p:nvPr/>
        </p:nvSpPr>
        <p:spPr>
          <a:xfrm>
            <a:off x="6309360" y="4201414"/>
            <a:ext cx="5303520" cy="0"/>
          </a:xfrm>
          <a:prstGeom prst="line">
            <a:avLst/>
          </a:prstGeom>
          <a:noFill/>
          <a:ln w="9525">
            <a:solidFill>
              <a:srgbClr val="DCE5EC"/>
            </a:solidFill>
            <a:prstDash val="solid"/>
          </a:ln>
        </p:spPr>
        <p:txBody>
          <a:bodyPr/>
          <a:lstStyle/>
          <a:p>
            <a:endParaRPr lang="en-US"/>
          </a:p>
        </p:txBody>
      </p:sp>
      <p:sp>
        <p:nvSpPr>
          <p:cNvPr id="18" name="Text 13"/>
          <p:cNvSpPr txBox="1"/>
          <p:nvPr/>
        </p:nvSpPr>
        <p:spPr>
          <a:xfrm>
            <a:off x="6294122" y="4397579"/>
            <a:ext cx="5303520" cy="1068198"/>
          </a:xfrm>
          <a:prstGeom prst="roundRect">
            <a:avLst>
              <a:gd name="adj" fmla="val 4535"/>
            </a:avLst>
          </a:prstGeom>
          <a:solidFill>
            <a:schemeClr val="accent1">
              <a:lumMod val="50000"/>
            </a:schemeClr>
          </a:solidFill>
          <a:ln/>
        </p:spPr>
        <p:txBody>
          <a:bodyPr wrap="square" lIns="0" tIns="0" rIns="0" bIns="0" rtlCol="0" anchor="t"/>
          <a:lstStyle/>
          <a:p>
            <a:pPr indent="55563">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15888">
              <a:buFont typeface="Arial" panose="020B0604020202020204" pitchFamily="34" charset="0"/>
              <a:buChar char="•"/>
            </a:pPr>
            <a:r>
              <a:rPr lang="en-US" sz="950" dirty="0">
                <a:solidFill>
                  <a:schemeClr val="bg2"/>
                </a:solidFill>
                <a:latin typeface="Calibri" pitchFamily="34" charset="0"/>
                <a:ea typeface="Calibri" pitchFamily="34" charset="-122"/>
                <a:cs typeface="Calibri" pitchFamily="34" charset="-120"/>
              </a:rPr>
              <a:t>Processing got faster and steadier. </a:t>
            </a:r>
          </a:p>
          <a:p>
            <a:pPr marL="171450" indent="-115888">
              <a:buFont typeface="Arial" panose="020B0604020202020204" pitchFamily="34" charset="0"/>
              <a:buChar char="•"/>
            </a:pPr>
            <a:r>
              <a:rPr lang="en-US" sz="950" dirty="0">
                <a:solidFill>
                  <a:schemeClr val="bg2"/>
                </a:solidFill>
                <a:latin typeface="Calibri" pitchFamily="34" charset="0"/>
                <a:ea typeface="Calibri" pitchFamily="34" charset="-122"/>
                <a:cs typeface="Calibri" pitchFamily="34" charset="-120"/>
              </a:rPr>
              <a:t>Claims settled in year one averaged 25.0 days with peaks of 36.6 (April) and 33.3 (August): year two averaged 22.4 days and stayed in a 19–29 band. </a:t>
            </a:r>
          </a:p>
          <a:p>
            <a:pPr marL="171450" indent="-115888">
              <a:buFont typeface="Arial" panose="020B0604020202020204" pitchFamily="34" charset="0"/>
              <a:buChar char="•"/>
            </a:pPr>
            <a:r>
              <a:rPr lang="en-US" sz="950" dirty="0">
                <a:solidFill>
                  <a:schemeClr val="bg2"/>
                </a:solidFill>
                <a:latin typeface="Calibri" pitchFamily="34" charset="0"/>
                <a:ea typeface="Calibri" pitchFamily="34" charset="-122"/>
                <a:cs typeface="Calibri" pitchFamily="34" charset="-120"/>
              </a:rPr>
              <a:t>5,375 claims settled after the second policy year closed (run-off) at 23.9 days. Automated claims are the reason: the automated share settles in a median 18 days.</a:t>
            </a:r>
            <a:endParaRPr lang="en-US" sz="850" dirty="0">
              <a:solidFill>
                <a:schemeClr val="bg2"/>
              </a:solidFill>
            </a:endParaRPr>
          </a:p>
        </p:txBody>
      </p:sp>
      <p:pic>
        <p:nvPicPr>
          <p:cNvPr id="21" name="Picture 20">
            <a:extLst>
              <a:ext uri="{FF2B5EF4-FFF2-40B4-BE49-F238E27FC236}">
                <a16:creationId xmlns:a16="http://schemas.microsoft.com/office/drawing/2014/main" id="{326F507C-9482-3936-A1BE-FA9710EFC76D}"/>
              </a:ext>
            </a:extLst>
          </p:cNvPr>
          <p:cNvPicPr>
            <a:picLocks noChangeAspect="1"/>
          </p:cNvPicPr>
          <p:nvPr/>
        </p:nvPicPr>
        <p:blipFill>
          <a:blip r:embed="rId6"/>
          <a:stretch>
            <a:fillRect/>
          </a:stretch>
        </p:blipFill>
        <p:spPr>
          <a:xfrm>
            <a:off x="441960" y="2093976"/>
            <a:ext cx="5486385" cy="1782691"/>
          </a:xfrm>
          <a:prstGeom prst="rect">
            <a:avLst/>
          </a:prstGeom>
        </p:spPr>
      </p:pic>
      <p:pic>
        <p:nvPicPr>
          <p:cNvPr id="23" name="Picture 22">
            <a:extLst>
              <a:ext uri="{FF2B5EF4-FFF2-40B4-BE49-F238E27FC236}">
                <a16:creationId xmlns:a16="http://schemas.microsoft.com/office/drawing/2014/main" id="{760678E5-F6DB-F545-89BB-B1401F6E321A}"/>
              </a:ext>
            </a:extLst>
          </p:cNvPr>
          <p:cNvPicPr>
            <a:picLocks noChangeAspect="1"/>
          </p:cNvPicPr>
          <p:nvPr/>
        </p:nvPicPr>
        <p:blipFill>
          <a:blip r:embed="rId7"/>
          <a:stretch>
            <a:fillRect/>
          </a:stretch>
        </p:blipFill>
        <p:spPr>
          <a:xfrm>
            <a:off x="6096000" y="2079978"/>
            <a:ext cx="5654040" cy="18320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Page 5 · Claim details drill-through</a:t>
            </a:r>
            <a:endParaRPr lang="en-US" sz="2500" dirty="0"/>
          </a:p>
        </p:txBody>
      </p:sp>
      <p:sp>
        <p:nvSpPr>
          <p:cNvPr id="5" name="Shape 1"/>
          <p:cNvSpPr/>
          <p:nvPr/>
        </p:nvSpPr>
        <p:spPr>
          <a:xfrm>
            <a:off x="8709660" y="1069848"/>
            <a:ext cx="3040380"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8709660" y="1069848"/>
            <a:ext cx="3040380"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PAGE 5  ·  VISUAL 1 OF 1</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14 / 24</a:t>
            </a:r>
            <a:endParaRPr lang="en-US" sz="900" dirty="0"/>
          </a:p>
        </p:txBody>
      </p:sp>
      <p:sp>
        <p:nvSpPr>
          <p:cNvPr id="9" name="Text 5"/>
          <p:cNvSpPr txBox="1"/>
          <p:nvPr/>
        </p:nvSpPr>
        <p:spPr>
          <a:xfrm>
            <a:off x="594360" y="1764792"/>
            <a:ext cx="7315200" cy="45720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Claim details - table, one row per claim line, reached by right-click → drill through from any diagnosis, member or provider</a:t>
            </a:r>
            <a:endParaRPr lang="en-US" sz="1100" dirty="0"/>
          </a:p>
        </p:txBody>
      </p:sp>
      <p:pic>
        <p:nvPicPr>
          <p:cNvPr id="10" name="Image 2" descr="crops_small/t1_p5table.jpg"/>
          <p:cNvPicPr>
            <a:picLocks noChangeAspect="1"/>
          </p:cNvPicPr>
          <p:nvPr/>
        </p:nvPicPr>
        <p:blipFill>
          <a:blip r:embed="rId6"/>
          <a:srcRect r="497"/>
          <a:stretch>
            <a:fillRect/>
          </a:stretch>
        </p:blipFill>
        <p:spPr>
          <a:xfrm>
            <a:off x="639516" y="2276856"/>
            <a:ext cx="7188968" cy="3218688"/>
          </a:xfrm>
          <a:prstGeom prst="rect">
            <a:avLst/>
          </a:prstGeom>
          <a:ln>
            <a:noFill/>
          </a:ln>
          <a:effectLst>
            <a:outerShdw blurRad="292100" dist="139700" dir="2700000" algn="tl" rotWithShape="0">
              <a:srgbClr val="333333">
                <a:alpha val="65000"/>
              </a:srgbClr>
            </a:outerShdw>
          </a:effectLst>
        </p:spPr>
      </p:pic>
      <p:sp>
        <p:nvSpPr>
          <p:cNvPr id="11" name="Shape 6"/>
          <p:cNvSpPr/>
          <p:nvPr/>
        </p:nvSpPr>
        <p:spPr>
          <a:xfrm>
            <a:off x="594360" y="5541264"/>
            <a:ext cx="7315200" cy="0"/>
          </a:xfrm>
          <a:prstGeom prst="line">
            <a:avLst/>
          </a:prstGeom>
          <a:noFill/>
          <a:ln w="9525">
            <a:solidFill>
              <a:srgbClr val="DCE5EC"/>
            </a:solidFill>
            <a:prstDash val="solid"/>
          </a:ln>
        </p:spPr>
        <p:txBody>
          <a:bodyPr/>
          <a:lstStyle/>
          <a:p>
            <a:endParaRPr lang="en-US"/>
          </a:p>
        </p:txBody>
      </p:sp>
      <p:sp>
        <p:nvSpPr>
          <p:cNvPr id="12" name="Text 7"/>
          <p:cNvSpPr txBox="1"/>
          <p:nvPr/>
        </p:nvSpPr>
        <p:spPr>
          <a:xfrm>
            <a:off x="594360" y="5586984"/>
            <a:ext cx="7315200" cy="768096"/>
          </a:xfrm>
          <a:prstGeom prst="roundRect">
            <a:avLst>
              <a:gd name="adj" fmla="val 4136"/>
            </a:avLst>
          </a:prstGeom>
          <a:solidFill>
            <a:schemeClr val="accent1">
              <a:lumMod val="50000"/>
            </a:schemeClr>
          </a:solidFill>
          <a:ln/>
        </p:spPr>
        <p:txBody>
          <a:bodyPr wrap="square" lIns="0" tIns="0" rIns="0" bIns="0" rtlCol="0" anchor="t"/>
          <a:lstStyle/>
          <a:p>
            <a:pPr marL="55563"/>
            <a:r>
              <a:rPr lang="en-US" sz="850" b="1" kern="0" spc="150" dirty="0">
                <a:solidFill>
                  <a:srgbClr val="2E8B78"/>
                </a:solidFill>
                <a:latin typeface="Calibri" pitchFamily="34" charset="0"/>
                <a:ea typeface="Calibri" pitchFamily="34" charset="-122"/>
                <a:cs typeface="Calibri" pitchFamily="34" charset="-120"/>
              </a:rPr>
              <a:t>WHAT WE FOUND  </a:t>
            </a:r>
          </a:p>
          <a:p>
            <a:pPr marL="227013"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Nine columns: claim line count, claim number, member, provider, diagnosis, claim value, turnaround days, value band, processing channel. </a:t>
            </a:r>
          </a:p>
          <a:p>
            <a:pPr marL="227013" indent="-115888"/>
            <a:r>
              <a:rPr lang="en-US" sz="950" dirty="0">
                <a:solidFill>
                  <a:schemeClr val="bg1"/>
                </a:solidFill>
                <a:latin typeface="Calibri" pitchFamily="34" charset="0"/>
                <a:ea typeface="Calibri" pitchFamily="34" charset="-122"/>
                <a:cs typeface="Calibri" pitchFamily="34" charset="-120"/>
              </a:rPr>
              <a:t>The export shows the drill from 'Delayed milestone in childhood’: </a:t>
            </a:r>
          </a:p>
          <a:p>
            <a:pPr marL="227013"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834 lines across 20 children every one processed manually, 26–5,000 AED per session, 3,991 turnaround days in total (4.8 per line). </a:t>
            </a:r>
          </a:p>
          <a:p>
            <a:pPr marL="227013"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The same drill on low back pain returns 2,524 lines, 695 members, 449 providers, median AED 406, 73% manual, 15 days average TAT.</a:t>
            </a:r>
            <a:endParaRPr lang="en-US" sz="850" dirty="0">
              <a:solidFill>
                <a:schemeClr val="bg1"/>
              </a:solidFill>
            </a:endParaRPr>
          </a:p>
        </p:txBody>
      </p:sp>
      <p:sp>
        <p:nvSpPr>
          <p:cNvPr id="13" name="Shape 8"/>
          <p:cNvSpPr/>
          <p:nvPr/>
        </p:nvSpPr>
        <p:spPr>
          <a:xfrm>
            <a:off x="8229600" y="1691640"/>
            <a:ext cx="3520440" cy="4663440"/>
          </a:xfrm>
          <a:prstGeom prst="roundRect">
            <a:avLst>
              <a:gd name="adj" fmla="val 311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dirty="0"/>
          </a:p>
        </p:txBody>
      </p:sp>
      <p:sp>
        <p:nvSpPr>
          <p:cNvPr id="14" name="Text 9"/>
          <p:cNvSpPr txBox="1"/>
          <p:nvPr/>
        </p:nvSpPr>
        <p:spPr>
          <a:xfrm>
            <a:off x="8366760" y="1764792"/>
            <a:ext cx="324612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Why it is on the dashboard</a:t>
            </a:r>
            <a:endParaRPr lang="en-US" sz="1100" dirty="0"/>
          </a:p>
        </p:txBody>
      </p:sp>
      <p:sp>
        <p:nvSpPr>
          <p:cNvPr id="15" name="Shape 10"/>
          <p:cNvSpPr/>
          <p:nvPr/>
        </p:nvSpPr>
        <p:spPr>
          <a:xfrm>
            <a:off x="8366760" y="4517997"/>
            <a:ext cx="3246120" cy="0"/>
          </a:xfrm>
          <a:prstGeom prst="line">
            <a:avLst/>
          </a:prstGeom>
          <a:noFill/>
          <a:ln w="9525">
            <a:solidFill>
              <a:srgbClr val="DCE5EC"/>
            </a:solidFill>
            <a:prstDash val="solid"/>
          </a:ln>
        </p:spPr>
        <p:txBody>
          <a:bodyPr/>
          <a:lstStyle/>
          <a:p>
            <a:endParaRPr lang="en-US"/>
          </a:p>
        </p:txBody>
      </p:sp>
      <p:sp>
        <p:nvSpPr>
          <p:cNvPr id="16" name="Text 11"/>
          <p:cNvSpPr txBox="1"/>
          <p:nvPr/>
        </p:nvSpPr>
        <p:spPr>
          <a:xfrm>
            <a:off x="8366760" y="4631436"/>
            <a:ext cx="3246120" cy="1293875"/>
          </a:xfrm>
          <a:prstGeom prst="rect">
            <a:avLst/>
          </a:prstGeom>
          <a:noFill/>
          <a:ln/>
        </p:spPr>
        <p:txBody>
          <a:bodyPr wrap="square" lIns="0" tIns="0" rIns="0" bIns="0" rtlCol="0" anchor="t"/>
          <a:lstStyle/>
          <a:p>
            <a:pPr marL="0" indent="0">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Every finding on pages 1–4 is an aggregate, this page is the evidence behind it. </a:t>
            </a: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It is the hand-over list for a case manager (drill from a member), the audit list for a provider (drill from a provider), and the session list for a therapy review (drill from a diagnosis). </a:t>
            </a: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Nothing on the summary pages needs to be trusted blindly - it can be opened to the claim line in two clicks.</a:t>
            </a:r>
            <a:endParaRPr lang="en-US" sz="850" dirty="0"/>
          </a:p>
        </p:txBody>
      </p:sp>
      <p:sp>
        <p:nvSpPr>
          <p:cNvPr id="17" name="Text 12"/>
          <p:cNvSpPr txBox="1"/>
          <p:nvPr/>
        </p:nvSpPr>
        <p:spPr>
          <a:xfrm>
            <a:off x="8366760" y="2148839"/>
            <a:ext cx="3246120" cy="2318005"/>
          </a:xfrm>
          <a:prstGeom prst="rect">
            <a:avLst/>
          </a:prstGeom>
          <a:noFill/>
          <a:ln/>
        </p:spPr>
        <p:txBody>
          <a:bodyPr wrap="square" lIns="0" tIns="0" rIns="0" bIns="0" rtlCol="0" anchor="t"/>
          <a:lstStyle/>
          <a:p>
            <a:pPr marL="0" indent="0">
              <a:buNone/>
            </a:pPr>
            <a:r>
              <a:rPr lang="en-US" sz="1000" b="1" dirty="0">
                <a:solidFill>
                  <a:srgbClr val="203370"/>
                </a:solidFill>
                <a:latin typeface="Calibri" pitchFamily="34" charset="0"/>
                <a:ea typeface="Calibri" pitchFamily="34" charset="-122"/>
                <a:cs typeface="Calibri" pitchFamily="34" charset="-120"/>
              </a:rPr>
              <a:t>Drill-through fields</a:t>
            </a:r>
            <a:endParaRPr lang="en-US" sz="1000" dirty="0"/>
          </a:p>
          <a:p>
            <a:pPr marL="171450" indent="-115888">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ICD_Description</a:t>
            </a:r>
          </a:p>
          <a:p>
            <a:pPr marL="171450" indent="-115888">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 Member_ID</a:t>
            </a:r>
          </a:p>
          <a:p>
            <a:pPr marL="171450" indent="-115888">
              <a:buFont typeface="Arial" panose="020B0604020202020204" pitchFamily="34" charset="0"/>
              <a:buChar char="•"/>
            </a:pPr>
            <a:r>
              <a:rPr lang="en-US" sz="1000" dirty="0">
                <a:solidFill>
                  <a:srgbClr val="33404F"/>
                </a:solidFill>
                <a:latin typeface="Calibri" pitchFamily="34" charset="0"/>
                <a:ea typeface="Calibri" pitchFamily="34" charset="-122"/>
                <a:cs typeface="Calibri" pitchFamily="34" charset="-120"/>
              </a:rPr>
              <a:t> Provider_ID</a:t>
            </a:r>
            <a:endParaRPr lang="en-US" sz="10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000" dirty="0"/>
          </a:p>
          <a:p>
            <a:pPr marL="0" indent="0">
              <a:buNone/>
            </a:pPr>
            <a:r>
              <a:rPr lang="en-US" sz="1000" b="1" dirty="0">
                <a:solidFill>
                  <a:srgbClr val="203370"/>
                </a:solidFill>
                <a:latin typeface="Calibri" pitchFamily="34" charset="0"/>
                <a:ea typeface="Calibri" pitchFamily="34" charset="-122"/>
                <a:cs typeface="Calibri" pitchFamily="34" charset="-120"/>
              </a:rPr>
              <a:t>Columns</a:t>
            </a:r>
            <a:endParaRPr lang="en-US" sz="1000" dirty="0"/>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Count of </a:t>
            </a:r>
            <a:r>
              <a:rPr lang="en-US" sz="950" dirty="0" err="1">
                <a:solidFill>
                  <a:srgbClr val="33404F"/>
                </a:solidFill>
                <a:latin typeface="Calibri" pitchFamily="34" charset="0"/>
                <a:ea typeface="Calibri" pitchFamily="34" charset="-122"/>
                <a:cs typeface="Calibri" pitchFamily="34" charset="-120"/>
              </a:rPr>
              <a:t>Claim_Line_Key</a:t>
            </a:r>
            <a:r>
              <a:rPr lang="en-US" sz="950" dirty="0">
                <a:solidFill>
                  <a:srgbClr val="33404F"/>
                </a:solidFill>
                <a:latin typeface="Calibri" pitchFamily="34" charset="0"/>
                <a:ea typeface="Calibri" pitchFamily="34" charset="-122"/>
                <a:cs typeface="Calibri" pitchFamily="34" charset="-120"/>
              </a:rPr>
              <a:t> </a:t>
            </a: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 </a:t>
            </a:r>
            <a:r>
              <a:rPr lang="en-US" sz="950" dirty="0" err="1">
                <a:solidFill>
                  <a:srgbClr val="33404F"/>
                </a:solidFill>
                <a:latin typeface="Calibri" pitchFamily="34" charset="0"/>
                <a:ea typeface="Calibri" pitchFamily="34" charset="-122"/>
                <a:cs typeface="Calibri" pitchFamily="34" charset="-120"/>
              </a:rPr>
              <a:t>Claim_Number</a:t>
            </a:r>
            <a:endParaRPr lang="en-US" sz="950" dirty="0">
              <a:solidFill>
                <a:srgbClr val="33404F"/>
              </a:solidFill>
              <a:latin typeface="Calibri" pitchFamily="34" charset="0"/>
              <a:ea typeface="Calibri" pitchFamily="34" charset="-122"/>
              <a:cs typeface="Calibri" pitchFamily="34" charset="-120"/>
            </a:endParaRP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 Member_ID</a:t>
            </a: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 </a:t>
            </a:r>
            <a:r>
              <a:rPr lang="en-US" sz="950" dirty="0" err="1">
                <a:solidFill>
                  <a:srgbClr val="33404F"/>
                </a:solidFill>
                <a:latin typeface="Calibri" pitchFamily="34" charset="0"/>
                <a:ea typeface="Calibri" pitchFamily="34" charset="-122"/>
                <a:cs typeface="Calibri" pitchFamily="34" charset="-120"/>
              </a:rPr>
              <a:t>Provider_ID</a:t>
            </a:r>
            <a:endParaRPr lang="en-US" sz="950" dirty="0">
              <a:solidFill>
                <a:srgbClr val="33404F"/>
              </a:solidFill>
              <a:latin typeface="Calibri" pitchFamily="34" charset="0"/>
              <a:ea typeface="Calibri" pitchFamily="34" charset="-122"/>
              <a:cs typeface="Calibri" pitchFamily="34" charset="-120"/>
            </a:endParaRP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 ICD_Description</a:t>
            </a:r>
          </a:p>
          <a:p>
            <a:pPr marL="171450" indent="-115888">
              <a:buFont typeface="Arial" panose="020B0604020202020204" pitchFamily="34" charset="0"/>
              <a:buChar char="•"/>
            </a:pPr>
            <a:r>
              <a:rPr lang="en-US" sz="950" dirty="0" err="1">
                <a:solidFill>
                  <a:srgbClr val="33404F"/>
                </a:solidFill>
                <a:latin typeface="Calibri" pitchFamily="34" charset="0"/>
                <a:ea typeface="Calibri" pitchFamily="34" charset="-122"/>
                <a:cs typeface="Calibri" pitchFamily="34" charset="-120"/>
              </a:rPr>
              <a:t>Claim_Value</a:t>
            </a:r>
            <a:endParaRPr lang="en-US" sz="950" dirty="0">
              <a:solidFill>
                <a:srgbClr val="33404F"/>
              </a:solidFill>
              <a:latin typeface="Calibri" pitchFamily="34" charset="0"/>
              <a:ea typeface="Calibri" pitchFamily="34" charset="-122"/>
              <a:cs typeface="Calibri" pitchFamily="34" charset="-120"/>
            </a:endParaRP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Sum of </a:t>
            </a:r>
            <a:r>
              <a:rPr lang="en-US" sz="950" dirty="0" err="1">
                <a:solidFill>
                  <a:srgbClr val="33404F"/>
                </a:solidFill>
                <a:latin typeface="Calibri" pitchFamily="34" charset="0"/>
                <a:ea typeface="Calibri" pitchFamily="34" charset="-122"/>
                <a:cs typeface="Calibri" pitchFamily="34" charset="-120"/>
              </a:rPr>
              <a:t>Total_TurnAroundTime_Days</a:t>
            </a:r>
            <a:endParaRPr lang="en-US" sz="950" dirty="0">
              <a:solidFill>
                <a:srgbClr val="33404F"/>
              </a:solidFill>
              <a:latin typeface="Calibri" pitchFamily="34" charset="0"/>
              <a:ea typeface="Calibri" pitchFamily="34" charset="-122"/>
              <a:cs typeface="Calibri" pitchFamily="34" charset="-120"/>
            </a:endParaRP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 </a:t>
            </a:r>
            <a:r>
              <a:rPr lang="en-US" sz="950" dirty="0" err="1">
                <a:solidFill>
                  <a:srgbClr val="33404F"/>
                </a:solidFill>
                <a:latin typeface="Calibri" pitchFamily="34" charset="0"/>
                <a:ea typeface="Calibri" pitchFamily="34" charset="-122"/>
                <a:cs typeface="Calibri" pitchFamily="34" charset="-120"/>
              </a:rPr>
              <a:t>Value_Band</a:t>
            </a:r>
            <a:r>
              <a:rPr lang="en-US" sz="950" dirty="0">
                <a:solidFill>
                  <a:srgbClr val="33404F"/>
                </a:solidFill>
                <a:latin typeface="Calibri" pitchFamily="34" charset="0"/>
                <a:ea typeface="Calibri" pitchFamily="34" charset="-122"/>
                <a:cs typeface="Calibri" pitchFamily="34" charset="-120"/>
              </a:rPr>
              <a:t> </a:t>
            </a:r>
          </a:p>
          <a:p>
            <a:pPr marL="171450" indent="-115888">
              <a:buFont typeface="Arial" panose="020B0604020202020204" pitchFamily="34" charset="0"/>
              <a:buChar char="•"/>
            </a:pPr>
            <a:r>
              <a:rPr lang="en-US" sz="950" dirty="0" err="1">
                <a:solidFill>
                  <a:srgbClr val="33404F"/>
                </a:solidFill>
                <a:latin typeface="Calibri" pitchFamily="34" charset="0"/>
                <a:ea typeface="Calibri" pitchFamily="34" charset="-122"/>
                <a:cs typeface="Calibri" pitchFamily="34" charset="-120"/>
              </a:rPr>
              <a:t>Processing_Channel</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Task 1 - what we should do next</a:t>
            </a:r>
            <a:endParaRPr lang="en-US" sz="2500" dirty="0"/>
          </a:p>
        </p:txBody>
      </p:sp>
      <p:sp>
        <p:nvSpPr>
          <p:cNvPr id="5" name="Shape 1"/>
          <p:cNvSpPr/>
          <p:nvPr/>
        </p:nvSpPr>
        <p:spPr>
          <a:xfrm>
            <a:off x="9409176" y="1069848"/>
            <a:ext cx="2340864"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9409176" y="1069848"/>
            <a:ext cx="2340864"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1  ·  RECOMMENDATIONS</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15 / 24</a:t>
            </a:r>
            <a:endParaRPr lang="en-US" sz="900" dirty="0"/>
          </a:p>
        </p:txBody>
      </p:sp>
      <p:sp>
        <p:nvSpPr>
          <p:cNvPr id="8" name="Shape 4"/>
          <p:cNvSpPr/>
          <p:nvPr/>
        </p:nvSpPr>
        <p:spPr>
          <a:xfrm>
            <a:off x="457200" y="1691640"/>
            <a:ext cx="3657600" cy="3520440"/>
          </a:xfrm>
          <a:prstGeom prst="roundRect">
            <a:avLst>
              <a:gd name="adj" fmla="val 311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5"/>
          <p:cNvSpPr/>
          <p:nvPr/>
        </p:nvSpPr>
        <p:spPr>
          <a:xfrm>
            <a:off x="685800" y="1874520"/>
            <a:ext cx="420624" cy="420624"/>
          </a:xfrm>
          <a:prstGeom prst="ellipse">
            <a:avLst/>
          </a:prstGeom>
          <a:solidFill>
            <a:srgbClr val="203370"/>
          </a:solidFill>
          <a:ln w="12700">
            <a:solidFill>
              <a:srgbClr val="203370"/>
            </a:solidFill>
            <a:prstDash val="solid"/>
          </a:ln>
        </p:spPr>
        <p:txBody>
          <a:bodyPr/>
          <a:lstStyle/>
          <a:p>
            <a:endParaRPr lang="en-US"/>
          </a:p>
        </p:txBody>
      </p:sp>
      <p:sp>
        <p:nvSpPr>
          <p:cNvPr id="10" name="Text 6"/>
          <p:cNvSpPr txBox="1"/>
          <p:nvPr/>
        </p:nvSpPr>
        <p:spPr>
          <a:xfrm>
            <a:off x="685800" y="187452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txBox="1"/>
          <p:nvPr/>
        </p:nvSpPr>
        <p:spPr>
          <a:xfrm>
            <a:off x="1234440" y="1847088"/>
            <a:ext cx="2743200" cy="502920"/>
          </a:xfrm>
          <a:prstGeom prst="rect">
            <a:avLst/>
          </a:prstGeom>
          <a:noFill/>
          <a:ln/>
        </p:spPr>
        <p:txBody>
          <a:bodyPr wrap="square" lIns="0" tIns="0" rIns="0" bIns="0" rtlCol="0" anchor="ctr"/>
          <a:lstStyle/>
          <a:p>
            <a:pPr marL="0" indent="0">
              <a:buNone/>
            </a:pPr>
            <a:r>
              <a:rPr lang="en-US" sz="1400" b="1" dirty="0">
                <a:solidFill>
                  <a:srgbClr val="203370"/>
                </a:solidFill>
                <a:latin typeface="Calibri" pitchFamily="34" charset="0"/>
                <a:ea typeface="Calibri" pitchFamily="34" charset="-122"/>
                <a:cs typeface="Calibri" pitchFamily="34" charset="-120"/>
              </a:rPr>
              <a:t>Review step on therapy claims</a:t>
            </a:r>
            <a:endParaRPr lang="en-US" sz="1400" dirty="0"/>
          </a:p>
        </p:txBody>
      </p:sp>
      <p:sp>
        <p:nvSpPr>
          <p:cNvPr id="12" name="Text 8"/>
          <p:cNvSpPr txBox="1"/>
          <p:nvPr/>
        </p:nvSpPr>
        <p:spPr>
          <a:xfrm>
            <a:off x="685800" y="2468880"/>
            <a:ext cx="3200400" cy="868680"/>
          </a:xfrm>
          <a:prstGeom prst="rect">
            <a:avLst/>
          </a:prstGeom>
          <a:noFill/>
          <a:ln/>
        </p:spPr>
        <p:txBody>
          <a:bodyPr wrap="square" lIns="0" tIns="0" rIns="0" bIns="0" rtlCol="0" anchor="t"/>
          <a:lstStyle/>
          <a:p>
            <a:pPr marL="0" indent="0">
              <a:buNone/>
            </a:pPr>
            <a:r>
              <a:rPr lang="en-US" sz="1200" dirty="0">
                <a:solidFill>
                  <a:srgbClr val="33404F"/>
                </a:solidFill>
                <a:latin typeface="Calibri" pitchFamily="34" charset="0"/>
                <a:ea typeface="Calibri" pitchFamily="34" charset="-122"/>
                <a:cs typeface="Calibri" pitchFamily="34" charset="-120"/>
              </a:rPr>
              <a:t>Put a review in front of physiotherapy and long-running therapy claims once they pass a few sessions.</a:t>
            </a:r>
            <a:endParaRPr lang="en-US" sz="1200" dirty="0"/>
          </a:p>
        </p:txBody>
      </p:sp>
      <p:sp>
        <p:nvSpPr>
          <p:cNvPr id="13" name="Shape 9"/>
          <p:cNvSpPr/>
          <p:nvPr/>
        </p:nvSpPr>
        <p:spPr>
          <a:xfrm>
            <a:off x="685800" y="3383280"/>
            <a:ext cx="3200400" cy="0"/>
          </a:xfrm>
          <a:prstGeom prst="line">
            <a:avLst/>
          </a:prstGeom>
          <a:noFill/>
          <a:ln w="12700">
            <a:solidFill>
              <a:srgbClr val="DCE5EC"/>
            </a:solidFill>
            <a:prstDash val="solid"/>
          </a:ln>
        </p:spPr>
        <p:txBody>
          <a:bodyPr/>
          <a:lstStyle/>
          <a:p>
            <a:endParaRPr lang="en-US"/>
          </a:p>
        </p:txBody>
      </p:sp>
      <p:sp>
        <p:nvSpPr>
          <p:cNvPr id="14" name="Text 10"/>
          <p:cNvSpPr txBox="1"/>
          <p:nvPr/>
        </p:nvSpPr>
        <p:spPr>
          <a:xfrm>
            <a:off x="685800" y="3474720"/>
            <a:ext cx="3200400" cy="914400"/>
          </a:xfrm>
          <a:prstGeom prst="rect">
            <a:avLst/>
          </a:prstGeom>
          <a:noFill/>
          <a:ln/>
        </p:spPr>
        <p:txBody>
          <a:bodyPr wrap="square" lIns="0" tIns="0" rIns="0" bIns="0" rtlCol="0" anchor="t"/>
          <a:lstStyle/>
          <a:p>
            <a:pPr marL="0" indent="0">
              <a:buNone/>
            </a:pPr>
            <a:r>
              <a:rPr lang="en-US" sz="1000" b="1" dirty="0">
                <a:solidFill>
                  <a:srgbClr val="C98A2B"/>
                </a:solidFill>
                <a:latin typeface="Calibri" pitchFamily="34" charset="0"/>
                <a:ea typeface="Calibri" pitchFamily="34" charset="-122"/>
                <a:cs typeface="Calibri" pitchFamily="34" charset="-120"/>
              </a:rPr>
              <a:t>Why  </a:t>
            </a:r>
            <a:r>
              <a:rPr lang="en-US" sz="1000" dirty="0">
                <a:solidFill>
                  <a:srgbClr val="55637A"/>
                </a:solidFill>
                <a:latin typeface="Calibri" pitchFamily="34" charset="0"/>
                <a:ea typeface="Calibri" pitchFamily="34" charset="-122"/>
                <a:cs typeface="Calibri" pitchFamily="34" charset="-120"/>
              </a:rPr>
              <a:t>Back/neck pain (M54.5 / M54.2) is AED 4.6M, 8.9% of spend, up 38% YoY, average claim 3× the out-patient norm, paediatric therapy is the fastest-growing cluster (+15%).</a:t>
            </a:r>
            <a:endParaRPr lang="en-US" sz="1000" dirty="0"/>
          </a:p>
        </p:txBody>
      </p:sp>
      <p:sp>
        <p:nvSpPr>
          <p:cNvPr id="15" name="Text 11"/>
          <p:cNvSpPr txBox="1"/>
          <p:nvPr/>
        </p:nvSpPr>
        <p:spPr>
          <a:xfrm>
            <a:off x="685800" y="4434840"/>
            <a:ext cx="3200400" cy="731520"/>
          </a:xfrm>
          <a:prstGeom prst="rect">
            <a:avLst/>
          </a:prstGeom>
          <a:noFill/>
          <a:ln/>
        </p:spPr>
        <p:txBody>
          <a:bodyPr wrap="square" lIns="0" tIns="0" rIns="0" bIns="0" rtlCol="0" anchor="t"/>
          <a:lstStyle/>
          <a:p>
            <a:pPr marL="0" indent="0">
              <a:buNone/>
            </a:pPr>
            <a:r>
              <a:rPr lang="en-US" sz="1000" b="1" dirty="0">
                <a:solidFill>
                  <a:srgbClr val="2E8B78"/>
                </a:solidFill>
                <a:latin typeface="Calibri" pitchFamily="34" charset="0"/>
                <a:ea typeface="Calibri" pitchFamily="34" charset="-122"/>
                <a:cs typeface="Calibri" pitchFamily="34" charset="-120"/>
              </a:rPr>
              <a:t>Watch on the dashboard  </a:t>
            </a:r>
            <a:r>
              <a:rPr lang="en-US" sz="1000" dirty="0">
                <a:solidFill>
                  <a:srgbClr val="55637A"/>
                </a:solidFill>
                <a:latin typeface="Calibri" pitchFamily="34" charset="0"/>
                <a:ea typeface="Calibri" pitchFamily="34" charset="-122"/>
                <a:cs typeface="Calibri" pitchFamily="34" charset="-120"/>
              </a:rPr>
              <a:t>Decomposition tree, Out-Patient → M and R chapters, the frequency corner of the Outliers Finder.</a:t>
            </a:r>
            <a:endParaRPr lang="en-US" sz="1000" dirty="0"/>
          </a:p>
        </p:txBody>
      </p:sp>
      <p:sp>
        <p:nvSpPr>
          <p:cNvPr id="16" name="Shape 12"/>
          <p:cNvSpPr/>
          <p:nvPr/>
        </p:nvSpPr>
        <p:spPr>
          <a:xfrm>
            <a:off x="4251960" y="1691640"/>
            <a:ext cx="3657600" cy="3520440"/>
          </a:xfrm>
          <a:prstGeom prst="roundRect">
            <a:avLst>
              <a:gd name="adj" fmla="val 311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3"/>
          <p:cNvSpPr/>
          <p:nvPr/>
        </p:nvSpPr>
        <p:spPr>
          <a:xfrm>
            <a:off x="4480560" y="1874520"/>
            <a:ext cx="420624" cy="420624"/>
          </a:xfrm>
          <a:prstGeom prst="ellipse">
            <a:avLst/>
          </a:prstGeom>
          <a:solidFill>
            <a:srgbClr val="203370"/>
          </a:solidFill>
          <a:ln w="12700">
            <a:solidFill>
              <a:srgbClr val="203370"/>
            </a:solidFill>
            <a:prstDash val="solid"/>
          </a:ln>
        </p:spPr>
        <p:txBody>
          <a:bodyPr/>
          <a:lstStyle/>
          <a:p>
            <a:endParaRPr lang="en-US"/>
          </a:p>
        </p:txBody>
      </p:sp>
      <p:sp>
        <p:nvSpPr>
          <p:cNvPr id="18" name="Text 14"/>
          <p:cNvSpPr txBox="1"/>
          <p:nvPr/>
        </p:nvSpPr>
        <p:spPr>
          <a:xfrm>
            <a:off x="4480560" y="187452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5"/>
          <p:cNvSpPr txBox="1"/>
          <p:nvPr/>
        </p:nvSpPr>
        <p:spPr>
          <a:xfrm>
            <a:off x="5029200" y="1847088"/>
            <a:ext cx="2743200" cy="502920"/>
          </a:xfrm>
          <a:prstGeom prst="rect">
            <a:avLst/>
          </a:prstGeom>
          <a:noFill/>
          <a:ln/>
        </p:spPr>
        <p:txBody>
          <a:bodyPr wrap="square" lIns="0" tIns="0" rIns="0" bIns="0" rtlCol="0" anchor="ctr"/>
          <a:lstStyle/>
          <a:p>
            <a:pPr marL="0" indent="0">
              <a:buNone/>
            </a:pPr>
            <a:r>
              <a:rPr lang="en-US" sz="1400" b="1" dirty="0">
                <a:solidFill>
                  <a:srgbClr val="203370"/>
                </a:solidFill>
                <a:latin typeface="Calibri" pitchFamily="34" charset="0"/>
                <a:ea typeface="Calibri" pitchFamily="34" charset="-122"/>
                <a:cs typeface="Calibri" pitchFamily="34" charset="-120"/>
              </a:rPr>
              <a:t>Case manager for the top list</a:t>
            </a:r>
            <a:endParaRPr lang="en-US" sz="1400" dirty="0"/>
          </a:p>
        </p:txBody>
      </p:sp>
      <p:sp>
        <p:nvSpPr>
          <p:cNvPr id="20" name="Text 16"/>
          <p:cNvSpPr txBox="1"/>
          <p:nvPr/>
        </p:nvSpPr>
        <p:spPr>
          <a:xfrm>
            <a:off x="4480560" y="2468880"/>
            <a:ext cx="3200400" cy="868680"/>
          </a:xfrm>
          <a:prstGeom prst="rect">
            <a:avLst/>
          </a:prstGeom>
          <a:noFill/>
          <a:ln/>
        </p:spPr>
        <p:txBody>
          <a:bodyPr wrap="square" lIns="0" tIns="0" rIns="0" bIns="0" rtlCol="0" anchor="t"/>
          <a:lstStyle/>
          <a:p>
            <a:pPr marL="0" indent="0">
              <a:buNone/>
            </a:pPr>
            <a:r>
              <a:rPr lang="en-US" sz="1200" dirty="0">
                <a:solidFill>
                  <a:srgbClr val="33404F"/>
                </a:solidFill>
                <a:latin typeface="Calibri" pitchFamily="34" charset="0"/>
                <a:ea typeface="Calibri" pitchFamily="34" charset="-122"/>
                <a:cs typeface="Calibri" pitchFamily="34" charset="-120"/>
              </a:rPr>
              <a:t>Assign a case manager to the highest-cost members - a short list, big impact.</a:t>
            </a:r>
            <a:endParaRPr lang="en-US" sz="1200" dirty="0"/>
          </a:p>
        </p:txBody>
      </p:sp>
      <p:sp>
        <p:nvSpPr>
          <p:cNvPr id="21" name="Shape 17"/>
          <p:cNvSpPr/>
          <p:nvPr/>
        </p:nvSpPr>
        <p:spPr>
          <a:xfrm>
            <a:off x="4480560" y="3383280"/>
            <a:ext cx="3200400" cy="0"/>
          </a:xfrm>
          <a:prstGeom prst="line">
            <a:avLst/>
          </a:prstGeom>
          <a:noFill/>
          <a:ln w="12700">
            <a:solidFill>
              <a:srgbClr val="DCE5EC"/>
            </a:solidFill>
            <a:prstDash val="solid"/>
          </a:ln>
        </p:spPr>
        <p:txBody>
          <a:bodyPr/>
          <a:lstStyle/>
          <a:p>
            <a:endParaRPr lang="en-US"/>
          </a:p>
        </p:txBody>
      </p:sp>
      <p:sp>
        <p:nvSpPr>
          <p:cNvPr id="22" name="Text 18"/>
          <p:cNvSpPr txBox="1"/>
          <p:nvPr/>
        </p:nvSpPr>
        <p:spPr>
          <a:xfrm>
            <a:off x="4480560" y="3474720"/>
            <a:ext cx="3200400" cy="914400"/>
          </a:xfrm>
          <a:prstGeom prst="rect">
            <a:avLst/>
          </a:prstGeom>
          <a:noFill/>
          <a:ln/>
        </p:spPr>
        <p:txBody>
          <a:bodyPr wrap="square" lIns="0" tIns="0" rIns="0" bIns="0" rtlCol="0" anchor="t"/>
          <a:lstStyle/>
          <a:p>
            <a:pPr marL="0" indent="0">
              <a:buNone/>
            </a:pPr>
            <a:r>
              <a:rPr lang="en-US" sz="1000" b="1" dirty="0">
                <a:solidFill>
                  <a:srgbClr val="C98A2B"/>
                </a:solidFill>
                <a:latin typeface="Calibri" pitchFamily="34" charset="0"/>
                <a:ea typeface="Calibri" pitchFamily="34" charset="-122"/>
                <a:cs typeface="Calibri" pitchFamily="34" charset="-120"/>
              </a:rPr>
              <a:t>Why  </a:t>
            </a:r>
            <a:r>
              <a:rPr lang="en-US" sz="1000" dirty="0">
                <a:solidFill>
                  <a:srgbClr val="55637A"/>
                </a:solidFill>
                <a:latin typeface="Calibri" pitchFamily="34" charset="0"/>
                <a:ea typeface="Calibri" pitchFamily="34" charset="-122"/>
                <a:cs typeface="Calibri" pitchFamily="34" charset="-120"/>
              </a:rPr>
              <a:t>Top 1% of members (35 people) carry 13% of spend, the severity corner of the scatter is six conditions and a handful of people, the drill-through page hands over their claim lines.</a:t>
            </a:r>
            <a:endParaRPr lang="en-US" sz="1000" dirty="0"/>
          </a:p>
        </p:txBody>
      </p:sp>
      <p:sp>
        <p:nvSpPr>
          <p:cNvPr id="23" name="Text 19"/>
          <p:cNvSpPr txBox="1"/>
          <p:nvPr/>
        </p:nvSpPr>
        <p:spPr>
          <a:xfrm>
            <a:off x="4480560" y="4434840"/>
            <a:ext cx="3200400" cy="731520"/>
          </a:xfrm>
          <a:prstGeom prst="rect">
            <a:avLst/>
          </a:prstGeom>
          <a:noFill/>
          <a:ln/>
        </p:spPr>
        <p:txBody>
          <a:bodyPr wrap="square" lIns="0" tIns="0" rIns="0" bIns="0" rtlCol="0" anchor="t"/>
          <a:lstStyle/>
          <a:p>
            <a:pPr marL="0" indent="0">
              <a:buNone/>
            </a:pPr>
            <a:r>
              <a:rPr lang="en-US" sz="1000" b="1" dirty="0">
                <a:solidFill>
                  <a:srgbClr val="2E8B78"/>
                </a:solidFill>
                <a:latin typeface="Calibri" pitchFamily="34" charset="0"/>
                <a:ea typeface="Calibri" pitchFamily="34" charset="-122"/>
                <a:cs typeface="Calibri" pitchFamily="34" charset="-120"/>
              </a:rPr>
              <a:t>Watch on the dashboard  </a:t>
            </a:r>
            <a:r>
              <a:rPr lang="en-US" sz="1000" dirty="0">
                <a:solidFill>
                  <a:srgbClr val="55637A"/>
                </a:solidFill>
                <a:latin typeface="Calibri" pitchFamily="34" charset="0"/>
                <a:ea typeface="Calibri" pitchFamily="34" charset="-122"/>
                <a:cs typeface="Calibri" pitchFamily="34" charset="-120"/>
              </a:rPr>
              <a:t>Cost Concentration: the cumulative % for the first 1% of members should fall below 13%.</a:t>
            </a:r>
            <a:endParaRPr lang="en-US" sz="1000" dirty="0"/>
          </a:p>
        </p:txBody>
      </p:sp>
      <p:sp>
        <p:nvSpPr>
          <p:cNvPr id="24" name="Shape 20"/>
          <p:cNvSpPr/>
          <p:nvPr/>
        </p:nvSpPr>
        <p:spPr>
          <a:xfrm>
            <a:off x="8046720" y="1691640"/>
            <a:ext cx="3657600" cy="3520440"/>
          </a:xfrm>
          <a:prstGeom prst="roundRect">
            <a:avLst>
              <a:gd name="adj" fmla="val 311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1"/>
          <p:cNvSpPr/>
          <p:nvPr/>
        </p:nvSpPr>
        <p:spPr>
          <a:xfrm>
            <a:off x="8275320" y="1874520"/>
            <a:ext cx="420624" cy="420624"/>
          </a:xfrm>
          <a:prstGeom prst="ellipse">
            <a:avLst/>
          </a:prstGeom>
          <a:solidFill>
            <a:srgbClr val="203370"/>
          </a:solidFill>
          <a:ln w="12700">
            <a:solidFill>
              <a:srgbClr val="203370"/>
            </a:solidFill>
            <a:prstDash val="solid"/>
          </a:ln>
        </p:spPr>
        <p:txBody>
          <a:bodyPr/>
          <a:lstStyle/>
          <a:p>
            <a:endParaRPr lang="en-US"/>
          </a:p>
        </p:txBody>
      </p:sp>
      <p:sp>
        <p:nvSpPr>
          <p:cNvPr id="26" name="Text 22"/>
          <p:cNvSpPr txBox="1"/>
          <p:nvPr/>
        </p:nvSpPr>
        <p:spPr>
          <a:xfrm>
            <a:off x="8275320" y="187452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3"/>
          <p:cNvSpPr txBox="1"/>
          <p:nvPr/>
        </p:nvSpPr>
        <p:spPr>
          <a:xfrm>
            <a:off x="8823960" y="1847088"/>
            <a:ext cx="2743200" cy="502920"/>
          </a:xfrm>
          <a:prstGeom prst="rect">
            <a:avLst/>
          </a:prstGeom>
          <a:noFill/>
          <a:ln/>
        </p:spPr>
        <p:txBody>
          <a:bodyPr wrap="square" lIns="0" tIns="0" rIns="0" bIns="0" rtlCol="0" anchor="ctr"/>
          <a:lstStyle/>
          <a:p>
            <a:pPr marL="0" indent="0">
              <a:buNone/>
            </a:pPr>
            <a:r>
              <a:rPr lang="en-US" sz="1400" b="1" dirty="0">
                <a:solidFill>
                  <a:srgbClr val="203370"/>
                </a:solidFill>
                <a:latin typeface="Calibri" pitchFamily="34" charset="0"/>
                <a:ea typeface="Calibri" pitchFamily="34" charset="-122"/>
                <a:cs typeface="Calibri" pitchFamily="34" charset="-120"/>
              </a:rPr>
              <a:t>October pricing and benefit design</a:t>
            </a:r>
            <a:endParaRPr lang="en-US" sz="1400" dirty="0"/>
          </a:p>
        </p:txBody>
      </p:sp>
      <p:sp>
        <p:nvSpPr>
          <p:cNvPr id="28" name="Text 24"/>
          <p:cNvSpPr txBox="1"/>
          <p:nvPr/>
        </p:nvSpPr>
        <p:spPr>
          <a:xfrm>
            <a:off x="8275320" y="2468880"/>
            <a:ext cx="3200400" cy="868680"/>
          </a:xfrm>
          <a:prstGeom prst="rect">
            <a:avLst/>
          </a:prstGeom>
          <a:noFill/>
          <a:ln/>
        </p:spPr>
        <p:txBody>
          <a:bodyPr wrap="square" lIns="0" tIns="0" rIns="0" bIns="0" rtlCol="0" anchor="t"/>
          <a:lstStyle/>
          <a:p>
            <a:pPr marL="0" indent="0">
              <a:buNone/>
            </a:pPr>
            <a:r>
              <a:rPr lang="en-US" sz="1200" dirty="0">
                <a:solidFill>
                  <a:srgbClr val="33404F"/>
                </a:solidFill>
                <a:latin typeface="Calibri" pitchFamily="34" charset="0"/>
                <a:ea typeface="Calibri" pitchFamily="34" charset="-122"/>
                <a:cs typeface="Calibri" pitchFamily="34" charset="-120"/>
              </a:rPr>
              <a:t>Re-examine October pricing and benefit design ahead of the next renewal and plan claims capacity for month 12.</a:t>
            </a:r>
            <a:endParaRPr lang="en-US" sz="1200" dirty="0"/>
          </a:p>
        </p:txBody>
      </p:sp>
      <p:sp>
        <p:nvSpPr>
          <p:cNvPr id="29" name="Shape 25"/>
          <p:cNvSpPr/>
          <p:nvPr/>
        </p:nvSpPr>
        <p:spPr>
          <a:xfrm>
            <a:off x="8275320" y="3383280"/>
            <a:ext cx="3200400" cy="0"/>
          </a:xfrm>
          <a:prstGeom prst="line">
            <a:avLst/>
          </a:prstGeom>
          <a:noFill/>
          <a:ln w="12700">
            <a:solidFill>
              <a:srgbClr val="DCE5EC"/>
            </a:solidFill>
            <a:prstDash val="solid"/>
          </a:ln>
        </p:spPr>
        <p:txBody>
          <a:bodyPr/>
          <a:lstStyle/>
          <a:p>
            <a:endParaRPr lang="en-US"/>
          </a:p>
        </p:txBody>
      </p:sp>
      <p:sp>
        <p:nvSpPr>
          <p:cNvPr id="30" name="Text 26"/>
          <p:cNvSpPr txBox="1"/>
          <p:nvPr/>
        </p:nvSpPr>
        <p:spPr>
          <a:xfrm>
            <a:off x="8275320" y="3474720"/>
            <a:ext cx="3200400" cy="914400"/>
          </a:xfrm>
          <a:prstGeom prst="rect">
            <a:avLst/>
          </a:prstGeom>
          <a:noFill/>
          <a:ln/>
        </p:spPr>
        <p:txBody>
          <a:bodyPr wrap="square" lIns="0" tIns="0" rIns="0" bIns="0" rtlCol="0" anchor="t"/>
          <a:lstStyle/>
          <a:p>
            <a:pPr marL="0" indent="0">
              <a:buNone/>
            </a:pPr>
            <a:r>
              <a:rPr lang="en-US" sz="1000" b="1" dirty="0">
                <a:solidFill>
                  <a:srgbClr val="C98A2B"/>
                </a:solidFill>
                <a:latin typeface="Calibri" pitchFamily="34" charset="0"/>
                <a:ea typeface="Calibri" pitchFamily="34" charset="-122"/>
                <a:cs typeface="Calibri" pitchFamily="34" charset="-120"/>
              </a:rPr>
              <a:t>Why  </a:t>
            </a:r>
            <a:r>
              <a:rPr lang="en-US" sz="1000" dirty="0">
                <a:solidFill>
                  <a:srgbClr val="55637A"/>
                </a:solidFill>
                <a:latin typeface="Calibri" pitchFamily="34" charset="0"/>
                <a:ea typeface="Calibri" pitchFamily="34" charset="-122"/>
                <a:cs typeface="Calibri" pitchFamily="34" charset="-120"/>
              </a:rPr>
              <a:t>Claims run 25–30% above a normal month every October, two years running, paid +18–19%.</a:t>
            </a:r>
            <a:endParaRPr lang="en-US" sz="1000" dirty="0"/>
          </a:p>
        </p:txBody>
      </p:sp>
      <p:sp>
        <p:nvSpPr>
          <p:cNvPr id="31" name="Text 27"/>
          <p:cNvSpPr txBox="1"/>
          <p:nvPr/>
        </p:nvSpPr>
        <p:spPr>
          <a:xfrm>
            <a:off x="8275320" y="4434840"/>
            <a:ext cx="3200400" cy="731520"/>
          </a:xfrm>
          <a:prstGeom prst="rect">
            <a:avLst/>
          </a:prstGeom>
          <a:noFill/>
          <a:ln/>
        </p:spPr>
        <p:txBody>
          <a:bodyPr wrap="square" lIns="0" tIns="0" rIns="0" bIns="0" rtlCol="0" anchor="t"/>
          <a:lstStyle/>
          <a:p>
            <a:pPr marL="0" indent="0">
              <a:buNone/>
            </a:pPr>
            <a:r>
              <a:rPr lang="en-US" sz="1000" b="1" dirty="0">
                <a:solidFill>
                  <a:srgbClr val="2E8B78"/>
                </a:solidFill>
                <a:latin typeface="Calibri" pitchFamily="34" charset="0"/>
                <a:ea typeface="Calibri" pitchFamily="34" charset="-122"/>
                <a:cs typeface="Calibri" pitchFamily="34" charset="-120"/>
              </a:rPr>
              <a:t>Watch on the dashboard  </a:t>
            </a:r>
            <a:r>
              <a:rPr lang="en-US" sz="1000" dirty="0">
                <a:solidFill>
                  <a:srgbClr val="55637A"/>
                </a:solidFill>
                <a:latin typeface="Calibri" pitchFamily="34" charset="0"/>
                <a:ea typeface="Calibri" pitchFamily="34" charset="-122"/>
                <a:cs typeface="Calibri" pitchFamily="34" charset="-120"/>
              </a:rPr>
              <a:t>The October Spike: month 12 versus the average of months 1–11 - the gap should narrow next renewal.</a:t>
            </a:r>
            <a:endParaRPr lang="en-US" sz="1000" dirty="0"/>
          </a:p>
        </p:txBody>
      </p:sp>
      <p:sp>
        <p:nvSpPr>
          <p:cNvPr id="33" name="Text 29"/>
          <p:cNvSpPr txBox="1"/>
          <p:nvPr/>
        </p:nvSpPr>
        <p:spPr>
          <a:xfrm>
            <a:off x="457200" y="5403900"/>
            <a:ext cx="11247120" cy="777240"/>
          </a:xfrm>
          <a:prstGeom prst="roundRect">
            <a:avLst/>
          </a:prstGeom>
          <a:solidFill>
            <a:schemeClr val="accent1">
              <a:lumMod val="50000"/>
            </a:schemeClr>
          </a:solidFill>
          <a:ln/>
        </p:spPr>
        <p:txBody>
          <a:bodyPr wrap="square" lIns="0" tIns="0" rIns="0" bIns="0" rtlCol="0" anchor="ctr"/>
          <a:lstStyle/>
          <a:p>
            <a:pPr marL="55563">
              <a:buNone/>
            </a:pPr>
            <a:r>
              <a:rPr lang="en-US" sz="1100" b="1" dirty="0">
                <a:solidFill>
                  <a:srgbClr val="C98A2B"/>
                </a:solidFill>
                <a:latin typeface="Calibri" pitchFamily="34" charset="0"/>
                <a:ea typeface="Calibri" pitchFamily="34" charset="-122"/>
                <a:cs typeface="Calibri" pitchFamily="34" charset="-120"/>
              </a:rPr>
              <a:t>Known limitation  </a:t>
            </a:r>
            <a:r>
              <a:rPr lang="en-US" sz="1100" dirty="0">
                <a:solidFill>
                  <a:schemeClr val="bg1"/>
                </a:solidFill>
                <a:latin typeface="Calibri" pitchFamily="34" charset="0"/>
                <a:ea typeface="Calibri" pitchFamily="34" charset="-122"/>
                <a:cs typeface="Calibri" pitchFamily="34" charset="-120"/>
              </a:rPr>
              <a:t>We don't yet have premium or benefit-limit data, so we can't calculate a loss ratio - that's the natural next step once we have it. The two levers we can see are frequency (visits) and severity (cost per visit), each recommendation targets one of them. Also worth adding: a real target on the page-4 KPI tiles, and the reimbursement channel (30% of paid on 14% of claims) as a fourth lever.</a:t>
            </a:r>
            <a:endParaRPr lang="en-US" sz="110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Helpline performance - one page, nine visuals</a:t>
            </a:r>
            <a:endParaRPr lang="en-US" sz="2500" dirty="0"/>
          </a:p>
        </p:txBody>
      </p:sp>
      <p:sp>
        <p:nvSpPr>
          <p:cNvPr id="5" name="Shape 1"/>
          <p:cNvSpPr/>
          <p:nvPr/>
        </p:nvSpPr>
        <p:spPr>
          <a:xfrm>
            <a:off x="9331452" y="1069848"/>
            <a:ext cx="2418588"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9331452" y="1069848"/>
            <a:ext cx="2418588"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2  ·  POWER BI  ·  MAP</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16 / 24</a:t>
            </a:r>
            <a:endParaRPr lang="en-US" sz="900" dirty="0"/>
          </a:p>
        </p:txBody>
      </p:sp>
      <p:pic>
        <p:nvPicPr>
          <p:cNvPr id="9" name="Image 2" descr="crops_small/t2_full.jpg"/>
          <p:cNvPicPr>
            <a:picLocks noChangeAspect="1"/>
          </p:cNvPicPr>
          <p:nvPr/>
        </p:nvPicPr>
        <p:blipFill>
          <a:blip r:embed="rId6"/>
          <a:srcRect l="823" t="1324" r="663" b="1038"/>
          <a:stretch>
            <a:fillRect/>
          </a:stretch>
        </p:blipFill>
        <p:spPr>
          <a:xfrm>
            <a:off x="625637" y="1834525"/>
            <a:ext cx="6898106" cy="3794409"/>
          </a:xfrm>
          <a:prstGeom prst="rect">
            <a:avLst/>
          </a:prstGeom>
          <a:ln>
            <a:noFill/>
          </a:ln>
          <a:effectLst>
            <a:outerShdw blurRad="292100" dist="139700" dir="2700000" algn="tl" rotWithShape="0">
              <a:srgbClr val="333333">
                <a:alpha val="65000"/>
              </a:srgbClr>
            </a:outerShdw>
          </a:effectLst>
        </p:spPr>
      </p:pic>
      <p:sp>
        <p:nvSpPr>
          <p:cNvPr id="10" name="Text 5"/>
          <p:cNvSpPr txBox="1"/>
          <p:nvPr/>
        </p:nvSpPr>
        <p:spPr>
          <a:xfrm>
            <a:off x="594360" y="5715000"/>
            <a:ext cx="7040880" cy="274320"/>
          </a:xfrm>
          <a:prstGeom prst="rect">
            <a:avLst/>
          </a:prstGeom>
          <a:noFill/>
          <a:ln/>
        </p:spPr>
        <p:txBody>
          <a:bodyPr wrap="square" lIns="0" tIns="0" rIns="0" bIns="0" rtlCol="0" anchor="ctr"/>
          <a:lstStyle/>
          <a:p>
            <a:pPr marL="0" indent="0">
              <a:buNone/>
            </a:pPr>
            <a:r>
              <a:rPr lang="en-US" sz="900" i="1" dirty="0">
                <a:solidFill>
                  <a:schemeClr val="tx1">
                    <a:lumMod val="50000"/>
                    <a:lumOff val="50000"/>
                  </a:schemeClr>
                </a:solidFill>
                <a:latin typeface="Calibri" pitchFamily="34" charset="0"/>
                <a:ea typeface="Calibri" pitchFamily="34" charset="-122"/>
                <a:cs typeface="Calibri" pitchFamily="34" charset="-120"/>
              </a:rPr>
              <a:t>The single report page - six KPIs, filterable by Hotline # (Application Name) and by Queue Name, 9 days of call records (1–9 January 2023)</a:t>
            </a:r>
            <a:endParaRPr lang="en-US" sz="900" dirty="0">
              <a:solidFill>
                <a:schemeClr val="tx1">
                  <a:lumMod val="50000"/>
                  <a:lumOff val="50000"/>
                </a:schemeClr>
              </a:solidFill>
            </a:endParaRPr>
          </a:p>
        </p:txBody>
      </p:sp>
      <p:sp>
        <p:nvSpPr>
          <p:cNvPr id="11" name="Shape 6"/>
          <p:cNvSpPr/>
          <p:nvPr/>
        </p:nvSpPr>
        <p:spPr>
          <a:xfrm>
            <a:off x="7863840" y="1691640"/>
            <a:ext cx="3886200" cy="4343400"/>
          </a:xfrm>
          <a:prstGeom prst="roundRect">
            <a:avLst>
              <a:gd name="adj" fmla="val 2824"/>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7"/>
          <p:cNvSpPr txBox="1"/>
          <p:nvPr/>
        </p:nvSpPr>
        <p:spPr>
          <a:xfrm>
            <a:off x="8046720" y="1783080"/>
            <a:ext cx="3566160" cy="292608"/>
          </a:xfrm>
          <a:prstGeom prst="rect">
            <a:avLst/>
          </a:prstGeom>
          <a:noFill/>
          <a:ln/>
        </p:spPr>
        <p:txBody>
          <a:bodyPr wrap="square" lIns="0" tIns="0" rIns="0" bIns="0" rtlCol="0" anchor="ctr"/>
          <a:lstStyle/>
          <a:p>
            <a:pPr marL="0" indent="0">
              <a:buNone/>
            </a:pPr>
            <a:r>
              <a:rPr lang="en-US" sz="1200" b="1" dirty="0">
                <a:solidFill>
                  <a:srgbClr val="203370"/>
                </a:solidFill>
                <a:latin typeface="Calibri" pitchFamily="34" charset="0"/>
                <a:ea typeface="Calibri" pitchFamily="34" charset="-122"/>
                <a:cs typeface="Calibri" pitchFamily="34" charset="-120"/>
              </a:rPr>
              <a:t>The nine visuals</a:t>
            </a:r>
            <a:endParaRPr lang="en-US" sz="1200" dirty="0"/>
          </a:p>
        </p:txBody>
      </p:sp>
      <p:sp>
        <p:nvSpPr>
          <p:cNvPr id="13" name="Text 8"/>
          <p:cNvSpPr txBox="1"/>
          <p:nvPr/>
        </p:nvSpPr>
        <p:spPr>
          <a:xfrm>
            <a:off x="8046720" y="2121408"/>
            <a:ext cx="3566160" cy="3108960"/>
          </a:xfrm>
          <a:prstGeom prst="rect">
            <a:avLst/>
          </a:prstGeom>
          <a:noFill/>
          <a:ln/>
        </p:spPr>
        <p:txBody>
          <a:bodyPr wrap="square" lIns="0" tIns="0" rIns="0" bIns="0" rtlCol="0" anchor="t"/>
          <a:lstStyle/>
          <a:p>
            <a:pPr marL="342900" indent="-225425">
              <a:spcAft>
                <a:spcPts val="300"/>
              </a:spcAft>
              <a:buSzPct val="100000"/>
              <a:buFont typeface="+mj-lt"/>
              <a:buAutoNum type="arabicPeriod"/>
            </a:pPr>
            <a:r>
              <a:rPr lang="en-US" sz="950" dirty="0">
                <a:solidFill>
                  <a:srgbClr val="33404F"/>
                </a:solidFill>
                <a:latin typeface="Calibri" pitchFamily="34" charset="0"/>
                <a:ea typeface="Calibri" pitchFamily="34" charset="-122"/>
                <a:cs typeface="Calibri" pitchFamily="34" charset="-120"/>
              </a:rPr>
              <a:t>KPI strip - Calls Offered · Calls Handled · Abandonment Rate · Service Level 20s · ASA · AHT</a:t>
            </a:r>
            <a:endParaRPr lang="en-US" sz="950" dirty="0"/>
          </a:p>
          <a:p>
            <a:pPr marL="342900" indent="-225425">
              <a:spcAft>
                <a:spcPts val="300"/>
              </a:spcAft>
              <a:buSzPct val="100000"/>
              <a:buFont typeface="+mj-lt"/>
              <a:buAutoNum type="arabicPeriod"/>
            </a:pPr>
            <a:r>
              <a:rPr lang="en-US" sz="950" dirty="0">
                <a:solidFill>
                  <a:srgbClr val="33404F"/>
                </a:solidFill>
                <a:latin typeface="Calibri" pitchFamily="34" charset="0"/>
                <a:ea typeface="Calibri" pitchFamily="34" charset="-122"/>
                <a:cs typeface="Calibri" pitchFamily="34" charset="-120"/>
              </a:rPr>
              <a:t>Calls by hour of day vs abandonment rate (combo)</a:t>
            </a:r>
            <a:endParaRPr lang="en-US" sz="950" dirty="0"/>
          </a:p>
          <a:p>
            <a:pPr marL="342900" indent="-225425">
              <a:spcAft>
                <a:spcPts val="300"/>
              </a:spcAft>
              <a:buSzPct val="100000"/>
              <a:buFont typeface="+mj-lt"/>
              <a:buAutoNum type="arabicPeriod"/>
            </a:pPr>
            <a:r>
              <a:rPr lang="en-US" sz="950" dirty="0">
                <a:solidFill>
                  <a:srgbClr val="33404F"/>
                </a:solidFill>
                <a:latin typeface="Calibri" pitchFamily="34" charset="0"/>
                <a:ea typeface="Calibri" pitchFamily="34" charset="-122"/>
                <a:cs typeface="Calibri" pitchFamily="34" charset="-120"/>
              </a:rPr>
              <a:t>Calls and abandonment by day (clustered column)</a:t>
            </a:r>
            <a:endParaRPr lang="en-US" sz="950" dirty="0"/>
          </a:p>
          <a:p>
            <a:pPr marL="342900" indent="-225425">
              <a:spcAft>
                <a:spcPts val="300"/>
              </a:spcAft>
              <a:buSzPct val="100000"/>
              <a:buFont typeface="+mj-lt"/>
              <a:buAutoNum type="arabicPeriod"/>
            </a:pPr>
            <a:r>
              <a:rPr lang="en-US" sz="950" dirty="0">
                <a:solidFill>
                  <a:srgbClr val="33404F"/>
                </a:solidFill>
                <a:latin typeface="Calibri" pitchFamily="34" charset="0"/>
                <a:ea typeface="Calibri" pitchFamily="34" charset="-122"/>
                <a:cs typeface="Calibri" pitchFamily="34" charset="-120"/>
              </a:rPr>
              <a:t>Queue performance (table)</a:t>
            </a:r>
            <a:endParaRPr lang="en-US" sz="950" dirty="0"/>
          </a:p>
          <a:p>
            <a:pPr marL="342900" indent="-225425">
              <a:spcAft>
                <a:spcPts val="300"/>
              </a:spcAft>
              <a:buSzPct val="100000"/>
              <a:buFont typeface="+mj-lt"/>
              <a:buAutoNum type="arabicPeriod"/>
            </a:pPr>
            <a:r>
              <a:rPr lang="en-US" sz="950" dirty="0">
                <a:solidFill>
                  <a:srgbClr val="33404F"/>
                </a:solidFill>
                <a:latin typeface="Calibri" pitchFamily="34" charset="0"/>
                <a:ea typeface="Calibri" pitchFamily="34" charset="-122"/>
                <a:cs typeface="Calibri" pitchFamily="34" charset="-120"/>
              </a:rPr>
              <a:t>Slicer buttons - Queue Name</a:t>
            </a:r>
            <a:endParaRPr lang="en-US" sz="950" dirty="0"/>
          </a:p>
          <a:p>
            <a:pPr marL="342900" indent="-225425">
              <a:spcAft>
                <a:spcPts val="300"/>
              </a:spcAft>
              <a:buSzPct val="100000"/>
              <a:buFont typeface="+mj-lt"/>
              <a:buAutoNum type="arabicPeriod"/>
            </a:pPr>
            <a:r>
              <a:rPr lang="en-US" sz="950" dirty="0">
                <a:solidFill>
                  <a:srgbClr val="33404F"/>
                </a:solidFill>
                <a:latin typeface="Calibri" pitchFamily="34" charset="0"/>
                <a:ea typeface="Calibri" pitchFamily="34" charset="-122"/>
                <a:cs typeface="Calibri" pitchFamily="34" charset="-120"/>
              </a:rPr>
              <a:t>Slicer buttons - Application Name (Hotline #)</a:t>
            </a:r>
            <a:endParaRPr lang="en-US" sz="950" dirty="0"/>
          </a:p>
          <a:p>
            <a:pPr marL="342900" indent="-225425">
              <a:spcAft>
                <a:spcPts val="300"/>
              </a:spcAft>
              <a:buSzPct val="100000"/>
              <a:buFont typeface="+mj-lt"/>
              <a:buAutoNum type="arabicPeriod"/>
            </a:pPr>
            <a:r>
              <a:rPr lang="en-US" sz="950" dirty="0">
                <a:solidFill>
                  <a:srgbClr val="33404F"/>
                </a:solidFill>
                <a:latin typeface="Calibri" pitchFamily="34" charset="0"/>
                <a:ea typeface="Calibri" pitchFamily="34" charset="-122"/>
                <a:cs typeface="Calibri" pitchFamily="34" charset="-120"/>
              </a:rPr>
              <a:t>Abandonment rate day of week × hour (matrix heat map)</a:t>
            </a:r>
            <a:endParaRPr lang="en-US" sz="950" dirty="0"/>
          </a:p>
          <a:p>
            <a:pPr marL="342900" indent="-225425">
              <a:spcAft>
                <a:spcPts val="300"/>
              </a:spcAft>
              <a:buSzPct val="100000"/>
              <a:buFont typeface="+mj-lt"/>
              <a:buAutoNum type="arabicPeriod"/>
            </a:pPr>
            <a:r>
              <a:rPr lang="en-US" sz="950" dirty="0">
                <a:solidFill>
                  <a:srgbClr val="33404F"/>
                </a:solidFill>
                <a:latin typeface="Calibri" pitchFamily="34" charset="0"/>
                <a:ea typeface="Calibri" pitchFamily="34" charset="-122"/>
                <a:cs typeface="Calibri" pitchFamily="34" charset="-120"/>
              </a:rPr>
              <a:t>Calls by hotline with abandonment rate (bar)</a:t>
            </a:r>
            <a:endParaRPr lang="en-US" sz="950" dirty="0"/>
          </a:p>
          <a:p>
            <a:pPr marL="342900" indent="-225425">
              <a:spcAft>
                <a:spcPts val="300"/>
              </a:spcAft>
              <a:buSzPct val="100000"/>
              <a:buFont typeface="+mj-lt"/>
              <a:buAutoNum type="arabicPeriod"/>
            </a:pPr>
            <a:r>
              <a:rPr lang="en-US" sz="950" dirty="0">
                <a:solidFill>
                  <a:srgbClr val="33404F"/>
                </a:solidFill>
                <a:latin typeface="Calibri" pitchFamily="34" charset="0"/>
                <a:ea typeface="Calibri" pitchFamily="34" charset="-122"/>
                <a:cs typeface="Calibri" pitchFamily="34" charset="-120"/>
              </a:rPr>
              <a:t>Average Handle Time vs Speed of Answer by date (stacked column)</a:t>
            </a:r>
            <a:endParaRPr lang="en-US" sz="950" dirty="0"/>
          </a:p>
        </p:txBody>
      </p:sp>
      <p:sp>
        <p:nvSpPr>
          <p:cNvPr id="14" name="Text 9"/>
          <p:cNvSpPr txBox="1"/>
          <p:nvPr/>
        </p:nvSpPr>
        <p:spPr>
          <a:xfrm>
            <a:off x="8046720" y="5257800"/>
            <a:ext cx="3566160" cy="685800"/>
          </a:xfrm>
          <a:prstGeom prst="rect">
            <a:avLst/>
          </a:prstGeom>
          <a:noFill/>
          <a:ln/>
        </p:spPr>
        <p:txBody>
          <a:bodyPr wrap="square" lIns="0" tIns="0" rIns="0" bIns="0" rtlCol="0" anchor="t"/>
          <a:lstStyle/>
          <a:p>
            <a:pPr marL="0" indent="0">
              <a:buNone/>
            </a:pPr>
            <a:r>
              <a:rPr lang="en-US" sz="900" i="1" dirty="0">
                <a:solidFill>
                  <a:srgbClr val="55637A"/>
                </a:solidFill>
                <a:latin typeface="Calibri" pitchFamily="34" charset="0"/>
                <a:ea typeface="Calibri" pitchFamily="34" charset="-122"/>
                <a:cs typeface="Calibri" pitchFamily="34" charset="-120"/>
              </a:rPr>
              <a:t>Built to the brief: 5–10 KPIs (six), several time frames (hour, weekday, date, day × hour), drill-down by Hotline # and by Queue Name.</a:t>
            </a:r>
            <a:endParaRPr lang="en-US" sz="900" dirty="0"/>
          </a:p>
        </p:txBody>
      </p:sp>
      <p:sp>
        <p:nvSpPr>
          <p:cNvPr id="16" name="Text 11"/>
          <p:cNvSpPr txBox="1"/>
          <p:nvPr/>
        </p:nvSpPr>
        <p:spPr>
          <a:xfrm>
            <a:off x="640080" y="6053328"/>
            <a:ext cx="6883663" cy="393192"/>
          </a:xfrm>
          <a:prstGeom prst="roundRect">
            <a:avLst/>
          </a:prstGeom>
          <a:solidFill>
            <a:schemeClr val="accent1">
              <a:lumMod val="50000"/>
            </a:schemeClr>
          </a:solidFill>
          <a:ln/>
        </p:spPr>
        <p:txBody>
          <a:bodyPr wrap="square" lIns="0" tIns="0" rIns="0" bIns="0" rtlCol="0" anchor="ctr"/>
          <a:lstStyle/>
          <a:p>
            <a:pPr marL="55563">
              <a:buNone/>
            </a:pPr>
            <a:r>
              <a:rPr lang="en-US" sz="1050" b="1" dirty="0">
                <a:solidFill>
                  <a:schemeClr val="bg1"/>
                </a:solidFill>
                <a:latin typeface="Calibri" pitchFamily="34" charset="0"/>
                <a:ea typeface="Calibri" pitchFamily="34" charset="-122"/>
                <a:cs typeface="Calibri" pitchFamily="34" charset="-120"/>
              </a:rPr>
              <a:t>We handled 37K calls in nine days. </a:t>
            </a:r>
          </a:p>
          <a:p>
            <a:pPr marL="55563">
              <a:buNone/>
            </a:pPr>
            <a:r>
              <a:rPr lang="en-US" sz="1050" b="1" dirty="0">
                <a:solidFill>
                  <a:schemeClr val="bg1"/>
                </a:solidFill>
                <a:latin typeface="Calibri" pitchFamily="34" charset="0"/>
                <a:ea typeface="Calibri" pitchFamily="34" charset="-122"/>
                <a:cs typeface="Calibri" pitchFamily="34" charset="-120"/>
              </a:rPr>
              <a:t>One in five callers hung up before we answered - and it's worse than it looks, because it isn't spread evenly.</a:t>
            </a:r>
            <a:endParaRPr lang="en-US" sz="105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Helpline · the six scorecards</a:t>
            </a:r>
            <a:endParaRPr lang="en-US" sz="2500" dirty="0"/>
          </a:p>
        </p:txBody>
      </p:sp>
      <p:sp>
        <p:nvSpPr>
          <p:cNvPr id="5" name="Shape 1"/>
          <p:cNvSpPr/>
          <p:nvPr/>
        </p:nvSpPr>
        <p:spPr>
          <a:xfrm>
            <a:off x="9564624" y="1069848"/>
            <a:ext cx="2185416"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9564624" y="1069848"/>
            <a:ext cx="2185416"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2  ·  VISUAL 1 OF 9</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17 / 24</a:t>
            </a:r>
            <a:endParaRPr lang="en-US" sz="900" dirty="0"/>
          </a:p>
        </p:txBody>
      </p:sp>
      <p:pic>
        <p:nvPicPr>
          <p:cNvPr id="9" name="Image 2" descr="crops_small/t2_kpis.jpg"/>
          <p:cNvPicPr>
            <a:picLocks noChangeAspect="1"/>
          </p:cNvPicPr>
          <p:nvPr/>
        </p:nvPicPr>
        <p:blipFill>
          <a:blip r:embed="rId6"/>
          <a:stretch>
            <a:fillRect/>
          </a:stretch>
        </p:blipFill>
        <p:spPr>
          <a:xfrm>
            <a:off x="1765226" y="1783080"/>
            <a:ext cx="8676788" cy="594360"/>
          </a:xfrm>
          <a:prstGeom prst="rect">
            <a:avLst/>
          </a:prstGeom>
          <a:ln>
            <a:noFill/>
          </a:ln>
          <a:effectLst>
            <a:outerShdw blurRad="292100" dist="139700" dir="2700000" algn="tl" rotWithShape="0">
              <a:srgbClr val="333333">
                <a:alpha val="65000"/>
              </a:srgbClr>
            </a:outerShdw>
          </a:effectLst>
        </p:spPr>
      </p:pic>
      <p:sp>
        <p:nvSpPr>
          <p:cNvPr id="10" name="Shape 5"/>
          <p:cNvSpPr/>
          <p:nvPr/>
        </p:nvSpPr>
        <p:spPr>
          <a:xfrm>
            <a:off x="457200" y="2651760"/>
            <a:ext cx="3703320" cy="1572768"/>
          </a:xfrm>
          <a:prstGeom prst="roundRect">
            <a:avLst>
              <a:gd name="adj" fmla="val 697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6"/>
          <p:cNvSpPr txBox="1"/>
          <p:nvPr/>
        </p:nvSpPr>
        <p:spPr>
          <a:xfrm>
            <a:off x="594360" y="272491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CALLS OFFERED</a:t>
            </a:r>
            <a:endParaRPr lang="en-US" sz="950" dirty="0"/>
          </a:p>
        </p:txBody>
      </p:sp>
      <p:sp>
        <p:nvSpPr>
          <p:cNvPr id="12" name="Text 7"/>
          <p:cNvSpPr txBox="1"/>
          <p:nvPr/>
        </p:nvSpPr>
        <p:spPr>
          <a:xfrm>
            <a:off x="594360" y="2980944"/>
            <a:ext cx="3429000" cy="457200"/>
          </a:xfrm>
          <a:prstGeom prst="rect">
            <a:avLst/>
          </a:prstGeom>
          <a:noFill/>
          <a:ln/>
        </p:spPr>
        <p:txBody>
          <a:bodyPr wrap="square" lIns="0" tIns="0" rIns="0" bIns="0" rtlCol="0" anchor="ctr"/>
          <a:lstStyle/>
          <a:p>
            <a:pPr marL="0" indent="0">
              <a:buNone/>
            </a:pPr>
            <a:r>
              <a:rPr lang="en-US" sz="2200" b="1" dirty="0">
                <a:solidFill>
                  <a:srgbClr val="203370"/>
                </a:solidFill>
                <a:latin typeface="Calibri" pitchFamily="34" charset="0"/>
                <a:ea typeface="Calibri" pitchFamily="34" charset="-122"/>
                <a:cs typeface="Calibri" pitchFamily="34" charset="-120"/>
              </a:rPr>
              <a:t>36,872</a:t>
            </a:r>
            <a:endParaRPr lang="en-US" sz="2200" dirty="0"/>
          </a:p>
        </p:txBody>
      </p:sp>
      <p:sp>
        <p:nvSpPr>
          <p:cNvPr id="13" name="Text 8"/>
          <p:cNvSpPr txBox="1"/>
          <p:nvPr/>
        </p:nvSpPr>
        <p:spPr>
          <a:xfrm>
            <a:off x="594360" y="3474720"/>
            <a:ext cx="3429000" cy="658368"/>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Distinct call IDs, not rows: 36,991 rows minus 119 transfer legs (117 calls handled by two agents). Counts callers, not legs.</a:t>
            </a:r>
            <a:endParaRPr lang="en-US" sz="950" dirty="0"/>
          </a:p>
        </p:txBody>
      </p:sp>
      <p:sp>
        <p:nvSpPr>
          <p:cNvPr id="14" name="Shape 9"/>
          <p:cNvSpPr/>
          <p:nvPr/>
        </p:nvSpPr>
        <p:spPr>
          <a:xfrm>
            <a:off x="4251960" y="2651760"/>
            <a:ext cx="3703320" cy="1572768"/>
          </a:xfrm>
          <a:prstGeom prst="roundRect">
            <a:avLst>
              <a:gd name="adj" fmla="val 697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0"/>
          <p:cNvSpPr txBox="1"/>
          <p:nvPr/>
        </p:nvSpPr>
        <p:spPr>
          <a:xfrm>
            <a:off x="4389120" y="272491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CALLS HANDLED</a:t>
            </a:r>
            <a:endParaRPr lang="en-US" sz="950" dirty="0"/>
          </a:p>
        </p:txBody>
      </p:sp>
      <p:sp>
        <p:nvSpPr>
          <p:cNvPr id="16" name="Text 11"/>
          <p:cNvSpPr txBox="1"/>
          <p:nvPr/>
        </p:nvSpPr>
        <p:spPr>
          <a:xfrm>
            <a:off x="4389120" y="2980944"/>
            <a:ext cx="3429000" cy="457200"/>
          </a:xfrm>
          <a:prstGeom prst="rect">
            <a:avLst/>
          </a:prstGeom>
          <a:noFill/>
          <a:ln/>
        </p:spPr>
        <p:txBody>
          <a:bodyPr wrap="square" lIns="0" tIns="0" rIns="0" bIns="0" rtlCol="0" anchor="ctr"/>
          <a:lstStyle/>
          <a:p>
            <a:pPr marL="0" indent="0">
              <a:buNone/>
            </a:pPr>
            <a:r>
              <a:rPr lang="en-US" sz="2200" b="1" dirty="0">
                <a:solidFill>
                  <a:srgbClr val="203370"/>
                </a:solidFill>
                <a:latin typeface="Calibri" pitchFamily="34" charset="0"/>
                <a:ea typeface="Calibri" pitchFamily="34" charset="-122"/>
                <a:cs typeface="Calibri" pitchFamily="34" charset="-120"/>
              </a:rPr>
              <a:t>28,864</a:t>
            </a:r>
            <a:endParaRPr lang="en-US" sz="2200" dirty="0"/>
          </a:p>
        </p:txBody>
      </p:sp>
      <p:sp>
        <p:nvSpPr>
          <p:cNvPr id="17" name="Text 12"/>
          <p:cNvSpPr txBox="1"/>
          <p:nvPr/>
        </p:nvSpPr>
        <p:spPr>
          <a:xfrm>
            <a:off x="4389120" y="3474720"/>
            <a:ext cx="3429000" cy="658368"/>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78.3% of callers reached an agent. 120 agent extensions answered - about 240 handled calls each over nine days.</a:t>
            </a:r>
            <a:endParaRPr lang="en-US" sz="950" dirty="0"/>
          </a:p>
        </p:txBody>
      </p:sp>
      <p:sp>
        <p:nvSpPr>
          <p:cNvPr id="18" name="Shape 13"/>
          <p:cNvSpPr/>
          <p:nvPr/>
        </p:nvSpPr>
        <p:spPr>
          <a:xfrm>
            <a:off x="8046720" y="2651760"/>
            <a:ext cx="3703320" cy="1572768"/>
          </a:xfrm>
          <a:prstGeom prst="roundRect">
            <a:avLst>
              <a:gd name="adj" fmla="val 697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9" name="Text 14"/>
          <p:cNvSpPr txBox="1"/>
          <p:nvPr/>
        </p:nvSpPr>
        <p:spPr>
          <a:xfrm>
            <a:off x="8183880" y="272491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ABANDONMENT RATE</a:t>
            </a:r>
            <a:endParaRPr lang="en-US" sz="950" dirty="0"/>
          </a:p>
        </p:txBody>
      </p:sp>
      <p:sp>
        <p:nvSpPr>
          <p:cNvPr id="20" name="Text 15"/>
          <p:cNvSpPr txBox="1"/>
          <p:nvPr/>
        </p:nvSpPr>
        <p:spPr>
          <a:xfrm>
            <a:off x="8183880" y="2980944"/>
            <a:ext cx="3429000" cy="457200"/>
          </a:xfrm>
          <a:prstGeom prst="rect">
            <a:avLst/>
          </a:prstGeom>
          <a:noFill/>
          <a:ln/>
        </p:spPr>
        <p:txBody>
          <a:bodyPr wrap="square" lIns="0" tIns="0" rIns="0" bIns="0" rtlCol="0" anchor="ctr"/>
          <a:lstStyle/>
          <a:p>
            <a:pPr marL="0" indent="0">
              <a:buNone/>
            </a:pPr>
            <a:r>
              <a:rPr lang="en-US" sz="2200" b="1" dirty="0">
                <a:solidFill>
                  <a:srgbClr val="C98A2B"/>
                </a:solidFill>
                <a:latin typeface="Calibri" pitchFamily="34" charset="0"/>
                <a:ea typeface="Calibri" pitchFamily="34" charset="-122"/>
                <a:cs typeface="Calibri" pitchFamily="34" charset="-120"/>
              </a:rPr>
              <a:t>21.7%</a:t>
            </a:r>
            <a:endParaRPr lang="en-US" sz="2200" dirty="0"/>
          </a:p>
        </p:txBody>
      </p:sp>
      <p:sp>
        <p:nvSpPr>
          <p:cNvPr id="21" name="Text 16"/>
          <p:cNvSpPr txBox="1"/>
          <p:nvPr/>
        </p:nvSpPr>
        <p:spPr>
          <a:xfrm>
            <a:off x="8183880" y="3474720"/>
            <a:ext cx="3429000" cy="658368"/>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8,008 callers hung up before an answer. Those who abandoned had waited a median 75 seconds (mean 118) - that is the patience limit.</a:t>
            </a:r>
            <a:endParaRPr lang="en-US" sz="950" dirty="0"/>
          </a:p>
        </p:txBody>
      </p:sp>
      <p:sp>
        <p:nvSpPr>
          <p:cNvPr id="22" name="Shape 17"/>
          <p:cNvSpPr/>
          <p:nvPr/>
        </p:nvSpPr>
        <p:spPr>
          <a:xfrm>
            <a:off x="457200" y="4343400"/>
            <a:ext cx="3703320" cy="1572768"/>
          </a:xfrm>
          <a:prstGeom prst="roundRect">
            <a:avLst>
              <a:gd name="adj" fmla="val 697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3" name="Text 18"/>
          <p:cNvSpPr txBox="1"/>
          <p:nvPr/>
        </p:nvSpPr>
        <p:spPr>
          <a:xfrm>
            <a:off x="594360" y="441655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SERVICE LEVEL 20s</a:t>
            </a:r>
            <a:endParaRPr lang="en-US" sz="950" dirty="0"/>
          </a:p>
        </p:txBody>
      </p:sp>
      <p:sp>
        <p:nvSpPr>
          <p:cNvPr id="24" name="Text 19"/>
          <p:cNvSpPr txBox="1"/>
          <p:nvPr/>
        </p:nvSpPr>
        <p:spPr>
          <a:xfrm>
            <a:off x="594360" y="4672584"/>
            <a:ext cx="3429000" cy="457200"/>
          </a:xfrm>
          <a:prstGeom prst="rect">
            <a:avLst/>
          </a:prstGeom>
          <a:noFill/>
          <a:ln/>
        </p:spPr>
        <p:txBody>
          <a:bodyPr wrap="square" lIns="0" tIns="0" rIns="0" bIns="0" rtlCol="0" anchor="ctr"/>
          <a:lstStyle/>
          <a:p>
            <a:pPr marL="0" indent="0">
              <a:buNone/>
            </a:pPr>
            <a:r>
              <a:rPr lang="en-US" sz="2200" b="1" dirty="0">
                <a:solidFill>
                  <a:srgbClr val="C98A2B"/>
                </a:solidFill>
                <a:latin typeface="Calibri" pitchFamily="34" charset="0"/>
                <a:ea typeface="Calibri" pitchFamily="34" charset="-122"/>
                <a:cs typeface="Calibri" pitchFamily="34" charset="-120"/>
              </a:rPr>
              <a:t>50.3%</a:t>
            </a:r>
            <a:endParaRPr lang="en-US" sz="2200" dirty="0"/>
          </a:p>
        </p:txBody>
      </p:sp>
      <p:sp>
        <p:nvSpPr>
          <p:cNvPr id="25" name="Text 20"/>
          <p:cNvSpPr txBox="1"/>
          <p:nvPr/>
        </p:nvSpPr>
        <p:spPr>
          <a:xfrm>
            <a:off x="594360" y="5166360"/>
            <a:ext cx="3429000" cy="658368"/>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Half of all offered calls were answered within 20 seconds, the other half waited longer or abandoned. 52% on Hotline #1, 39% on Hotline #3.</a:t>
            </a:r>
            <a:endParaRPr lang="en-US" sz="950" dirty="0"/>
          </a:p>
        </p:txBody>
      </p:sp>
      <p:sp>
        <p:nvSpPr>
          <p:cNvPr id="26" name="Shape 21"/>
          <p:cNvSpPr/>
          <p:nvPr/>
        </p:nvSpPr>
        <p:spPr>
          <a:xfrm>
            <a:off x="4251960" y="4343400"/>
            <a:ext cx="3703320" cy="1572768"/>
          </a:xfrm>
          <a:prstGeom prst="roundRect">
            <a:avLst>
              <a:gd name="adj" fmla="val 697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7" name="Text 22"/>
          <p:cNvSpPr txBox="1"/>
          <p:nvPr/>
        </p:nvSpPr>
        <p:spPr>
          <a:xfrm>
            <a:off x="4389120" y="441655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ASA SECONDS</a:t>
            </a:r>
            <a:endParaRPr lang="en-US" sz="950" dirty="0"/>
          </a:p>
        </p:txBody>
      </p:sp>
      <p:sp>
        <p:nvSpPr>
          <p:cNvPr id="28" name="Text 23"/>
          <p:cNvSpPr txBox="1"/>
          <p:nvPr/>
        </p:nvSpPr>
        <p:spPr>
          <a:xfrm>
            <a:off x="4389120" y="4672584"/>
            <a:ext cx="3429000" cy="457200"/>
          </a:xfrm>
          <a:prstGeom prst="rect">
            <a:avLst/>
          </a:prstGeom>
          <a:noFill/>
          <a:ln/>
        </p:spPr>
        <p:txBody>
          <a:bodyPr wrap="square" lIns="0" tIns="0" rIns="0" bIns="0" rtlCol="0" anchor="ctr"/>
          <a:lstStyle/>
          <a:p>
            <a:pPr marL="0" indent="0">
              <a:buNone/>
            </a:pPr>
            <a:r>
              <a:rPr lang="en-US" sz="2200" b="1" dirty="0">
                <a:solidFill>
                  <a:srgbClr val="17594E"/>
                </a:solidFill>
                <a:latin typeface="Calibri" pitchFamily="34" charset="0"/>
                <a:ea typeface="Calibri" pitchFamily="34" charset="-122"/>
                <a:cs typeface="Calibri" pitchFamily="34" charset="-120"/>
              </a:rPr>
              <a:t>42</a:t>
            </a:r>
            <a:endParaRPr lang="en-US" sz="2200" dirty="0"/>
          </a:p>
        </p:txBody>
      </p:sp>
      <p:sp>
        <p:nvSpPr>
          <p:cNvPr id="29" name="Text 24"/>
          <p:cNvSpPr txBox="1"/>
          <p:nvPr/>
        </p:nvSpPr>
        <p:spPr>
          <a:xfrm>
            <a:off x="4389120" y="5166360"/>
            <a:ext cx="3429000" cy="658368"/>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Average speed of answer for handled calls, the median is 8 seconds and the 90th percentile 126 - a long tail, not a slow floor.</a:t>
            </a:r>
            <a:endParaRPr lang="en-US" sz="950" dirty="0"/>
          </a:p>
        </p:txBody>
      </p:sp>
      <p:sp>
        <p:nvSpPr>
          <p:cNvPr id="30" name="Shape 25"/>
          <p:cNvSpPr/>
          <p:nvPr/>
        </p:nvSpPr>
        <p:spPr>
          <a:xfrm>
            <a:off x="8046720" y="4343400"/>
            <a:ext cx="3703320" cy="1572768"/>
          </a:xfrm>
          <a:prstGeom prst="roundRect">
            <a:avLst>
              <a:gd name="adj" fmla="val 697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31" name="Text 26"/>
          <p:cNvSpPr txBox="1"/>
          <p:nvPr/>
        </p:nvSpPr>
        <p:spPr>
          <a:xfrm>
            <a:off x="8183880" y="4416552"/>
            <a:ext cx="3429000" cy="256032"/>
          </a:xfrm>
          <a:prstGeom prst="rect">
            <a:avLst/>
          </a:prstGeom>
          <a:noFill/>
          <a:ln/>
        </p:spPr>
        <p:txBody>
          <a:bodyPr wrap="square" lIns="0" tIns="0" rIns="0" bIns="0" rtlCol="0" anchor="ctr"/>
          <a:lstStyle/>
          <a:p>
            <a:pPr marL="0" indent="0">
              <a:buNone/>
            </a:pPr>
            <a:r>
              <a:rPr lang="en-US" sz="950" b="1" kern="0" spc="100" dirty="0">
                <a:solidFill>
                  <a:srgbClr val="55637A"/>
                </a:solidFill>
                <a:latin typeface="Calibri" pitchFamily="34" charset="0"/>
                <a:ea typeface="Calibri" pitchFamily="34" charset="-122"/>
                <a:cs typeface="Calibri" pitchFamily="34" charset="-120"/>
              </a:rPr>
              <a:t>AHT SECONDS</a:t>
            </a:r>
            <a:endParaRPr lang="en-US" sz="950" dirty="0"/>
          </a:p>
        </p:txBody>
      </p:sp>
      <p:sp>
        <p:nvSpPr>
          <p:cNvPr id="32" name="Text 27"/>
          <p:cNvSpPr txBox="1"/>
          <p:nvPr/>
        </p:nvSpPr>
        <p:spPr>
          <a:xfrm>
            <a:off x="8183880" y="4672584"/>
            <a:ext cx="3429000" cy="457200"/>
          </a:xfrm>
          <a:prstGeom prst="rect">
            <a:avLst/>
          </a:prstGeom>
          <a:noFill/>
          <a:ln/>
        </p:spPr>
        <p:txBody>
          <a:bodyPr wrap="square" lIns="0" tIns="0" rIns="0" bIns="0" rtlCol="0" anchor="ctr"/>
          <a:lstStyle/>
          <a:p>
            <a:pPr marL="0" indent="0">
              <a:buNone/>
            </a:pPr>
            <a:r>
              <a:rPr lang="en-US" sz="2200" b="1" dirty="0">
                <a:solidFill>
                  <a:srgbClr val="17594E"/>
                </a:solidFill>
                <a:latin typeface="Calibri" pitchFamily="34" charset="0"/>
                <a:ea typeface="Calibri" pitchFamily="34" charset="-122"/>
                <a:cs typeface="Calibri" pitchFamily="34" charset="-120"/>
              </a:rPr>
              <a:t>215</a:t>
            </a:r>
            <a:endParaRPr lang="en-US" sz="2200" dirty="0"/>
          </a:p>
        </p:txBody>
      </p:sp>
      <p:sp>
        <p:nvSpPr>
          <p:cNvPr id="33" name="Text 28"/>
          <p:cNvSpPr txBox="1"/>
          <p:nvPr/>
        </p:nvSpPr>
        <p:spPr>
          <a:xfrm>
            <a:off x="8183880" y="5166360"/>
            <a:ext cx="3429000" cy="658368"/>
          </a:xfrm>
          <a:prstGeom prst="rect">
            <a:avLst/>
          </a:prstGeom>
          <a:noFill/>
          <a:ln/>
        </p:spPr>
        <p:txBody>
          <a:bodyPr wrap="square" lIns="0" tIns="0" rIns="0" bIns="0" rtlCol="0" anchor="t"/>
          <a:lstStyle/>
          <a:p>
            <a:pPr marL="0" indent="0">
              <a:buNone/>
            </a:pPr>
            <a:r>
              <a:rPr lang="en-US" sz="950" dirty="0">
                <a:solidFill>
                  <a:srgbClr val="33404F"/>
                </a:solidFill>
                <a:latin typeface="Calibri" pitchFamily="34" charset="0"/>
                <a:ea typeface="Calibri" pitchFamily="34" charset="-122"/>
                <a:cs typeface="Calibri" pitchFamily="34" charset="-120"/>
              </a:rPr>
              <a:t>Average handle time for handled calls (about 3.5 minutes): 177 s talk + 35 s hold + 3 s wrap-up. Steady every day.</a:t>
            </a:r>
            <a:endParaRPr lang="en-US" sz="950" dirty="0"/>
          </a:p>
        </p:txBody>
      </p:sp>
      <p:sp>
        <p:nvSpPr>
          <p:cNvPr id="35" name="Text 30"/>
          <p:cNvSpPr txBox="1"/>
          <p:nvPr/>
        </p:nvSpPr>
        <p:spPr>
          <a:xfrm>
            <a:off x="457200" y="6053328"/>
            <a:ext cx="7284262" cy="384048"/>
          </a:xfrm>
          <a:prstGeom prst="roundRect">
            <a:avLst/>
          </a:prstGeom>
          <a:solidFill>
            <a:schemeClr val="accent1">
              <a:lumMod val="50000"/>
            </a:schemeClr>
          </a:solidFill>
          <a:ln/>
        </p:spPr>
        <p:txBody>
          <a:bodyPr wrap="square" lIns="0" tIns="0" rIns="0" bIns="0" rtlCol="0" anchor="ctr"/>
          <a:lstStyle/>
          <a:p>
            <a:pPr marL="55563">
              <a:buNone/>
            </a:pPr>
            <a:r>
              <a:rPr lang="en-US" sz="1050" b="1" dirty="0">
                <a:solidFill>
                  <a:schemeClr val="bg1"/>
                </a:solidFill>
                <a:latin typeface="Calibri" pitchFamily="34" charset="0"/>
                <a:ea typeface="Calibri" pitchFamily="34" charset="-122"/>
                <a:cs typeface="Calibri" pitchFamily="34" charset="-120"/>
              </a:rPr>
              <a:t>Six numbers, one read: when we answer, we answer fast and handle well - the loss is entirely in the queue before the answer.</a:t>
            </a:r>
            <a:endParaRPr lang="en-US" sz="105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Helpline · Calls by hour of day vs abandonment rate</a:t>
            </a:r>
            <a:endParaRPr lang="en-US" sz="2500" dirty="0"/>
          </a:p>
        </p:txBody>
      </p:sp>
      <p:sp>
        <p:nvSpPr>
          <p:cNvPr id="5" name="Shape 1"/>
          <p:cNvSpPr/>
          <p:nvPr/>
        </p:nvSpPr>
        <p:spPr>
          <a:xfrm>
            <a:off x="9564624" y="1069848"/>
            <a:ext cx="2185416"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9564624" y="1069848"/>
            <a:ext cx="2185416"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2  ·  VISUAL 2 OF 9</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18 / 24</a:t>
            </a:r>
            <a:endParaRPr lang="en-US" sz="900" dirty="0"/>
          </a:p>
        </p:txBody>
      </p:sp>
      <p:sp>
        <p:nvSpPr>
          <p:cNvPr id="9" name="Text 5"/>
          <p:cNvSpPr txBox="1"/>
          <p:nvPr/>
        </p:nvSpPr>
        <p:spPr>
          <a:xfrm>
            <a:off x="594360" y="1764792"/>
            <a:ext cx="576072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Combo chart - Calls Offered (columns) and Abandonment Rate (line, secondary axis) by hour</a:t>
            </a:r>
            <a:endParaRPr lang="en-US" sz="1100" dirty="0"/>
          </a:p>
        </p:txBody>
      </p:sp>
      <p:pic>
        <p:nvPicPr>
          <p:cNvPr id="10" name="Image 2" descr="crops_small/t2_hour.jpg"/>
          <p:cNvPicPr>
            <a:picLocks noChangeAspect="1"/>
          </p:cNvPicPr>
          <p:nvPr/>
        </p:nvPicPr>
        <p:blipFill>
          <a:blip r:embed="rId6"/>
          <a:stretch>
            <a:fillRect/>
          </a:stretch>
        </p:blipFill>
        <p:spPr>
          <a:xfrm>
            <a:off x="1136142" y="2093976"/>
            <a:ext cx="4677156" cy="3401568"/>
          </a:xfrm>
          <a:prstGeom prst="rect">
            <a:avLst/>
          </a:prstGeom>
          <a:ln>
            <a:noFill/>
          </a:ln>
          <a:effectLst>
            <a:outerShdw blurRad="292100" dist="139700" dir="2700000" algn="tl" rotWithShape="0">
              <a:srgbClr val="333333">
                <a:alpha val="65000"/>
              </a:srgbClr>
            </a:outerShdw>
          </a:effectLst>
        </p:spPr>
      </p:pic>
      <p:sp>
        <p:nvSpPr>
          <p:cNvPr id="11" name="Shape 6"/>
          <p:cNvSpPr/>
          <p:nvPr/>
        </p:nvSpPr>
        <p:spPr>
          <a:xfrm>
            <a:off x="594360" y="5541264"/>
            <a:ext cx="5760720" cy="0"/>
          </a:xfrm>
          <a:prstGeom prst="line">
            <a:avLst/>
          </a:prstGeom>
          <a:noFill/>
          <a:ln w="9525">
            <a:solidFill>
              <a:srgbClr val="DCE5EC"/>
            </a:solidFill>
            <a:prstDash val="solid"/>
          </a:ln>
        </p:spPr>
        <p:txBody>
          <a:bodyPr/>
          <a:lstStyle/>
          <a:p>
            <a:endParaRPr lang="en-US"/>
          </a:p>
        </p:txBody>
      </p:sp>
      <p:sp>
        <p:nvSpPr>
          <p:cNvPr id="12" name="Text 7"/>
          <p:cNvSpPr txBox="1"/>
          <p:nvPr/>
        </p:nvSpPr>
        <p:spPr>
          <a:xfrm>
            <a:off x="594360" y="5586984"/>
            <a:ext cx="5760720" cy="658368"/>
          </a:xfrm>
          <a:prstGeom prst="roundRect">
            <a:avLst>
              <a:gd name="adj" fmla="val 5180"/>
            </a:avLst>
          </a:prstGeom>
          <a:solidFill>
            <a:schemeClr val="accent1">
              <a:lumMod val="50000"/>
            </a:schemeClr>
          </a:solidFill>
          <a:ln/>
        </p:spPr>
        <p:txBody>
          <a:bodyPr wrap="square" lIns="0" tIns="0" rIns="0" bIns="0" rtlCol="0" anchor="t"/>
          <a:lstStyle/>
          <a:p>
            <a:pPr marL="55563">
              <a:buNone/>
            </a:pPr>
            <a:r>
              <a:rPr lang="en-US" sz="850" b="1" kern="0" spc="150" dirty="0">
                <a:solidFill>
                  <a:srgbClr val="2E8B78"/>
                </a:solidFill>
                <a:latin typeface="Calibri" pitchFamily="34" charset="0"/>
                <a:ea typeface="Calibri" pitchFamily="34" charset="-122"/>
                <a:cs typeface="Calibri" pitchFamily="34" charset="-120"/>
              </a:rPr>
              <a:t>WHAT WE FOUND  </a:t>
            </a:r>
            <a:r>
              <a:rPr lang="en-US" sz="950" dirty="0">
                <a:solidFill>
                  <a:schemeClr val="bg1"/>
                </a:solidFill>
                <a:latin typeface="Calibri" pitchFamily="34" charset="0"/>
                <a:ea typeface="Calibri" pitchFamily="34" charset="-122"/>
                <a:cs typeface="Calibri" pitchFamily="34" charset="-120"/>
              </a:rPr>
              <a:t>Volume builds from 8 am, holds at 2,500–3,000 calls an hour from 11 am to 8 pm, then tails off. Abandonment sits at 19–22% through business hours, then climbs from 8 pm - 25%, 27%, 31% - to 43.4% at 11 pm. The 6–11 pm window is 12,014 calls (33% of volume) but 2,932 abandoned calls (37% of everything we lose). The early-morning spikes (30% at 6 am) are on 89–130 calls - noise.</a:t>
            </a:r>
            <a:endParaRPr lang="en-US" sz="850" dirty="0">
              <a:solidFill>
                <a:schemeClr val="bg1"/>
              </a:solidFill>
            </a:endParaRPr>
          </a:p>
        </p:txBody>
      </p:sp>
      <p:sp>
        <p:nvSpPr>
          <p:cNvPr id="13" name="Shape 8"/>
          <p:cNvSpPr/>
          <p:nvPr/>
        </p:nvSpPr>
        <p:spPr>
          <a:xfrm>
            <a:off x="6675120" y="1691640"/>
            <a:ext cx="2423160" cy="960120"/>
          </a:xfrm>
          <a:prstGeom prst="roundRect">
            <a:avLst>
              <a:gd name="adj" fmla="val 1142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4" name="Text 9"/>
          <p:cNvSpPr txBox="1"/>
          <p:nvPr/>
        </p:nvSpPr>
        <p:spPr>
          <a:xfrm>
            <a:off x="6812280" y="1764792"/>
            <a:ext cx="2148840" cy="480060"/>
          </a:xfrm>
          <a:prstGeom prst="rect">
            <a:avLst/>
          </a:prstGeom>
          <a:noFill/>
          <a:ln/>
        </p:spPr>
        <p:txBody>
          <a:bodyPr wrap="square" lIns="0" tIns="0" rIns="0" bIns="0" rtlCol="0" anchor="ctr"/>
          <a:lstStyle/>
          <a:p>
            <a:pPr marL="0" indent="0">
              <a:buNone/>
            </a:pPr>
            <a:r>
              <a:rPr lang="en-US" sz="2000" b="1" dirty="0">
                <a:solidFill>
                  <a:srgbClr val="203370"/>
                </a:solidFill>
                <a:latin typeface="Calibri" pitchFamily="34" charset="0"/>
                <a:ea typeface="Calibri" pitchFamily="34" charset="-122"/>
                <a:cs typeface="Calibri" pitchFamily="34" charset="-120"/>
              </a:rPr>
              <a:t>≈ 19–22%</a:t>
            </a:r>
            <a:endParaRPr lang="en-US" sz="2000" dirty="0"/>
          </a:p>
        </p:txBody>
      </p:sp>
      <p:sp>
        <p:nvSpPr>
          <p:cNvPr id="15" name="Text 10"/>
          <p:cNvSpPr txBox="1"/>
          <p:nvPr/>
        </p:nvSpPr>
        <p:spPr>
          <a:xfrm>
            <a:off x="6812280" y="2219706"/>
            <a:ext cx="2148840" cy="403250"/>
          </a:xfrm>
          <a:prstGeom prst="rect">
            <a:avLst/>
          </a:prstGeom>
          <a:noFill/>
          <a:ln/>
        </p:spPr>
        <p:txBody>
          <a:bodyPr wrap="square" lIns="0" tIns="0" rIns="0" bIns="0" rtlCol="0" anchor="t"/>
          <a:lstStyle/>
          <a:p>
            <a:pPr marL="0" indent="0">
              <a:buNone/>
            </a:pPr>
            <a:r>
              <a:rPr lang="en-US" sz="900" dirty="0">
                <a:solidFill>
                  <a:srgbClr val="55637A"/>
                </a:solidFill>
                <a:latin typeface="Calibri" pitchFamily="34" charset="0"/>
                <a:ea typeface="Calibri" pitchFamily="34" charset="-122"/>
                <a:cs typeface="Calibri" pitchFamily="34" charset="-120"/>
              </a:rPr>
              <a:t>abandonment, 9 am – 7 pm</a:t>
            </a:r>
            <a:endParaRPr lang="en-US" sz="900" dirty="0"/>
          </a:p>
        </p:txBody>
      </p:sp>
      <p:sp>
        <p:nvSpPr>
          <p:cNvPr id="16" name="Shape 11"/>
          <p:cNvSpPr/>
          <p:nvPr/>
        </p:nvSpPr>
        <p:spPr>
          <a:xfrm>
            <a:off x="9326880" y="1691640"/>
            <a:ext cx="2423160" cy="960120"/>
          </a:xfrm>
          <a:prstGeom prst="roundRect">
            <a:avLst>
              <a:gd name="adj" fmla="val 1142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2"/>
          <p:cNvSpPr txBox="1"/>
          <p:nvPr/>
        </p:nvSpPr>
        <p:spPr>
          <a:xfrm>
            <a:off x="9464040" y="1764792"/>
            <a:ext cx="2148840" cy="480060"/>
          </a:xfrm>
          <a:prstGeom prst="rect">
            <a:avLst/>
          </a:prstGeom>
          <a:noFill/>
          <a:ln/>
        </p:spPr>
        <p:txBody>
          <a:bodyPr wrap="square" lIns="0" tIns="0" rIns="0" bIns="0" rtlCol="0" anchor="ctr"/>
          <a:lstStyle/>
          <a:p>
            <a:pPr marL="0" indent="0">
              <a:buNone/>
            </a:pPr>
            <a:r>
              <a:rPr lang="en-US" sz="2200" b="1" dirty="0">
                <a:solidFill>
                  <a:srgbClr val="C98A2B"/>
                </a:solidFill>
                <a:latin typeface="Calibri" pitchFamily="34" charset="0"/>
                <a:ea typeface="Calibri" pitchFamily="34" charset="-122"/>
                <a:cs typeface="Calibri" pitchFamily="34" charset="-120"/>
              </a:rPr>
              <a:t>43.4%</a:t>
            </a:r>
            <a:endParaRPr lang="en-US" sz="2200" dirty="0"/>
          </a:p>
        </p:txBody>
      </p:sp>
      <p:sp>
        <p:nvSpPr>
          <p:cNvPr id="18" name="Text 13"/>
          <p:cNvSpPr txBox="1"/>
          <p:nvPr/>
        </p:nvSpPr>
        <p:spPr>
          <a:xfrm>
            <a:off x="9464040" y="2219706"/>
            <a:ext cx="2148840" cy="403250"/>
          </a:xfrm>
          <a:prstGeom prst="rect">
            <a:avLst/>
          </a:prstGeom>
          <a:noFill/>
          <a:ln/>
        </p:spPr>
        <p:txBody>
          <a:bodyPr wrap="square" lIns="0" tIns="0" rIns="0" bIns="0" rtlCol="0" anchor="t"/>
          <a:lstStyle/>
          <a:p>
            <a:pPr marL="0" indent="0">
              <a:buNone/>
            </a:pPr>
            <a:r>
              <a:rPr lang="en-US" sz="900" dirty="0">
                <a:solidFill>
                  <a:srgbClr val="55637A"/>
                </a:solidFill>
                <a:latin typeface="Calibri" pitchFamily="34" charset="0"/>
                <a:ea typeface="Calibri" pitchFamily="34" charset="-122"/>
                <a:cs typeface="Calibri" pitchFamily="34" charset="-120"/>
              </a:rPr>
              <a:t>abandonment at 11 pm</a:t>
            </a:r>
            <a:endParaRPr lang="en-US" sz="900" dirty="0"/>
          </a:p>
        </p:txBody>
      </p:sp>
      <p:sp>
        <p:nvSpPr>
          <p:cNvPr id="19" name="Shape 14"/>
          <p:cNvSpPr/>
          <p:nvPr/>
        </p:nvSpPr>
        <p:spPr>
          <a:xfrm>
            <a:off x="6675120" y="2788920"/>
            <a:ext cx="2423160" cy="960120"/>
          </a:xfrm>
          <a:prstGeom prst="roundRect">
            <a:avLst>
              <a:gd name="adj" fmla="val 1142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0" name="Text 15"/>
          <p:cNvSpPr txBox="1"/>
          <p:nvPr/>
        </p:nvSpPr>
        <p:spPr>
          <a:xfrm>
            <a:off x="6812280" y="2862072"/>
            <a:ext cx="2148840" cy="480060"/>
          </a:xfrm>
          <a:prstGeom prst="rect">
            <a:avLst/>
          </a:prstGeom>
          <a:noFill/>
          <a:ln/>
        </p:spPr>
        <p:txBody>
          <a:bodyPr wrap="square" lIns="0" tIns="0" rIns="0" bIns="0" rtlCol="0" anchor="ctr"/>
          <a:lstStyle/>
          <a:p>
            <a:pPr marL="0" indent="0">
              <a:buNone/>
            </a:pPr>
            <a:r>
              <a:rPr lang="en-US" sz="2000" b="1" dirty="0">
                <a:solidFill>
                  <a:srgbClr val="203370"/>
                </a:solidFill>
                <a:latin typeface="Calibri" pitchFamily="34" charset="0"/>
                <a:ea typeface="Calibri" pitchFamily="34" charset="-122"/>
                <a:cs typeface="Calibri" pitchFamily="34" charset="-120"/>
              </a:rPr>
              <a:t>2,787</a:t>
            </a:r>
            <a:endParaRPr lang="en-US" sz="2000" dirty="0"/>
          </a:p>
        </p:txBody>
      </p:sp>
      <p:sp>
        <p:nvSpPr>
          <p:cNvPr id="21" name="Text 16"/>
          <p:cNvSpPr txBox="1"/>
          <p:nvPr/>
        </p:nvSpPr>
        <p:spPr>
          <a:xfrm>
            <a:off x="6812280" y="3316986"/>
            <a:ext cx="2148840" cy="403250"/>
          </a:xfrm>
          <a:prstGeom prst="rect">
            <a:avLst/>
          </a:prstGeom>
          <a:noFill/>
          <a:ln/>
        </p:spPr>
        <p:txBody>
          <a:bodyPr wrap="square" lIns="0" tIns="0" rIns="0" bIns="0" rtlCol="0" anchor="t"/>
          <a:lstStyle/>
          <a:p>
            <a:pPr marL="0" indent="0">
              <a:buNone/>
            </a:pPr>
            <a:r>
              <a:rPr lang="en-US" sz="900" dirty="0">
                <a:solidFill>
                  <a:srgbClr val="55637A"/>
                </a:solidFill>
                <a:latin typeface="Calibri" pitchFamily="34" charset="0"/>
                <a:ea typeface="Calibri" pitchFamily="34" charset="-122"/>
                <a:cs typeface="Calibri" pitchFamily="34" charset="-120"/>
              </a:rPr>
              <a:t>calls still arriving at 8 pm</a:t>
            </a:r>
            <a:endParaRPr lang="en-US" sz="900" dirty="0"/>
          </a:p>
        </p:txBody>
      </p:sp>
      <p:sp>
        <p:nvSpPr>
          <p:cNvPr id="22" name="Shape 17"/>
          <p:cNvSpPr/>
          <p:nvPr/>
        </p:nvSpPr>
        <p:spPr>
          <a:xfrm>
            <a:off x="9326880" y="2788920"/>
            <a:ext cx="2423160" cy="960120"/>
          </a:xfrm>
          <a:prstGeom prst="roundRect">
            <a:avLst>
              <a:gd name="adj" fmla="val 11429"/>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3" name="Text 18"/>
          <p:cNvSpPr txBox="1"/>
          <p:nvPr/>
        </p:nvSpPr>
        <p:spPr>
          <a:xfrm>
            <a:off x="9464040" y="2862072"/>
            <a:ext cx="2148840" cy="480060"/>
          </a:xfrm>
          <a:prstGeom prst="rect">
            <a:avLst/>
          </a:prstGeom>
          <a:noFill/>
          <a:ln/>
        </p:spPr>
        <p:txBody>
          <a:bodyPr wrap="square" lIns="0" tIns="0" rIns="0" bIns="0" rtlCol="0" anchor="ctr"/>
          <a:lstStyle/>
          <a:p>
            <a:pPr marL="0" indent="0">
              <a:buNone/>
            </a:pPr>
            <a:r>
              <a:rPr lang="en-US" sz="2200" b="1" dirty="0">
                <a:solidFill>
                  <a:srgbClr val="C98A2B"/>
                </a:solidFill>
                <a:latin typeface="Calibri" pitchFamily="34" charset="0"/>
                <a:ea typeface="Calibri" pitchFamily="34" charset="-122"/>
                <a:cs typeface="Calibri" pitchFamily="34" charset="-120"/>
              </a:rPr>
              <a:t>37%</a:t>
            </a:r>
            <a:endParaRPr lang="en-US" sz="2200" dirty="0"/>
          </a:p>
        </p:txBody>
      </p:sp>
      <p:sp>
        <p:nvSpPr>
          <p:cNvPr id="24" name="Text 19"/>
          <p:cNvSpPr txBox="1"/>
          <p:nvPr/>
        </p:nvSpPr>
        <p:spPr>
          <a:xfrm>
            <a:off x="9464040" y="3316986"/>
            <a:ext cx="2148840" cy="403250"/>
          </a:xfrm>
          <a:prstGeom prst="rect">
            <a:avLst/>
          </a:prstGeom>
          <a:noFill/>
          <a:ln/>
        </p:spPr>
        <p:txBody>
          <a:bodyPr wrap="square" lIns="0" tIns="0" rIns="0" bIns="0" rtlCol="0" anchor="t"/>
          <a:lstStyle/>
          <a:p>
            <a:pPr marL="0" indent="0">
              <a:buNone/>
            </a:pPr>
            <a:r>
              <a:rPr lang="en-US" sz="900" dirty="0">
                <a:solidFill>
                  <a:srgbClr val="55637A"/>
                </a:solidFill>
                <a:latin typeface="Calibri" pitchFamily="34" charset="0"/>
                <a:ea typeface="Calibri" pitchFamily="34" charset="-122"/>
                <a:cs typeface="Calibri" pitchFamily="34" charset="-120"/>
              </a:rPr>
              <a:t>of all abandoned calls fall 6–11 pm</a:t>
            </a:r>
            <a:endParaRPr lang="en-US" sz="900" dirty="0"/>
          </a:p>
        </p:txBody>
      </p:sp>
      <p:sp>
        <p:nvSpPr>
          <p:cNvPr id="25" name="Shape 20"/>
          <p:cNvSpPr/>
          <p:nvPr/>
        </p:nvSpPr>
        <p:spPr>
          <a:xfrm>
            <a:off x="6675120" y="3886200"/>
            <a:ext cx="5074920" cy="2468880"/>
          </a:xfrm>
          <a:prstGeom prst="roundRect">
            <a:avLst>
              <a:gd name="adj" fmla="val 4444"/>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6" name="Text 21"/>
          <p:cNvSpPr txBox="1"/>
          <p:nvPr/>
        </p:nvSpPr>
        <p:spPr>
          <a:xfrm>
            <a:off x="6858000" y="3977640"/>
            <a:ext cx="4709160" cy="2286000"/>
          </a:xfrm>
          <a:prstGeom prst="rect">
            <a:avLst/>
          </a:prstGeom>
          <a:noFill/>
          <a:ln/>
        </p:spPr>
        <p:txBody>
          <a:bodyPr wrap="square" lIns="0" tIns="0" rIns="0" bIns="0" rtlCol="0" anchor="t"/>
          <a:lstStyle/>
          <a:p>
            <a:pPr marL="0" indent="0">
              <a:buNone/>
            </a:pPr>
            <a:r>
              <a:rPr lang="en-US" sz="850" b="1" kern="0" spc="150" dirty="0">
                <a:solidFill>
                  <a:srgbClr val="C98A2B"/>
                </a:solidFill>
                <a:latin typeface="Calibri" pitchFamily="34" charset="0"/>
                <a:ea typeface="Calibri" pitchFamily="34" charset="-122"/>
                <a:cs typeface="Calibri" pitchFamily="34" charset="-120"/>
              </a:rPr>
              <a:t>WHAT IT MEANS  </a:t>
            </a:r>
            <a:endParaRPr lang="en-US" sz="850" dirty="0"/>
          </a:p>
          <a:p>
            <a:pPr marL="171450" indent="-115888">
              <a:buFont typeface="Arial" panose="020B0604020202020204" pitchFamily="34" charset="0"/>
              <a:buChar char="•"/>
            </a:pPr>
            <a:r>
              <a:rPr lang="en-US" sz="1050" dirty="0">
                <a:solidFill>
                  <a:srgbClr val="33404F"/>
                </a:solidFill>
                <a:latin typeface="Calibri" pitchFamily="34" charset="0"/>
                <a:ea typeface="Calibri" pitchFamily="34" charset="-122"/>
                <a:cs typeface="Calibri" pitchFamily="34" charset="-120"/>
              </a:rPr>
              <a:t>This is a staffing timing problem, not a staffing size problem. </a:t>
            </a:r>
          </a:p>
          <a:p>
            <a:pPr marL="171450" indent="-115888">
              <a:buFont typeface="Arial" panose="020B0604020202020204" pitchFamily="34" charset="0"/>
              <a:buChar char="•"/>
            </a:pPr>
            <a:r>
              <a:rPr lang="en-US" sz="1050" dirty="0">
                <a:solidFill>
                  <a:srgbClr val="33404F"/>
                </a:solidFill>
                <a:latin typeface="Calibri" pitchFamily="34" charset="0"/>
                <a:ea typeface="Calibri" pitchFamily="34" charset="-122"/>
                <a:cs typeface="Calibri" pitchFamily="34" charset="-120"/>
              </a:rPr>
              <a:t>Volume does not fade when the line climbs - it is still 2,800 calls an hour at 8 pm - so the evening roster is simply thinner than the demand. </a:t>
            </a:r>
          </a:p>
          <a:p>
            <a:pPr marL="171450" indent="-115888">
              <a:buFont typeface="Arial" panose="020B0604020202020204" pitchFamily="34" charset="0"/>
              <a:buChar char="•"/>
            </a:pPr>
            <a:r>
              <a:rPr lang="en-US" sz="1050" dirty="0">
                <a:solidFill>
                  <a:srgbClr val="33404F"/>
                </a:solidFill>
                <a:latin typeface="Calibri" pitchFamily="34" charset="0"/>
                <a:ea typeface="Calibri" pitchFamily="34" charset="-122"/>
                <a:cs typeface="Calibri" pitchFamily="34" charset="-120"/>
              </a:rPr>
              <a:t>Putting volume and rate on one chart is what makes that visible, a rate-only chart would let someone dismiss the evening as low volume.</a:t>
            </a:r>
            <a:endParaRPr lang="en-US" sz="85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850" dirty="0"/>
          </a:p>
          <a:p>
            <a:pPr marL="0" indent="0">
              <a:buNone/>
            </a:pPr>
            <a:r>
              <a:rPr lang="en-US" sz="850" b="1" kern="0" spc="150" dirty="0">
                <a:solidFill>
                  <a:srgbClr val="2E8B78"/>
                </a:solidFill>
                <a:latin typeface="Calibri" pitchFamily="34" charset="0"/>
                <a:ea typeface="Calibri" pitchFamily="34" charset="-122"/>
                <a:cs typeface="Calibri" pitchFamily="34" charset="-120"/>
              </a:rPr>
              <a:t>SOLUTION  </a:t>
            </a:r>
            <a:endParaRPr lang="en-US" sz="850" dirty="0"/>
          </a:p>
          <a:p>
            <a:pPr marL="171450" indent="-115888">
              <a:buFont typeface="Arial" panose="020B0604020202020204" pitchFamily="34" charset="0"/>
              <a:buChar char="•"/>
            </a:pPr>
            <a:r>
              <a:rPr lang="en-US" sz="1050" dirty="0">
                <a:solidFill>
                  <a:srgbClr val="33404F"/>
                </a:solidFill>
                <a:latin typeface="Calibri" pitchFamily="34" charset="0"/>
                <a:ea typeface="Calibri" pitchFamily="34" charset="-122"/>
                <a:cs typeface="Calibri" pitchFamily="34" charset="-120"/>
              </a:rPr>
              <a:t>Shift part of the roster into the 6–11 pm window - same team, same skill. </a:t>
            </a:r>
          </a:p>
          <a:p>
            <a:pPr marL="171450" indent="-115888">
              <a:buFont typeface="Arial" panose="020B0604020202020204" pitchFamily="34" charset="0"/>
              <a:buChar char="•"/>
            </a:pPr>
            <a:r>
              <a:rPr lang="en-US" sz="1050" dirty="0">
                <a:solidFill>
                  <a:srgbClr val="33404F"/>
                </a:solidFill>
                <a:latin typeface="Calibri" pitchFamily="34" charset="0"/>
                <a:ea typeface="Calibri" pitchFamily="34" charset="-122"/>
                <a:cs typeface="Calibri" pitchFamily="34" charset="-120"/>
              </a:rPr>
              <a:t>Watch the line flatten toward the daytime 20%.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Helpline · by day of week, and by hotline</a:t>
            </a:r>
            <a:endParaRPr lang="en-US" sz="2500" dirty="0"/>
          </a:p>
        </p:txBody>
      </p:sp>
      <p:sp>
        <p:nvSpPr>
          <p:cNvPr id="5" name="Shape 1"/>
          <p:cNvSpPr/>
          <p:nvPr/>
        </p:nvSpPr>
        <p:spPr>
          <a:xfrm>
            <a:off x="9176004" y="1069848"/>
            <a:ext cx="2574036"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9176004" y="1069848"/>
            <a:ext cx="2574036"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2  ·  VISUALS 3 &amp; 8 OF 9</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19 / 24</a:t>
            </a:r>
            <a:endParaRPr lang="en-US" sz="900" dirty="0"/>
          </a:p>
        </p:txBody>
      </p:sp>
      <p:sp>
        <p:nvSpPr>
          <p:cNvPr id="9" name="Text 5"/>
          <p:cNvSpPr txBox="1"/>
          <p:nvPr/>
        </p:nvSpPr>
        <p:spPr>
          <a:xfrm>
            <a:off x="594360" y="1764792"/>
            <a:ext cx="5303520" cy="45720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Calls and abandonment by day - clustered column on Day Name (sorted by a hidden Day Number)</a:t>
            </a:r>
            <a:endParaRPr lang="en-US" sz="1100" dirty="0"/>
          </a:p>
        </p:txBody>
      </p:sp>
      <p:pic>
        <p:nvPicPr>
          <p:cNvPr id="10" name="Image 2" descr="crops_small/t2_day.jpg"/>
          <p:cNvPicPr>
            <a:picLocks noChangeAspect="1"/>
          </p:cNvPicPr>
          <p:nvPr/>
        </p:nvPicPr>
        <p:blipFill>
          <a:blip r:embed="rId6"/>
          <a:stretch>
            <a:fillRect/>
          </a:stretch>
        </p:blipFill>
        <p:spPr>
          <a:xfrm>
            <a:off x="1110923" y="2317704"/>
            <a:ext cx="4213534" cy="3026964"/>
          </a:xfrm>
          <a:prstGeom prst="rect">
            <a:avLst/>
          </a:prstGeom>
          <a:ln>
            <a:noFill/>
          </a:ln>
          <a:effectLst>
            <a:outerShdw blurRad="292100" dist="139700" dir="2700000" algn="tl" rotWithShape="0">
              <a:srgbClr val="333333">
                <a:alpha val="65000"/>
              </a:srgbClr>
            </a:outerShdw>
          </a:effectLst>
        </p:spPr>
      </p:pic>
      <p:sp>
        <p:nvSpPr>
          <p:cNvPr id="11" name="Shape 6"/>
          <p:cNvSpPr/>
          <p:nvPr/>
        </p:nvSpPr>
        <p:spPr>
          <a:xfrm>
            <a:off x="594360" y="5390388"/>
            <a:ext cx="5303520" cy="0"/>
          </a:xfrm>
          <a:prstGeom prst="line">
            <a:avLst/>
          </a:prstGeom>
          <a:noFill/>
          <a:ln w="9525">
            <a:solidFill>
              <a:srgbClr val="DCE5EC"/>
            </a:solidFill>
            <a:prstDash val="solid"/>
          </a:ln>
        </p:spPr>
        <p:txBody>
          <a:bodyPr/>
          <a:lstStyle/>
          <a:p>
            <a:endParaRPr lang="en-US"/>
          </a:p>
        </p:txBody>
      </p:sp>
      <p:sp>
        <p:nvSpPr>
          <p:cNvPr id="12" name="Text 7"/>
          <p:cNvSpPr txBox="1"/>
          <p:nvPr/>
        </p:nvSpPr>
        <p:spPr>
          <a:xfrm>
            <a:off x="594360" y="5436107"/>
            <a:ext cx="5303520" cy="1165855"/>
          </a:xfrm>
          <a:prstGeom prst="roundRect">
            <a:avLst>
              <a:gd name="adj" fmla="val 6642"/>
            </a:avLst>
          </a:prstGeom>
          <a:solidFill>
            <a:schemeClr val="accent1">
              <a:lumMod val="50000"/>
            </a:schemeClr>
          </a:solidFill>
          <a:ln/>
        </p:spPr>
        <p:txBody>
          <a:bodyPr wrap="square" lIns="0" tIns="0" rIns="0" bIns="0" rtlCol="0" anchor="t"/>
          <a:lstStyle/>
          <a:p>
            <a:pPr marL="55563">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Mondays are almost double any other day - 9,500 calls versus roughly 4,000 to 5,000 the rest of the week - and Monday's abandonment (21%) is no better than average, so the extra volume is not being absorbed.</a:t>
            </a:r>
          </a:p>
          <a:p>
            <a:pPr marL="171450"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Friday is the quietest day (3,493 calls) yet has the highest abandonment rate (26%) - the Friday roster is thinner than its demand. </a:t>
            </a:r>
          </a:p>
          <a:p>
            <a:pPr marL="171450"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Tuesday 22.8%, Thursday 22.3%, Wednesday 20.0%, Saturday 20.2%, Sunday 21.1%.</a:t>
            </a:r>
            <a:endParaRPr lang="en-US" sz="850" dirty="0">
              <a:solidFill>
                <a:schemeClr val="bg1"/>
              </a:solidFill>
            </a:endParaRPr>
          </a:p>
        </p:txBody>
      </p:sp>
      <p:sp>
        <p:nvSpPr>
          <p:cNvPr id="14" name="Text 9"/>
          <p:cNvSpPr txBox="1"/>
          <p:nvPr/>
        </p:nvSpPr>
        <p:spPr>
          <a:xfrm>
            <a:off x="6309360" y="1764792"/>
            <a:ext cx="530352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Calls by hotline with abandonment rate - bar on Application Name (rate in the tooltip)</a:t>
            </a:r>
            <a:endParaRPr lang="en-US" sz="1100" dirty="0"/>
          </a:p>
        </p:txBody>
      </p:sp>
      <p:pic>
        <p:nvPicPr>
          <p:cNvPr id="15" name="Image 3" descr="crops_small/t2_hotline.jpg"/>
          <p:cNvPicPr>
            <a:picLocks noChangeAspect="1"/>
          </p:cNvPicPr>
          <p:nvPr/>
        </p:nvPicPr>
        <p:blipFill>
          <a:blip r:embed="rId7"/>
          <a:stretch>
            <a:fillRect/>
          </a:stretch>
        </p:blipFill>
        <p:spPr>
          <a:xfrm>
            <a:off x="6703696" y="2310923"/>
            <a:ext cx="4213534" cy="3033744"/>
          </a:xfrm>
          <a:prstGeom prst="rect">
            <a:avLst/>
          </a:prstGeom>
          <a:ln>
            <a:noFill/>
          </a:ln>
          <a:effectLst>
            <a:outerShdw blurRad="292100" dist="139700" dir="2700000" algn="tl" rotWithShape="0">
              <a:srgbClr val="333333">
                <a:alpha val="65000"/>
              </a:srgbClr>
            </a:outerShdw>
          </a:effectLst>
        </p:spPr>
      </p:pic>
      <p:sp>
        <p:nvSpPr>
          <p:cNvPr id="16" name="Shape 10"/>
          <p:cNvSpPr/>
          <p:nvPr/>
        </p:nvSpPr>
        <p:spPr>
          <a:xfrm>
            <a:off x="6309360" y="5390388"/>
            <a:ext cx="5303520" cy="0"/>
          </a:xfrm>
          <a:prstGeom prst="line">
            <a:avLst/>
          </a:prstGeom>
          <a:noFill/>
          <a:ln w="9525">
            <a:solidFill>
              <a:srgbClr val="DCE5EC"/>
            </a:solidFill>
            <a:prstDash val="solid"/>
          </a:ln>
        </p:spPr>
        <p:txBody>
          <a:bodyPr/>
          <a:lstStyle/>
          <a:p>
            <a:endParaRPr lang="en-US"/>
          </a:p>
        </p:txBody>
      </p:sp>
      <p:sp>
        <p:nvSpPr>
          <p:cNvPr id="17" name="Text 11"/>
          <p:cNvSpPr txBox="1"/>
          <p:nvPr/>
        </p:nvSpPr>
        <p:spPr>
          <a:xfrm>
            <a:off x="6309360" y="5436108"/>
            <a:ext cx="5303520" cy="1010412"/>
          </a:xfrm>
          <a:prstGeom prst="roundRect">
            <a:avLst>
              <a:gd name="adj" fmla="val 3058"/>
            </a:avLst>
          </a:prstGeom>
          <a:solidFill>
            <a:schemeClr val="accent1">
              <a:lumMod val="50000"/>
            </a:schemeClr>
          </a:solidFill>
          <a:ln/>
        </p:spPr>
        <p:txBody>
          <a:bodyPr wrap="square" lIns="0" tIns="0" rIns="0" bIns="0" rtlCol="0" anchor="t"/>
          <a:lstStyle/>
          <a:p>
            <a:pPr marL="55563">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Hotline #1 carries 83.6% of every call (30,820) at 19.5% abandonment, ASA 41 s, SL20 52%. Hotline #3 is 16.2% (5,978) and performs worse on every measure, 33.5% abandonment, ASA 50 s, AHT 269 s, SL20 39%. </a:t>
            </a:r>
          </a:p>
          <a:p>
            <a:pPr marL="171450"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Hotline #2 is 74 calls in nine days - too few to judge, so it is left out of the narrative. Each hotline splits evenly across the three queues (about a third each).</a:t>
            </a:r>
            <a:endParaRPr lang="en-US" sz="850"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Helpline · queues, slicers, and the heat map</a:t>
            </a:r>
            <a:endParaRPr lang="en-US" sz="2500" dirty="0"/>
          </a:p>
        </p:txBody>
      </p:sp>
      <p:sp>
        <p:nvSpPr>
          <p:cNvPr id="5" name="Shape 1"/>
          <p:cNvSpPr/>
          <p:nvPr/>
        </p:nvSpPr>
        <p:spPr>
          <a:xfrm>
            <a:off x="9331452" y="1069848"/>
            <a:ext cx="2418588"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9331452" y="1069848"/>
            <a:ext cx="2418588"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2  ·  VISUALS 4–7 OF 9</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20 / 24</a:t>
            </a:r>
            <a:endParaRPr lang="en-US" sz="900" dirty="0"/>
          </a:p>
        </p:txBody>
      </p:sp>
      <p:sp>
        <p:nvSpPr>
          <p:cNvPr id="9" name="Text 5"/>
          <p:cNvSpPr txBox="1"/>
          <p:nvPr/>
        </p:nvSpPr>
        <p:spPr>
          <a:xfrm>
            <a:off x="594360" y="1764792"/>
            <a:ext cx="530352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Queue performance - table: one row per Queue Name, six measures</a:t>
            </a:r>
            <a:endParaRPr lang="en-US" sz="1100" dirty="0"/>
          </a:p>
        </p:txBody>
      </p:sp>
      <p:pic>
        <p:nvPicPr>
          <p:cNvPr id="10" name="Image 2" descr="crops_small/t2_queue.jpg"/>
          <p:cNvPicPr>
            <a:picLocks noChangeAspect="1"/>
          </p:cNvPicPr>
          <p:nvPr/>
        </p:nvPicPr>
        <p:blipFill>
          <a:blip r:embed="rId6"/>
          <a:stretch>
            <a:fillRect/>
          </a:stretch>
        </p:blipFill>
        <p:spPr>
          <a:xfrm>
            <a:off x="771001" y="2093976"/>
            <a:ext cx="4950239" cy="1252728"/>
          </a:xfrm>
          <a:prstGeom prst="rect">
            <a:avLst/>
          </a:prstGeom>
          <a:ln>
            <a:noFill/>
          </a:ln>
          <a:effectLst>
            <a:outerShdw blurRad="292100" dist="139700" dir="2700000" algn="tl" rotWithShape="0">
              <a:srgbClr val="333333">
                <a:alpha val="65000"/>
              </a:srgbClr>
            </a:outerShdw>
          </a:effectLst>
        </p:spPr>
      </p:pic>
      <p:sp>
        <p:nvSpPr>
          <p:cNvPr id="11" name="Shape 6"/>
          <p:cNvSpPr/>
          <p:nvPr/>
        </p:nvSpPr>
        <p:spPr>
          <a:xfrm>
            <a:off x="594360" y="3392424"/>
            <a:ext cx="5303520" cy="0"/>
          </a:xfrm>
          <a:prstGeom prst="line">
            <a:avLst/>
          </a:prstGeom>
          <a:noFill/>
          <a:ln w="9525">
            <a:solidFill>
              <a:srgbClr val="DCE5EC"/>
            </a:solidFill>
            <a:prstDash val="solid"/>
          </a:ln>
        </p:spPr>
        <p:txBody>
          <a:bodyPr/>
          <a:lstStyle/>
          <a:p>
            <a:endParaRPr lang="en-US"/>
          </a:p>
        </p:txBody>
      </p:sp>
      <p:sp>
        <p:nvSpPr>
          <p:cNvPr id="12" name="Text 7"/>
          <p:cNvSpPr txBox="1"/>
          <p:nvPr/>
        </p:nvSpPr>
        <p:spPr>
          <a:xfrm>
            <a:off x="594360" y="3438143"/>
            <a:ext cx="5303520" cy="885379"/>
          </a:xfrm>
          <a:prstGeom prst="roundRect">
            <a:avLst>
              <a:gd name="adj" fmla="val 3466"/>
            </a:avLst>
          </a:prstGeom>
          <a:solidFill>
            <a:schemeClr val="accent1">
              <a:lumMod val="50000"/>
            </a:schemeClr>
          </a:solidFill>
          <a:ln/>
        </p:spPr>
        <p:txBody>
          <a:bodyPr wrap="square" lIns="0" tIns="0" rIns="0" bIns="0" rtlCol="0" anchor="t"/>
          <a:lstStyle/>
          <a:p>
            <a:pPr marL="55563">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The three queues are statistically identical: Member 12,309 / Payer 12,292 / Provider 12,352 calls, abandoned 2,696 / 2,634 / 2,678 (21.4–21.9%), ASA 42 / 41 / 43 s, AHT 213 / 214 / 217 s, SL20 49.7 / 50.5 / 50.2%. </a:t>
            </a:r>
          </a:p>
          <a:p>
            <a:pPr marL="171450"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No queue is the problem - the problem is when the calls arrive.</a:t>
            </a:r>
            <a:endParaRPr lang="en-US" sz="850" dirty="0">
              <a:solidFill>
                <a:schemeClr val="bg1"/>
              </a:solidFill>
            </a:endParaRPr>
          </a:p>
        </p:txBody>
      </p:sp>
      <p:sp>
        <p:nvSpPr>
          <p:cNvPr id="14" name="Text 9"/>
          <p:cNvSpPr txBox="1"/>
          <p:nvPr/>
        </p:nvSpPr>
        <p:spPr>
          <a:xfrm>
            <a:off x="594360" y="4416552"/>
            <a:ext cx="5303520" cy="45720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Slicer buttons - Queue Name (Member · Payer · Provider) and Application Name (Hotline #1 · #2 · #3)</a:t>
            </a:r>
            <a:endParaRPr lang="en-US" sz="1100" dirty="0"/>
          </a:p>
        </p:txBody>
      </p:sp>
      <p:pic>
        <p:nvPicPr>
          <p:cNvPr id="15" name="Image 3" descr="crops_small/t2_slicers.jpg"/>
          <p:cNvPicPr>
            <a:picLocks noChangeAspect="1"/>
          </p:cNvPicPr>
          <p:nvPr/>
        </p:nvPicPr>
        <p:blipFill>
          <a:blip r:embed="rId7"/>
          <a:stretch>
            <a:fillRect/>
          </a:stretch>
        </p:blipFill>
        <p:spPr>
          <a:xfrm>
            <a:off x="594360" y="4966781"/>
            <a:ext cx="5303520" cy="600326"/>
          </a:xfrm>
          <a:prstGeom prst="rect">
            <a:avLst/>
          </a:prstGeom>
          <a:ln>
            <a:noFill/>
          </a:ln>
          <a:effectLst>
            <a:outerShdw blurRad="292100" dist="139700" dir="2700000" algn="tl" rotWithShape="0">
              <a:srgbClr val="333333">
                <a:alpha val="65000"/>
              </a:srgbClr>
            </a:outerShdw>
          </a:effectLst>
        </p:spPr>
      </p:pic>
      <p:sp>
        <p:nvSpPr>
          <p:cNvPr id="16" name="Shape 10"/>
          <p:cNvSpPr/>
          <p:nvPr/>
        </p:nvSpPr>
        <p:spPr>
          <a:xfrm>
            <a:off x="594360" y="5650992"/>
            <a:ext cx="5303520" cy="0"/>
          </a:xfrm>
          <a:prstGeom prst="line">
            <a:avLst/>
          </a:prstGeom>
          <a:noFill/>
          <a:ln w="9525">
            <a:solidFill>
              <a:srgbClr val="DCE5EC"/>
            </a:solidFill>
            <a:prstDash val="solid"/>
          </a:ln>
        </p:spPr>
        <p:txBody>
          <a:bodyPr/>
          <a:lstStyle/>
          <a:p>
            <a:endParaRPr lang="en-US"/>
          </a:p>
        </p:txBody>
      </p:sp>
      <p:sp>
        <p:nvSpPr>
          <p:cNvPr id="17" name="Text 11"/>
          <p:cNvSpPr txBox="1"/>
          <p:nvPr/>
        </p:nvSpPr>
        <p:spPr>
          <a:xfrm>
            <a:off x="594360" y="5696711"/>
            <a:ext cx="5303520" cy="807213"/>
          </a:xfrm>
          <a:prstGeom prst="roundRect">
            <a:avLst>
              <a:gd name="adj" fmla="val 4743"/>
            </a:avLst>
          </a:prstGeom>
          <a:solidFill>
            <a:schemeClr val="accent1">
              <a:lumMod val="50000"/>
            </a:schemeClr>
          </a:solidFill>
          <a:ln/>
        </p:spPr>
        <p:txBody>
          <a:bodyPr wrap="square" lIns="0" tIns="0" rIns="0" bIns="0" rtlCol="0" anchor="t"/>
          <a:lstStyle/>
          <a:p>
            <a:pPr marL="55563">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The two drill-downs the brief required, as button slicers so every visual on the page - KPIs, charts, table and heat map - re-computes for the selection. </a:t>
            </a:r>
          </a:p>
          <a:p>
            <a:pPr marL="171450"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Select Hotline #3 and the abandonment card reads 33.5%; select Payer Line and nothing moves - which is itself a finding.</a:t>
            </a:r>
            <a:endParaRPr lang="en-US" sz="850" dirty="0">
              <a:solidFill>
                <a:schemeClr val="bg1"/>
              </a:solidFill>
            </a:endParaRPr>
          </a:p>
        </p:txBody>
      </p:sp>
      <p:sp>
        <p:nvSpPr>
          <p:cNvPr id="18" name="Shape 12"/>
          <p:cNvSpPr/>
          <p:nvPr/>
        </p:nvSpPr>
        <p:spPr>
          <a:xfrm>
            <a:off x="6172200" y="1691641"/>
            <a:ext cx="5577840" cy="3744468"/>
          </a:xfrm>
          <a:prstGeom prst="roundRect">
            <a:avLst>
              <a:gd name="adj" fmla="val 2353"/>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9" name="Text 13"/>
          <p:cNvSpPr txBox="1"/>
          <p:nvPr/>
        </p:nvSpPr>
        <p:spPr>
          <a:xfrm>
            <a:off x="6309360" y="1764792"/>
            <a:ext cx="530352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Abandonment rate day of week × hour - matrix heat map (rows = day, columns = hour)</a:t>
            </a:r>
            <a:endParaRPr lang="en-US" sz="1100" dirty="0"/>
          </a:p>
        </p:txBody>
      </p:sp>
      <p:sp>
        <p:nvSpPr>
          <p:cNvPr id="20" name="Text 14"/>
          <p:cNvSpPr txBox="1"/>
          <p:nvPr/>
        </p:nvSpPr>
        <p:spPr>
          <a:xfrm>
            <a:off x="6309360" y="5143500"/>
            <a:ext cx="5303520" cy="219456"/>
          </a:xfrm>
          <a:prstGeom prst="rect">
            <a:avLst/>
          </a:prstGeom>
          <a:noFill/>
          <a:ln/>
        </p:spPr>
        <p:txBody>
          <a:bodyPr wrap="square" lIns="0" tIns="0" rIns="0" bIns="0" rtlCol="0" anchor="ctr"/>
          <a:lstStyle/>
          <a:p>
            <a:pPr marL="0" indent="0">
              <a:buNone/>
            </a:pPr>
            <a:r>
              <a:rPr lang="en-US" sz="800" i="1" dirty="0">
                <a:solidFill>
                  <a:srgbClr val="55637A"/>
                </a:solidFill>
                <a:latin typeface="Calibri" pitchFamily="34" charset="0"/>
                <a:ea typeface="Calibri" pitchFamily="34" charset="-122"/>
                <a:cs typeface="Calibri" pitchFamily="34" charset="-120"/>
              </a:rPr>
              <a:t>Top: the exported visual (cut at hour 14 by its width, it scrolls to 23 live). Below: the same matrix, 8 am–11 pm, from the full dataset.</a:t>
            </a:r>
            <a:endParaRPr lang="en-US" sz="800" dirty="0"/>
          </a:p>
        </p:txBody>
      </p:sp>
      <p:sp>
        <p:nvSpPr>
          <p:cNvPr id="22" name="Text 16"/>
          <p:cNvSpPr txBox="1"/>
          <p:nvPr/>
        </p:nvSpPr>
        <p:spPr>
          <a:xfrm>
            <a:off x="6309360" y="3689809"/>
            <a:ext cx="5303520" cy="1047196"/>
          </a:xfrm>
          <a:prstGeom prst="rect">
            <a:avLst/>
          </a:prstGeom>
          <a:noFill/>
          <a:ln/>
        </p:spPr>
        <p:txBody>
          <a:bodyPr wrap="square" lIns="0" tIns="0" rIns="0" bIns="0" rtlCol="0" anchor="t"/>
          <a:lstStyle/>
          <a:p>
            <a:pPr marL="55563">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Every row turns red after 8 pm - the evening problem is daily, not one bad night. </a:t>
            </a: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With at least 150 calls in the cell, the worst are Thursday 10 pm (39%), Friday 9 pm (35%), Tuesday 8–9 pm (33%), Saturday 8 pm (30%), Monday 10 pm (30%). </a:t>
            </a: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Daytime cells sit at 15–25% on every day. </a:t>
            </a:r>
          </a:p>
          <a:p>
            <a:pPr marL="171450" indent="-115888">
              <a:buFont typeface="Arial" panose="020B0604020202020204" pitchFamily="34" charset="0"/>
              <a:buChar char="•"/>
            </a:pPr>
            <a:r>
              <a:rPr lang="en-US" sz="950" dirty="0">
                <a:solidFill>
                  <a:srgbClr val="33404F"/>
                </a:solidFill>
                <a:latin typeface="Calibri" pitchFamily="34" charset="0"/>
                <a:ea typeface="Calibri" pitchFamily="34" charset="-122"/>
                <a:cs typeface="Calibri" pitchFamily="34" charset="-120"/>
              </a:rPr>
              <a:t>Cells on fewer than 100 calls (greyed) are colour, not signal. Friday is red from 2 pm onwards, matching its 26%-day rate.</a:t>
            </a:r>
            <a:endParaRPr lang="en-US" sz="850" dirty="0"/>
          </a:p>
        </p:txBody>
      </p:sp>
      <p:pic>
        <p:nvPicPr>
          <p:cNvPr id="26" name="Picture 25">
            <a:extLst>
              <a:ext uri="{FF2B5EF4-FFF2-40B4-BE49-F238E27FC236}">
                <a16:creationId xmlns:a16="http://schemas.microsoft.com/office/drawing/2014/main" id="{D62E4CCE-5411-85EB-9065-28B989F4C333}"/>
              </a:ext>
            </a:extLst>
          </p:cNvPr>
          <p:cNvPicPr>
            <a:picLocks noChangeAspect="1"/>
          </p:cNvPicPr>
          <p:nvPr/>
        </p:nvPicPr>
        <p:blipFill>
          <a:blip r:embed="rId8"/>
          <a:stretch>
            <a:fillRect/>
          </a:stretch>
        </p:blipFill>
        <p:spPr>
          <a:xfrm>
            <a:off x="6299659" y="2176271"/>
            <a:ext cx="5315202" cy="14263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Helpline · handle time vs speed of answer, by date</a:t>
            </a:r>
            <a:endParaRPr lang="en-US" sz="2500" dirty="0"/>
          </a:p>
        </p:txBody>
      </p:sp>
      <p:sp>
        <p:nvSpPr>
          <p:cNvPr id="5" name="Shape 1"/>
          <p:cNvSpPr/>
          <p:nvPr/>
        </p:nvSpPr>
        <p:spPr>
          <a:xfrm>
            <a:off x="9564624" y="1069848"/>
            <a:ext cx="2185416"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9564624" y="1069848"/>
            <a:ext cx="2185416"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2  ·  VISUAL 9 OF 9</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21 / 24</a:t>
            </a:r>
            <a:endParaRPr lang="en-US" sz="900" dirty="0"/>
          </a:p>
        </p:txBody>
      </p:sp>
      <p:sp>
        <p:nvSpPr>
          <p:cNvPr id="9" name="Text 5"/>
          <p:cNvSpPr txBox="1"/>
          <p:nvPr/>
        </p:nvSpPr>
        <p:spPr>
          <a:xfrm>
            <a:off x="594360" y="1764792"/>
            <a:ext cx="7132320" cy="274320"/>
          </a:xfrm>
          <a:prstGeom prst="rect">
            <a:avLst/>
          </a:prstGeom>
          <a:noFill/>
          <a:ln/>
        </p:spPr>
        <p:txBody>
          <a:bodyPr wrap="square" lIns="0" tIns="0" rIns="0" bIns="0" rtlCol="0" anchor="ctr"/>
          <a:lstStyle/>
          <a:p>
            <a:pPr marL="0" indent="0">
              <a:buNone/>
            </a:pPr>
            <a:r>
              <a:rPr lang="en-US" sz="1100" b="1" dirty="0">
                <a:solidFill>
                  <a:srgbClr val="203370"/>
                </a:solidFill>
                <a:latin typeface="Calibri" pitchFamily="34" charset="0"/>
                <a:ea typeface="Calibri" pitchFamily="34" charset="-122"/>
                <a:cs typeface="Calibri" pitchFamily="34" charset="-120"/>
              </a:rPr>
              <a:t>Stacked column by date - ASA Seconds (green) and AHT Seconds (navy), handled calls only</a:t>
            </a:r>
            <a:endParaRPr lang="en-US" sz="1100" dirty="0"/>
          </a:p>
        </p:txBody>
      </p:sp>
      <p:pic>
        <p:nvPicPr>
          <p:cNvPr id="10" name="Image 2" descr="crops_small/t2_aht.jpg"/>
          <p:cNvPicPr>
            <a:picLocks noChangeAspect="1"/>
          </p:cNvPicPr>
          <p:nvPr/>
        </p:nvPicPr>
        <p:blipFill>
          <a:blip r:embed="rId6"/>
          <a:srcRect l="330" r="580"/>
          <a:stretch>
            <a:fillRect/>
          </a:stretch>
        </p:blipFill>
        <p:spPr>
          <a:xfrm>
            <a:off x="617862" y="2150640"/>
            <a:ext cx="9564291" cy="3426490"/>
          </a:xfrm>
          <a:prstGeom prst="rect">
            <a:avLst/>
          </a:prstGeom>
          <a:ln>
            <a:noFill/>
          </a:ln>
          <a:effectLst>
            <a:outerShdw blurRad="292100" dist="139700" dir="2700000" algn="tl" rotWithShape="0">
              <a:srgbClr val="333333">
                <a:alpha val="65000"/>
              </a:srgbClr>
            </a:outerShdw>
          </a:effectLst>
        </p:spPr>
      </p:pic>
      <p:sp>
        <p:nvSpPr>
          <p:cNvPr id="11" name="Shape 6"/>
          <p:cNvSpPr/>
          <p:nvPr/>
        </p:nvSpPr>
        <p:spPr>
          <a:xfrm>
            <a:off x="594359" y="5699391"/>
            <a:ext cx="8824647" cy="0"/>
          </a:xfrm>
          <a:prstGeom prst="line">
            <a:avLst/>
          </a:prstGeom>
          <a:noFill/>
          <a:ln w="9525">
            <a:solidFill>
              <a:srgbClr val="DCE5EC"/>
            </a:solidFill>
            <a:prstDash val="solid"/>
          </a:ln>
        </p:spPr>
        <p:txBody>
          <a:bodyPr/>
          <a:lstStyle/>
          <a:p>
            <a:endParaRPr lang="en-US"/>
          </a:p>
        </p:txBody>
      </p:sp>
      <p:sp>
        <p:nvSpPr>
          <p:cNvPr id="12" name="Text 7"/>
          <p:cNvSpPr txBox="1"/>
          <p:nvPr/>
        </p:nvSpPr>
        <p:spPr>
          <a:xfrm>
            <a:off x="594360" y="5848245"/>
            <a:ext cx="7132320" cy="834437"/>
          </a:xfrm>
          <a:prstGeom prst="roundRect">
            <a:avLst>
              <a:gd name="adj" fmla="val 6780"/>
            </a:avLst>
          </a:prstGeom>
          <a:solidFill>
            <a:schemeClr val="accent1">
              <a:lumMod val="50000"/>
            </a:schemeClr>
          </a:solidFill>
          <a:ln/>
        </p:spPr>
        <p:txBody>
          <a:bodyPr wrap="square" lIns="0" tIns="0" rIns="0" bIns="0" rtlCol="0" anchor="t"/>
          <a:lstStyle/>
          <a:p>
            <a:pPr marL="55563">
              <a:buNone/>
            </a:pPr>
            <a:r>
              <a:rPr lang="en-US" sz="850" b="1" kern="0" spc="150" dirty="0">
                <a:solidFill>
                  <a:srgbClr val="2E8B78"/>
                </a:solidFill>
                <a:latin typeface="Calibri" pitchFamily="34" charset="0"/>
                <a:ea typeface="Calibri" pitchFamily="34" charset="-122"/>
                <a:cs typeface="Calibri" pitchFamily="34" charset="-120"/>
              </a:rPr>
              <a:t>WHAT WE FOUND  </a:t>
            </a:r>
          </a:p>
          <a:p>
            <a:pPr marL="171450"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Handle time is steady every single day - 187 to 228 seconds - so the agents' work is consistent. </a:t>
            </a:r>
          </a:p>
          <a:p>
            <a:pPr marL="171450" indent="-115888">
              <a:buFont typeface="Arial" panose="020B0604020202020204" pitchFamily="34" charset="0"/>
              <a:buChar char="•"/>
            </a:pPr>
            <a:r>
              <a:rPr lang="en-US" sz="950" dirty="0">
                <a:solidFill>
                  <a:schemeClr val="bg1"/>
                </a:solidFill>
                <a:latin typeface="Calibri" pitchFamily="34" charset="0"/>
                <a:ea typeface="Calibri" pitchFamily="34" charset="-122"/>
                <a:cs typeface="Calibri" pitchFamily="34" charset="-120"/>
              </a:rPr>
              <a:t>Speed of answer is not: 10 s on Sunday 1 January (the quietest day, 1,572 calls, SL20 81%), 19 s on the 4th, then 62 s on Friday the 6th (26% abandonment) and 87 s on Sunday the 8th - the worst day of the nine: 24% abandoned, only 28% answered within 20 seconds, and AHT the lowest (187 s) as agents rushed. Monday the 9th, the busiest day (5,047 calls), was answered in 42 s.</a:t>
            </a:r>
            <a:endParaRPr lang="en-US" sz="850"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Task 2 - what we should do next</a:t>
            </a:r>
            <a:endParaRPr lang="en-US" sz="2500" dirty="0"/>
          </a:p>
        </p:txBody>
      </p:sp>
      <p:sp>
        <p:nvSpPr>
          <p:cNvPr id="5" name="Shape 1"/>
          <p:cNvSpPr/>
          <p:nvPr/>
        </p:nvSpPr>
        <p:spPr>
          <a:xfrm>
            <a:off x="9409176" y="1069848"/>
            <a:ext cx="2340864"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9409176" y="1069848"/>
            <a:ext cx="2340864"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2  ·  RECOMMENDATIONS</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22 / 24</a:t>
            </a:r>
            <a:endParaRPr lang="en-US" sz="900" dirty="0"/>
          </a:p>
        </p:txBody>
      </p:sp>
      <p:sp>
        <p:nvSpPr>
          <p:cNvPr id="8" name="Shape 4"/>
          <p:cNvSpPr/>
          <p:nvPr/>
        </p:nvSpPr>
        <p:spPr>
          <a:xfrm>
            <a:off x="457200" y="1691640"/>
            <a:ext cx="3657600" cy="3520440"/>
          </a:xfrm>
          <a:prstGeom prst="roundRect">
            <a:avLst>
              <a:gd name="adj" fmla="val 311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5"/>
          <p:cNvSpPr/>
          <p:nvPr/>
        </p:nvSpPr>
        <p:spPr>
          <a:xfrm>
            <a:off x="685800" y="1874520"/>
            <a:ext cx="420624" cy="420624"/>
          </a:xfrm>
          <a:prstGeom prst="ellipse">
            <a:avLst/>
          </a:prstGeom>
          <a:solidFill>
            <a:srgbClr val="203370"/>
          </a:solidFill>
          <a:ln w="12700">
            <a:solidFill>
              <a:srgbClr val="203370"/>
            </a:solidFill>
            <a:prstDash val="solid"/>
          </a:ln>
        </p:spPr>
        <p:txBody>
          <a:bodyPr/>
          <a:lstStyle/>
          <a:p>
            <a:endParaRPr lang="en-US"/>
          </a:p>
        </p:txBody>
      </p:sp>
      <p:sp>
        <p:nvSpPr>
          <p:cNvPr id="10" name="Text 6"/>
          <p:cNvSpPr txBox="1"/>
          <p:nvPr/>
        </p:nvSpPr>
        <p:spPr>
          <a:xfrm>
            <a:off x="685800" y="187452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txBox="1"/>
          <p:nvPr/>
        </p:nvSpPr>
        <p:spPr>
          <a:xfrm>
            <a:off x="1234440" y="1847088"/>
            <a:ext cx="2743200" cy="502920"/>
          </a:xfrm>
          <a:prstGeom prst="rect">
            <a:avLst/>
          </a:prstGeom>
          <a:noFill/>
          <a:ln/>
        </p:spPr>
        <p:txBody>
          <a:bodyPr wrap="square" lIns="0" tIns="0" rIns="0" bIns="0" rtlCol="0" anchor="ctr"/>
          <a:lstStyle/>
          <a:p>
            <a:pPr marL="0" indent="0">
              <a:buNone/>
            </a:pPr>
            <a:r>
              <a:rPr lang="en-US" sz="1400" b="1" dirty="0">
                <a:solidFill>
                  <a:srgbClr val="203370"/>
                </a:solidFill>
                <a:latin typeface="Calibri" pitchFamily="34" charset="0"/>
                <a:ea typeface="Calibri" pitchFamily="34" charset="-122"/>
                <a:cs typeface="Calibri" pitchFamily="34" charset="-120"/>
              </a:rPr>
              <a:t>Shift coverage into the evening</a:t>
            </a:r>
            <a:endParaRPr lang="en-US" sz="1400" dirty="0"/>
          </a:p>
        </p:txBody>
      </p:sp>
      <p:sp>
        <p:nvSpPr>
          <p:cNvPr id="12" name="Text 8"/>
          <p:cNvSpPr txBox="1"/>
          <p:nvPr/>
        </p:nvSpPr>
        <p:spPr>
          <a:xfrm>
            <a:off x="685800" y="2468880"/>
            <a:ext cx="3200400" cy="868680"/>
          </a:xfrm>
          <a:prstGeom prst="rect">
            <a:avLst/>
          </a:prstGeom>
          <a:noFill/>
          <a:ln/>
        </p:spPr>
        <p:txBody>
          <a:bodyPr wrap="square" lIns="0" tIns="0" rIns="0" bIns="0" rtlCol="0" anchor="t"/>
          <a:lstStyle/>
          <a:p>
            <a:pPr marL="0" indent="0">
              <a:buNone/>
            </a:pPr>
            <a:r>
              <a:rPr lang="en-US" sz="1200" dirty="0">
                <a:solidFill>
                  <a:srgbClr val="33404F"/>
                </a:solidFill>
                <a:latin typeface="Calibri" pitchFamily="34" charset="0"/>
                <a:ea typeface="Calibri" pitchFamily="34" charset="-122"/>
                <a:cs typeface="Calibri" pitchFamily="34" charset="-120"/>
              </a:rPr>
              <a:t>Move part of the roster into the 6–11 pm window, where abandonment climbs from 20% to 43%.</a:t>
            </a:r>
            <a:endParaRPr lang="en-US" sz="1200" dirty="0"/>
          </a:p>
        </p:txBody>
      </p:sp>
      <p:sp>
        <p:nvSpPr>
          <p:cNvPr id="13" name="Shape 9"/>
          <p:cNvSpPr/>
          <p:nvPr/>
        </p:nvSpPr>
        <p:spPr>
          <a:xfrm>
            <a:off x="685800" y="3383280"/>
            <a:ext cx="3200400" cy="0"/>
          </a:xfrm>
          <a:prstGeom prst="line">
            <a:avLst/>
          </a:prstGeom>
          <a:noFill/>
          <a:ln w="12700">
            <a:solidFill>
              <a:srgbClr val="DCE5EC"/>
            </a:solidFill>
            <a:prstDash val="solid"/>
          </a:ln>
        </p:spPr>
        <p:txBody>
          <a:bodyPr/>
          <a:lstStyle/>
          <a:p>
            <a:endParaRPr lang="en-US"/>
          </a:p>
        </p:txBody>
      </p:sp>
      <p:sp>
        <p:nvSpPr>
          <p:cNvPr id="14" name="Text 10"/>
          <p:cNvSpPr txBox="1"/>
          <p:nvPr/>
        </p:nvSpPr>
        <p:spPr>
          <a:xfrm>
            <a:off x="685800" y="3474720"/>
            <a:ext cx="3200400" cy="914400"/>
          </a:xfrm>
          <a:prstGeom prst="rect">
            <a:avLst/>
          </a:prstGeom>
          <a:noFill/>
          <a:ln/>
        </p:spPr>
        <p:txBody>
          <a:bodyPr wrap="square" lIns="0" tIns="0" rIns="0" bIns="0" rtlCol="0" anchor="t"/>
          <a:lstStyle/>
          <a:p>
            <a:pPr marL="0" indent="0">
              <a:buNone/>
            </a:pPr>
            <a:r>
              <a:rPr lang="en-US" sz="1000" b="1" dirty="0">
                <a:solidFill>
                  <a:srgbClr val="C98A2B"/>
                </a:solidFill>
                <a:latin typeface="Calibri" pitchFamily="34" charset="0"/>
                <a:ea typeface="Calibri" pitchFamily="34" charset="-122"/>
                <a:cs typeface="Calibri" pitchFamily="34" charset="-120"/>
              </a:rPr>
              <a:t>Why  </a:t>
            </a:r>
            <a:r>
              <a:rPr lang="en-US" sz="1000" dirty="0">
                <a:solidFill>
                  <a:srgbClr val="55637A"/>
                </a:solidFill>
                <a:latin typeface="Calibri" pitchFamily="34" charset="0"/>
                <a:ea typeface="Calibri" pitchFamily="34" charset="-122"/>
                <a:cs typeface="Calibri" pitchFamily="34" charset="-120"/>
              </a:rPr>
              <a:t>A third of calls and 37% of abandons land in the evening, volume is still 2,800 calls an hour at 8 pm, every day of the week turns red after 8 pm on the heat map.</a:t>
            </a:r>
            <a:endParaRPr lang="en-US" sz="1000" dirty="0"/>
          </a:p>
        </p:txBody>
      </p:sp>
      <p:sp>
        <p:nvSpPr>
          <p:cNvPr id="15" name="Text 11"/>
          <p:cNvSpPr txBox="1"/>
          <p:nvPr/>
        </p:nvSpPr>
        <p:spPr>
          <a:xfrm>
            <a:off x="685800" y="4434840"/>
            <a:ext cx="3200400" cy="731520"/>
          </a:xfrm>
          <a:prstGeom prst="rect">
            <a:avLst/>
          </a:prstGeom>
          <a:noFill/>
          <a:ln/>
        </p:spPr>
        <p:txBody>
          <a:bodyPr wrap="square" lIns="0" tIns="0" rIns="0" bIns="0" rtlCol="0" anchor="t"/>
          <a:lstStyle/>
          <a:p>
            <a:pPr marL="0" indent="0">
              <a:buNone/>
            </a:pPr>
            <a:r>
              <a:rPr lang="en-US" sz="1000" b="1" dirty="0">
                <a:solidFill>
                  <a:srgbClr val="2E8B78"/>
                </a:solidFill>
                <a:latin typeface="Calibri" pitchFamily="34" charset="0"/>
                <a:ea typeface="Calibri" pitchFamily="34" charset="-122"/>
                <a:cs typeface="Calibri" pitchFamily="34" charset="-120"/>
              </a:rPr>
              <a:t>Watch on the dashboard  </a:t>
            </a:r>
            <a:r>
              <a:rPr lang="en-US" sz="1000" dirty="0">
                <a:solidFill>
                  <a:srgbClr val="55637A"/>
                </a:solidFill>
                <a:latin typeface="Calibri" pitchFamily="34" charset="0"/>
                <a:ea typeface="Calibri" pitchFamily="34" charset="-122"/>
                <a:cs typeface="Calibri" pitchFamily="34" charset="-120"/>
              </a:rPr>
              <a:t>Calls by hour vs abandonment: the line after 8 pm should flatten toward the daytime 20%.</a:t>
            </a:r>
            <a:endParaRPr lang="en-US" sz="1000" dirty="0"/>
          </a:p>
        </p:txBody>
      </p:sp>
      <p:sp>
        <p:nvSpPr>
          <p:cNvPr id="16" name="Shape 12"/>
          <p:cNvSpPr/>
          <p:nvPr/>
        </p:nvSpPr>
        <p:spPr>
          <a:xfrm>
            <a:off x="4251960" y="1691640"/>
            <a:ext cx="3657600" cy="3520440"/>
          </a:xfrm>
          <a:prstGeom prst="roundRect">
            <a:avLst>
              <a:gd name="adj" fmla="val 311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3"/>
          <p:cNvSpPr/>
          <p:nvPr/>
        </p:nvSpPr>
        <p:spPr>
          <a:xfrm>
            <a:off x="4480560" y="1874520"/>
            <a:ext cx="420624" cy="420624"/>
          </a:xfrm>
          <a:prstGeom prst="ellipse">
            <a:avLst/>
          </a:prstGeom>
          <a:solidFill>
            <a:srgbClr val="203370"/>
          </a:solidFill>
          <a:ln w="12700">
            <a:solidFill>
              <a:srgbClr val="203370"/>
            </a:solidFill>
            <a:prstDash val="solid"/>
          </a:ln>
        </p:spPr>
        <p:txBody>
          <a:bodyPr/>
          <a:lstStyle/>
          <a:p>
            <a:endParaRPr lang="en-US"/>
          </a:p>
        </p:txBody>
      </p:sp>
      <p:sp>
        <p:nvSpPr>
          <p:cNvPr id="18" name="Text 14"/>
          <p:cNvSpPr txBox="1"/>
          <p:nvPr/>
        </p:nvSpPr>
        <p:spPr>
          <a:xfrm>
            <a:off x="4480560" y="187452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5"/>
          <p:cNvSpPr txBox="1"/>
          <p:nvPr/>
        </p:nvSpPr>
        <p:spPr>
          <a:xfrm>
            <a:off x="5029200" y="1847088"/>
            <a:ext cx="2743200" cy="502920"/>
          </a:xfrm>
          <a:prstGeom prst="rect">
            <a:avLst/>
          </a:prstGeom>
          <a:noFill/>
          <a:ln/>
        </p:spPr>
        <p:txBody>
          <a:bodyPr wrap="square" lIns="0" tIns="0" rIns="0" bIns="0" rtlCol="0" anchor="ctr"/>
          <a:lstStyle/>
          <a:p>
            <a:pPr marL="0" indent="0">
              <a:buNone/>
            </a:pPr>
            <a:r>
              <a:rPr lang="en-US" sz="1400" b="1" dirty="0">
                <a:solidFill>
                  <a:srgbClr val="203370"/>
                </a:solidFill>
                <a:latin typeface="Calibri" pitchFamily="34" charset="0"/>
                <a:ea typeface="Calibri" pitchFamily="34" charset="-122"/>
                <a:cs typeface="Calibri" pitchFamily="34" charset="-120"/>
              </a:rPr>
              <a:t>Add coverage on Mondays</a:t>
            </a:r>
            <a:endParaRPr lang="en-US" sz="1400" dirty="0"/>
          </a:p>
        </p:txBody>
      </p:sp>
      <p:sp>
        <p:nvSpPr>
          <p:cNvPr id="20" name="Text 16"/>
          <p:cNvSpPr txBox="1"/>
          <p:nvPr/>
        </p:nvSpPr>
        <p:spPr>
          <a:xfrm>
            <a:off x="4480560" y="2468880"/>
            <a:ext cx="3200400" cy="868680"/>
          </a:xfrm>
          <a:prstGeom prst="rect">
            <a:avLst/>
          </a:prstGeom>
          <a:noFill/>
          <a:ln/>
        </p:spPr>
        <p:txBody>
          <a:bodyPr wrap="square" lIns="0" tIns="0" rIns="0" bIns="0" rtlCol="0" anchor="t"/>
          <a:lstStyle/>
          <a:p>
            <a:pPr marL="0" indent="0">
              <a:buNone/>
            </a:pPr>
            <a:r>
              <a:rPr lang="en-US" sz="1200" dirty="0">
                <a:solidFill>
                  <a:srgbClr val="33404F"/>
                </a:solidFill>
                <a:latin typeface="Calibri" pitchFamily="34" charset="0"/>
                <a:ea typeface="Calibri" pitchFamily="34" charset="-122"/>
                <a:cs typeface="Calibri" pitchFamily="34" charset="-120"/>
              </a:rPr>
              <a:t>Add Monday-specific coverage on top of the weekday pattern - and check Friday and Sunday rosters.</a:t>
            </a:r>
            <a:endParaRPr lang="en-US" sz="1200" dirty="0"/>
          </a:p>
        </p:txBody>
      </p:sp>
      <p:sp>
        <p:nvSpPr>
          <p:cNvPr id="21" name="Shape 17"/>
          <p:cNvSpPr/>
          <p:nvPr/>
        </p:nvSpPr>
        <p:spPr>
          <a:xfrm>
            <a:off x="4480560" y="3383280"/>
            <a:ext cx="3200400" cy="0"/>
          </a:xfrm>
          <a:prstGeom prst="line">
            <a:avLst/>
          </a:prstGeom>
          <a:noFill/>
          <a:ln w="12700">
            <a:solidFill>
              <a:srgbClr val="DCE5EC"/>
            </a:solidFill>
            <a:prstDash val="solid"/>
          </a:ln>
        </p:spPr>
        <p:txBody>
          <a:bodyPr/>
          <a:lstStyle/>
          <a:p>
            <a:endParaRPr lang="en-US"/>
          </a:p>
        </p:txBody>
      </p:sp>
      <p:sp>
        <p:nvSpPr>
          <p:cNvPr id="22" name="Text 18"/>
          <p:cNvSpPr txBox="1"/>
          <p:nvPr/>
        </p:nvSpPr>
        <p:spPr>
          <a:xfrm>
            <a:off x="4480560" y="3474720"/>
            <a:ext cx="3200400" cy="914400"/>
          </a:xfrm>
          <a:prstGeom prst="rect">
            <a:avLst/>
          </a:prstGeom>
          <a:noFill/>
          <a:ln/>
        </p:spPr>
        <p:txBody>
          <a:bodyPr wrap="square" lIns="0" tIns="0" rIns="0" bIns="0" rtlCol="0" anchor="t"/>
          <a:lstStyle/>
          <a:p>
            <a:pPr marL="0" indent="0">
              <a:buNone/>
            </a:pPr>
            <a:r>
              <a:rPr lang="en-US" sz="1000" b="1" dirty="0">
                <a:solidFill>
                  <a:srgbClr val="C98A2B"/>
                </a:solidFill>
                <a:latin typeface="Calibri" pitchFamily="34" charset="0"/>
                <a:ea typeface="Calibri" pitchFamily="34" charset="-122"/>
                <a:cs typeface="Calibri" pitchFamily="34" charset="-120"/>
              </a:rPr>
              <a:t>Why  </a:t>
            </a:r>
            <a:r>
              <a:rPr lang="en-US" sz="1000" dirty="0">
                <a:solidFill>
                  <a:srgbClr val="55637A"/>
                </a:solidFill>
                <a:latin typeface="Calibri" pitchFamily="34" charset="0"/>
                <a:ea typeface="Calibri" pitchFamily="34" charset="-122"/>
                <a:cs typeface="Calibri" pitchFamily="34" charset="-120"/>
              </a:rPr>
              <a:t>Mondays carry about 9,500 calls against 4,000–5,000 on other days, with abandonment no better than average, Friday and Sunday 8 January show the thinnest coverage (ASA 62 s and 87 s).</a:t>
            </a:r>
            <a:endParaRPr lang="en-US" sz="1000" dirty="0"/>
          </a:p>
        </p:txBody>
      </p:sp>
      <p:sp>
        <p:nvSpPr>
          <p:cNvPr id="23" name="Text 19"/>
          <p:cNvSpPr txBox="1"/>
          <p:nvPr/>
        </p:nvSpPr>
        <p:spPr>
          <a:xfrm>
            <a:off x="4480560" y="4434840"/>
            <a:ext cx="3200400" cy="731520"/>
          </a:xfrm>
          <a:prstGeom prst="rect">
            <a:avLst/>
          </a:prstGeom>
          <a:noFill/>
          <a:ln/>
        </p:spPr>
        <p:txBody>
          <a:bodyPr wrap="square" lIns="0" tIns="0" rIns="0" bIns="0" rtlCol="0" anchor="t"/>
          <a:lstStyle/>
          <a:p>
            <a:pPr marL="0" indent="0">
              <a:buNone/>
            </a:pPr>
            <a:r>
              <a:rPr lang="en-US" sz="1000" b="1" dirty="0">
                <a:solidFill>
                  <a:srgbClr val="2E8B78"/>
                </a:solidFill>
                <a:latin typeface="Calibri" pitchFamily="34" charset="0"/>
                <a:ea typeface="Calibri" pitchFamily="34" charset="-122"/>
                <a:cs typeface="Calibri" pitchFamily="34" charset="-120"/>
              </a:rPr>
              <a:t>Watch on the dashboard  </a:t>
            </a:r>
            <a:r>
              <a:rPr lang="en-US" sz="1000" dirty="0">
                <a:solidFill>
                  <a:srgbClr val="55637A"/>
                </a:solidFill>
                <a:latin typeface="Calibri" pitchFamily="34" charset="0"/>
                <a:ea typeface="Calibri" pitchFamily="34" charset="-122"/>
                <a:cs typeface="Calibri" pitchFamily="34" charset="-120"/>
              </a:rPr>
              <a:t>Calls and abandonment by day: Monday's abandoned bar should fall below the 21% average, ASA by date should stop spiking.</a:t>
            </a:r>
            <a:endParaRPr lang="en-US" sz="1000" dirty="0"/>
          </a:p>
        </p:txBody>
      </p:sp>
      <p:sp>
        <p:nvSpPr>
          <p:cNvPr id="24" name="Shape 20"/>
          <p:cNvSpPr/>
          <p:nvPr/>
        </p:nvSpPr>
        <p:spPr>
          <a:xfrm>
            <a:off x="8046720" y="1691640"/>
            <a:ext cx="3657600" cy="3520440"/>
          </a:xfrm>
          <a:prstGeom prst="roundRect">
            <a:avLst>
              <a:gd name="adj" fmla="val 311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1"/>
          <p:cNvSpPr/>
          <p:nvPr/>
        </p:nvSpPr>
        <p:spPr>
          <a:xfrm>
            <a:off x="8275320" y="1874520"/>
            <a:ext cx="420624" cy="420624"/>
          </a:xfrm>
          <a:prstGeom prst="ellipse">
            <a:avLst/>
          </a:prstGeom>
          <a:solidFill>
            <a:srgbClr val="203370"/>
          </a:solidFill>
          <a:ln w="12700">
            <a:solidFill>
              <a:srgbClr val="203370"/>
            </a:solidFill>
            <a:prstDash val="solid"/>
          </a:ln>
        </p:spPr>
        <p:txBody>
          <a:bodyPr/>
          <a:lstStyle/>
          <a:p>
            <a:endParaRPr lang="en-US"/>
          </a:p>
        </p:txBody>
      </p:sp>
      <p:sp>
        <p:nvSpPr>
          <p:cNvPr id="26" name="Text 22"/>
          <p:cNvSpPr txBox="1"/>
          <p:nvPr/>
        </p:nvSpPr>
        <p:spPr>
          <a:xfrm>
            <a:off x="8275320" y="187452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3"/>
          <p:cNvSpPr txBox="1"/>
          <p:nvPr/>
        </p:nvSpPr>
        <p:spPr>
          <a:xfrm>
            <a:off x="8823960" y="1847088"/>
            <a:ext cx="2743200" cy="502920"/>
          </a:xfrm>
          <a:prstGeom prst="rect">
            <a:avLst/>
          </a:prstGeom>
          <a:noFill/>
          <a:ln/>
        </p:spPr>
        <p:txBody>
          <a:bodyPr wrap="square" lIns="0" tIns="0" rIns="0" bIns="0" rtlCol="0" anchor="ctr"/>
          <a:lstStyle/>
          <a:p>
            <a:pPr marL="0" indent="0">
              <a:buNone/>
            </a:pPr>
            <a:r>
              <a:rPr lang="en-US" sz="1400" b="1" dirty="0">
                <a:solidFill>
                  <a:srgbClr val="203370"/>
                </a:solidFill>
                <a:latin typeface="Calibri" pitchFamily="34" charset="0"/>
                <a:ea typeface="Calibri" pitchFamily="34" charset="-122"/>
                <a:cs typeface="Calibri" pitchFamily="34" charset="-120"/>
              </a:rPr>
              <a:t>Keep Hotline #1 the priority</a:t>
            </a:r>
            <a:endParaRPr lang="en-US" sz="1400" dirty="0"/>
          </a:p>
        </p:txBody>
      </p:sp>
      <p:sp>
        <p:nvSpPr>
          <p:cNvPr id="28" name="Text 24"/>
          <p:cNvSpPr txBox="1"/>
          <p:nvPr/>
        </p:nvSpPr>
        <p:spPr>
          <a:xfrm>
            <a:off x="8275320" y="2468880"/>
            <a:ext cx="3200400" cy="868680"/>
          </a:xfrm>
          <a:prstGeom prst="rect">
            <a:avLst/>
          </a:prstGeom>
          <a:noFill/>
          <a:ln/>
        </p:spPr>
        <p:txBody>
          <a:bodyPr wrap="square" lIns="0" tIns="0" rIns="0" bIns="0" rtlCol="0" anchor="t"/>
          <a:lstStyle/>
          <a:p>
            <a:pPr marL="0" indent="0">
              <a:buNone/>
            </a:pPr>
            <a:r>
              <a:rPr lang="en-US" sz="1200" dirty="0">
                <a:solidFill>
                  <a:srgbClr val="33404F"/>
                </a:solidFill>
                <a:latin typeface="Calibri" pitchFamily="34" charset="0"/>
                <a:ea typeface="Calibri" pitchFamily="34" charset="-122"/>
                <a:cs typeface="Calibri" pitchFamily="34" charset="-120"/>
              </a:rPr>
              <a:t>Point any staffing or system investment at Hotline #1 first, and put Hotline #3 on the watch list.</a:t>
            </a:r>
            <a:endParaRPr lang="en-US" sz="1200" dirty="0"/>
          </a:p>
        </p:txBody>
      </p:sp>
      <p:sp>
        <p:nvSpPr>
          <p:cNvPr id="29" name="Shape 25"/>
          <p:cNvSpPr/>
          <p:nvPr/>
        </p:nvSpPr>
        <p:spPr>
          <a:xfrm>
            <a:off x="8275320" y="3383280"/>
            <a:ext cx="3200400" cy="0"/>
          </a:xfrm>
          <a:prstGeom prst="line">
            <a:avLst/>
          </a:prstGeom>
          <a:noFill/>
          <a:ln w="12700">
            <a:solidFill>
              <a:srgbClr val="DCE5EC"/>
            </a:solidFill>
            <a:prstDash val="solid"/>
          </a:ln>
        </p:spPr>
        <p:txBody>
          <a:bodyPr/>
          <a:lstStyle/>
          <a:p>
            <a:endParaRPr lang="en-US"/>
          </a:p>
        </p:txBody>
      </p:sp>
      <p:sp>
        <p:nvSpPr>
          <p:cNvPr id="30" name="Text 26"/>
          <p:cNvSpPr txBox="1"/>
          <p:nvPr/>
        </p:nvSpPr>
        <p:spPr>
          <a:xfrm>
            <a:off x="8275320" y="3474720"/>
            <a:ext cx="3200400" cy="914400"/>
          </a:xfrm>
          <a:prstGeom prst="rect">
            <a:avLst/>
          </a:prstGeom>
          <a:noFill/>
          <a:ln/>
        </p:spPr>
        <p:txBody>
          <a:bodyPr wrap="square" lIns="0" tIns="0" rIns="0" bIns="0" rtlCol="0" anchor="t"/>
          <a:lstStyle/>
          <a:p>
            <a:pPr marL="0" indent="0">
              <a:buNone/>
            </a:pPr>
            <a:r>
              <a:rPr lang="en-US" sz="1000" b="1" dirty="0">
                <a:solidFill>
                  <a:srgbClr val="C98A2B"/>
                </a:solidFill>
                <a:latin typeface="Calibri" pitchFamily="34" charset="0"/>
                <a:ea typeface="Calibri" pitchFamily="34" charset="-122"/>
                <a:cs typeface="Calibri" pitchFamily="34" charset="-120"/>
              </a:rPr>
              <a:t>Why  </a:t>
            </a:r>
            <a:r>
              <a:rPr lang="en-US" sz="1000" dirty="0">
                <a:solidFill>
                  <a:srgbClr val="55637A"/>
                </a:solidFill>
                <a:latin typeface="Calibri" pitchFamily="34" charset="0"/>
                <a:ea typeface="Calibri" pitchFamily="34" charset="-122"/>
                <a:cs typeface="Calibri" pitchFamily="34" charset="-120"/>
              </a:rPr>
              <a:t>Hotline #1 is 83.6% of every call, Hotline #3 abandons one call in three (33.5%) with slower answer and longer handle times.</a:t>
            </a:r>
            <a:endParaRPr lang="en-US" sz="1000" dirty="0"/>
          </a:p>
        </p:txBody>
      </p:sp>
      <p:sp>
        <p:nvSpPr>
          <p:cNvPr id="31" name="Text 27"/>
          <p:cNvSpPr txBox="1"/>
          <p:nvPr/>
        </p:nvSpPr>
        <p:spPr>
          <a:xfrm>
            <a:off x="8275320" y="4434840"/>
            <a:ext cx="3200400" cy="731520"/>
          </a:xfrm>
          <a:prstGeom prst="rect">
            <a:avLst/>
          </a:prstGeom>
          <a:noFill/>
          <a:ln/>
        </p:spPr>
        <p:txBody>
          <a:bodyPr wrap="square" lIns="0" tIns="0" rIns="0" bIns="0" rtlCol="0" anchor="t"/>
          <a:lstStyle/>
          <a:p>
            <a:pPr marL="0" indent="0">
              <a:buNone/>
            </a:pPr>
            <a:r>
              <a:rPr lang="en-US" sz="1000" b="1" dirty="0">
                <a:solidFill>
                  <a:srgbClr val="2E8B78"/>
                </a:solidFill>
                <a:latin typeface="Calibri" pitchFamily="34" charset="0"/>
                <a:ea typeface="Calibri" pitchFamily="34" charset="-122"/>
                <a:cs typeface="Calibri" pitchFamily="34" charset="-120"/>
              </a:rPr>
              <a:t>Watch on the dashboard  </a:t>
            </a:r>
            <a:r>
              <a:rPr lang="en-US" sz="1000" dirty="0">
                <a:solidFill>
                  <a:srgbClr val="55637A"/>
                </a:solidFill>
                <a:latin typeface="Calibri" pitchFamily="34" charset="0"/>
                <a:ea typeface="Calibri" pitchFamily="34" charset="-122"/>
                <a:cs typeface="Calibri" pitchFamily="34" charset="-120"/>
              </a:rPr>
              <a:t>Filter by Application Name: Hotline #1 SL20 and abandonment first, Hotline #3's 33.5% next.</a:t>
            </a:r>
            <a:endParaRPr lang="en-US" sz="1000" dirty="0"/>
          </a:p>
        </p:txBody>
      </p:sp>
      <p:sp>
        <p:nvSpPr>
          <p:cNvPr id="32" name="Shape 28"/>
          <p:cNvSpPr/>
          <p:nvPr/>
        </p:nvSpPr>
        <p:spPr>
          <a:xfrm>
            <a:off x="457200" y="5440680"/>
            <a:ext cx="11292840" cy="868680"/>
          </a:xfrm>
          <a:prstGeom prst="roundRect">
            <a:avLst>
              <a:gd name="adj" fmla="val 12632"/>
            </a:avLst>
          </a:prstGeom>
          <a:solidFill>
            <a:srgbClr val="F3F7F9"/>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33" name="Text 29"/>
          <p:cNvSpPr txBox="1"/>
          <p:nvPr/>
        </p:nvSpPr>
        <p:spPr>
          <a:xfrm>
            <a:off x="685800" y="5486400"/>
            <a:ext cx="10881360" cy="777240"/>
          </a:xfrm>
          <a:prstGeom prst="rect">
            <a:avLst/>
          </a:prstGeom>
          <a:noFill/>
          <a:ln/>
        </p:spPr>
        <p:txBody>
          <a:bodyPr wrap="square" lIns="0" tIns="0" rIns="0" bIns="0" rtlCol="0" anchor="ctr"/>
          <a:lstStyle/>
          <a:p>
            <a:pPr marL="0" indent="0">
              <a:buNone/>
            </a:pPr>
            <a:r>
              <a:rPr lang="en-US" sz="1100" b="1" dirty="0">
                <a:solidFill>
                  <a:srgbClr val="2E8B78"/>
                </a:solidFill>
                <a:latin typeface="Calibri" pitchFamily="34" charset="0"/>
                <a:ea typeface="Calibri" pitchFamily="34" charset="-122"/>
                <a:cs typeface="Calibri" pitchFamily="34" charset="-120"/>
              </a:rPr>
              <a:t>Same team, same skill  </a:t>
            </a:r>
            <a:r>
              <a:rPr lang="en-US" sz="1100" dirty="0">
                <a:solidFill>
                  <a:srgbClr val="33404F"/>
                </a:solidFill>
                <a:latin typeface="Calibri" pitchFamily="34" charset="0"/>
                <a:ea typeface="Calibri" pitchFamily="34" charset="-122"/>
                <a:cs typeface="Calibri" pitchFamily="34" charset="-120"/>
              </a:rPr>
              <a:t>- just point more of them at the hours we're losing callers. The queue table proves it is not a process problem: all three queues answer in 42 seconds and handle in 3.5 minutes.   </a:t>
            </a:r>
            <a:r>
              <a:rPr lang="en-US" sz="1100" b="1" dirty="0">
                <a:solidFill>
                  <a:srgbClr val="C98A2B"/>
                </a:solidFill>
                <a:latin typeface="Calibri" pitchFamily="34" charset="0"/>
                <a:ea typeface="Calibri" pitchFamily="34" charset="-122"/>
                <a:cs typeface="Calibri" pitchFamily="34" charset="-120"/>
              </a:rPr>
              <a:t>Honest limitation  </a:t>
            </a:r>
            <a:r>
              <a:rPr lang="en-US" sz="1100" dirty="0">
                <a:solidFill>
                  <a:srgbClr val="33404F"/>
                </a:solidFill>
                <a:latin typeface="Calibri" pitchFamily="34" charset="0"/>
                <a:ea typeface="Calibri" pitchFamily="34" charset="-122"/>
                <a:cs typeface="Calibri" pitchFamily="34" charset="-120"/>
              </a:rPr>
              <a:t>nine days cannot separate a real weekly pattern from one unusual week, extend the extract before locking a roster, then link helpline effort to claims outcomes.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Task 3 - General SQL: switching to the PDF</a:t>
            </a:r>
            <a:endParaRPr lang="en-US" sz="2500" dirty="0"/>
          </a:p>
        </p:txBody>
      </p:sp>
      <p:sp>
        <p:nvSpPr>
          <p:cNvPr id="5" name="Shape 1"/>
          <p:cNvSpPr/>
          <p:nvPr/>
        </p:nvSpPr>
        <p:spPr>
          <a:xfrm>
            <a:off x="9176004" y="1069848"/>
            <a:ext cx="2574036"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9176004" y="1069848"/>
            <a:ext cx="2574036"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TASK 3  ·  SQL  ·  10 MINUTES</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23 / 24</a:t>
            </a:r>
            <a:endParaRPr lang="en-US" sz="900" dirty="0"/>
          </a:p>
        </p:txBody>
      </p:sp>
      <p:sp>
        <p:nvSpPr>
          <p:cNvPr id="8" name="Shape 4"/>
          <p:cNvSpPr/>
          <p:nvPr/>
        </p:nvSpPr>
        <p:spPr>
          <a:xfrm>
            <a:off x="457200" y="1691640"/>
            <a:ext cx="7223760" cy="4617720"/>
          </a:xfrm>
          <a:prstGeom prst="roundRect">
            <a:avLst>
              <a:gd name="adj" fmla="val 2376"/>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5"/>
          <p:cNvSpPr txBox="1"/>
          <p:nvPr/>
        </p:nvSpPr>
        <p:spPr>
          <a:xfrm>
            <a:off x="685800" y="1810512"/>
            <a:ext cx="6766560" cy="457200"/>
          </a:xfrm>
          <a:prstGeom prst="rect">
            <a:avLst/>
          </a:prstGeom>
          <a:noFill/>
          <a:ln/>
        </p:spPr>
        <p:txBody>
          <a:bodyPr wrap="square" lIns="0" tIns="0" rIns="0" bIns="0" rtlCol="0" anchor="ctr"/>
          <a:lstStyle/>
          <a:p>
            <a:pPr marL="0" indent="0">
              <a:buNone/>
            </a:pPr>
            <a:r>
              <a:rPr lang="en-US" sz="1200" b="1" dirty="0">
                <a:solidFill>
                  <a:srgbClr val="203370"/>
                </a:solidFill>
                <a:latin typeface="Calibri" pitchFamily="34" charset="0"/>
                <a:ea typeface="Calibri" pitchFamily="34" charset="-122"/>
                <a:cs typeface="Calibri" pitchFamily="34" charset="-120"/>
              </a:rPr>
              <a:t>Three queries against the fictional schema (Members · MembershipClub · Promotion · Staff · MemberOrder · Roster)</a:t>
            </a:r>
            <a:endParaRPr lang="en-US" sz="1200" dirty="0"/>
          </a:p>
        </p:txBody>
      </p:sp>
      <p:sp>
        <p:nvSpPr>
          <p:cNvPr id="10" name="Shape 6"/>
          <p:cNvSpPr/>
          <p:nvPr/>
        </p:nvSpPr>
        <p:spPr>
          <a:xfrm>
            <a:off x="685800" y="2377440"/>
            <a:ext cx="6766560" cy="1097280"/>
          </a:xfrm>
          <a:prstGeom prst="roundRect">
            <a:avLst>
              <a:gd name="adj" fmla="val 6667"/>
            </a:avLst>
          </a:prstGeom>
          <a:solidFill>
            <a:srgbClr val="F3F7F9"/>
          </a:solidFill>
          <a:ln w="6350">
            <a:solidFill>
              <a:srgbClr val="DCE5EC"/>
            </a:solidFill>
            <a:prstDash val="solid"/>
          </a:ln>
        </p:spPr>
        <p:txBody>
          <a:bodyPr/>
          <a:lstStyle/>
          <a:p>
            <a:endParaRPr lang="en-US"/>
          </a:p>
        </p:txBody>
      </p:sp>
      <p:sp>
        <p:nvSpPr>
          <p:cNvPr id="11" name="Text 7"/>
          <p:cNvSpPr txBox="1"/>
          <p:nvPr/>
        </p:nvSpPr>
        <p:spPr>
          <a:xfrm>
            <a:off x="868680" y="2450592"/>
            <a:ext cx="1097280" cy="274320"/>
          </a:xfrm>
          <a:prstGeom prst="rect">
            <a:avLst/>
          </a:prstGeom>
          <a:noFill/>
          <a:ln/>
        </p:spPr>
        <p:txBody>
          <a:bodyPr wrap="square" lIns="0" tIns="0" rIns="0" bIns="0" rtlCol="0" anchor="ctr"/>
          <a:lstStyle/>
          <a:p>
            <a:pPr marL="0" indent="0">
              <a:buNone/>
            </a:pPr>
            <a:r>
              <a:rPr lang="en-US" sz="1000" b="1" kern="0" spc="200" dirty="0">
                <a:solidFill>
                  <a:srgbClr val="4BA38C"/>
                </a:solidFill>
                <a:latin typeface="Calibri" pitchFamily="34" charset="0"/>
                <a:ea typeface="Calibri" pitchFamily="34" charset="-122"/>
                <a:cs typeface="Calibri" pitchFamily="34" charset="-120"/>
              </a:rPr>
              <a:t>Query 1</a:t>
            </a:r>
            <a:endParaRPr lang="en-US" sz="1000" dirty="0"/>
          </a:p>
        </p:txBody>
      </p:sp>
      <p:sp>
        <p:nvSpPr>
          <p:cNvPr id="12" name="Text 8"/>
          <p:cNvSpPr txBox="1"/>
          <p:nvPr/>
        </p:nvSpPr>
        <p:spPr>
          <a:xfrm>
            <a:off x="1920240" y="2432304"/>
            <a:ext cx="5394960" cy="320040"/>
          </a:xfrm>
          <a:prstGeom prst="rect">
            <a:avLst/>
          </a:prstGeom>
          <a:noFill/>
          <a:ln/>
        </p:spPr>
        <p:txBody>
          <a:bodyPr wrap="square" lIns="0" tIns="0" rIns="0" bIns="0" rtlCol="0" anchor="ctr"/>
          <a:lstStyle/>
          <a:p>
            <a:pPr marL="0" indent="0">
              <a:buNone/>
            </a:pPr>
            <a:r>
              <a:rPr lang="en-US" sz="1200" b="1" dirty="0">
                <a:solidFill>
                  <a:srgbClr val="33404F"/>
                </a:solidFill>
                <a:latin typeface="Calibri" pitchFamily="34" charset="0"/>
                <a:ea typeface="Calibri" pitchFamily="34" charset="-122"/>
                <a:cs typeface="Calibri" pitchFamily="34" charset="-120"/>
              </a:rPr>
              <a:t>Staff details for staff 105, 108, 110 and 113</a:t>
            </a:r>
            <a:endParaRPr lang="en-US" sz="1200" dirty="0"/>
          </a:p>
        </p:txBody>
      </p:sp>
      <p:sp>
        <p:nvSpPr>
          <p:cNvPr id="13" name="Text 9"/>
          <p:cNvSpPr txBox="1"/>
          <p:nvPr/>
        </p:nvSpPr>
        <p:spPr>
          <a:xfrm>
            <a:off x="868680" y="2788920"/>
            <a:ext cx="6446520" cy="640080"/>
          </a:xfrm>
          <a:prstGeom prst="rect">
            <a:avLst/>
          </a:prstGeom>
          <a:noFill/>
          <a:ln/>
        </p:spPr>
        <p:txBody>
          <a:bodyPr wrap="square" lIns="0" tIns="0" rIns="0" bIns="0" rtlCol="0" anchor="t"/>
          <a:lstStyle/>
          <a:p>
            <a:pPr marL="0" indent="0">
              <a:buNone/>
            </a:pPr>
            <a:r>
              <a:rPr lang="en-US" sz="1050" dirty="0">
                <a:solidFill>
                  <a:srgbClr val="55637A"/>
                </a:solidFill>
                <a:latin typeface="Calibri" pitchFamily="34" charset="0"/>
                <a:ea typeface="Calibri" pitchFamily="34" charset="-122"/>
                <a:cs typeface="Calibri" pitchFamily="34" charset="-120"/>
              </a:rPr>
              <a:t>Explicit five-column list, WHERE StaffNo IN (…) with unquoted integers - an index seek on the primary key, not a scan.</a:t>
            </a:r>
            <a:endParaRPr lang="en-US" sz="1050" dirty="0"/>
          </a:p>
        </p:txBody>
      </p:sp>
      <p:sp>
        <p:nvSpPr>
          <p:cNvPr id="14" name="Shape 10"/>
          <p:cNvSpPr/>
          <p:nvPr/>
        </p:nvSpPr>
        <p:spPr>
          <a:xfrm>
            <a:off x="685800" y="3611880"/>
            <a:ext cx="6766560" cy="1097280"/>
          </a:xfrm>
          <a:prstGeom prst="roundRect">
            <a:avLst>
              <a:gd name="adj" fmla="val 6667"/>
            </a:avLst>
          </a:prstGeom>
          <a:solidFill>
            <a:srgbClr val="F3F7F9"/>
          </a:solidFill>
          <a:ln w="6350">
            <a:solidFill>
              <a:srgbClr val="DCE5EC"/>
            </a:solidFill>
            <a:prstDash val="solid"/>
          </a:ln>
        </p:spPr>
        <p:txBody>
          <a:bodyPr/>
          <a:lstStyle/>
          <a:p>
            <a:endParaRPr lang="en-US"/>
          </a:p>
        </p:txBody>
      </p:sp>
      <p:sp>
        <p:nvSpPr>
          <p:cNvPr id="15" name="Text 11"/>
          <p:cNvSpPr txBox="1"/>
          <p:nvPr/>
        </p:nvSpPr>
        <p:spPr>
          <a:xfrm>
            <a:off x="868680" y="3685032"/>
            <a:ext cx="1097280" cy="274320"/>
          </a:xfrm>
          <a:prstGeom prst="rect">
            <a:avLst/>
          </a:prstGeom>
          <a:noFill/>
          <a:ln/>
        </p:spPr>
        <p:txBody>
          <a:bodyPr wrap="square" lIns="0" tIns="0" rIns="0" bIns="0" rtlCol="0" anchor="ctr"/>
          <a:lstStyle/>
          <a:p>
            <a:pPr marL="0" indent="0">
              <a:buNone/>
            </a:pPr>
            <a:r>
              <a:rPr lang="en-US" sz="1000" b="1" kern="0" spc="200" dirty="0">
                <a:solidFill>
                  <a:srgbClr val="4BA38C"/>
                </a:solidFill>
                <a:latin typeface="Calibri" pitchFamily="34" charset="0"/>
                <a:ea typeface="Calibri" pitchFamily="34" charset="-122"/>
                <a:cs typeface="Calibri" pitchFamily="34" charset="-120"/>
              </a:rPr>
              <a:t>Query 2</a:t>
            </a:r>
            <a:endParaRPr lang="en-US" sz="1000" dirty="0"/>
          </a:p>
        </p:txBody>
      </p:sp>
      <p:sp>
        <p:nvSpPr>
          <p:cNvPr id="16" name="Text 12"/>
          <p:cNvSpPr txBox="1"/>
          <p:nvPr/>
        </p:nvSpPr>
        <p:spPr>
          <a:xfrm>
            <a:off x="1920240" y="3666744"/>
            <a:ext cx="5394960" cy="320040"/>
          </a:xfrm>
          <a:prstGeom prst="rect">
            <a:avLst/>
          </a:prstGeom>
          <a:noFill/>
          <a:ln/>
        </p:spPr>
        <p:txBody>
          <a:bodyPr wrap="square" lIns="0" tIns="0" rIns="0" bIns="0" rtlCol="0" anchor="ctr"/>
          <a:lstStyle/>
          <a:p>
            <a:pPr marL="0" indent="0">
              <a:buNone/>
            </a:pPr>
            <a:r>
              <a:rPr lang="en-US" sz="1200" b="1" dirty="0">
                <a:solidFill>
                  <a:srgbClr val="33404F"/>
                </a:solidFill>
                <a:latin typeface="Calibri" pitchFamily="34" charset="0"/>
                <a:ea typeface="Calibri" pitchFamily="34" charset="-122"/>
                <a:cs typeface="Calibri" pitchFamily="34" charset="-120"/>
              </a:rPr>
              <a:t>Member full name, number of orders and total price</a:t>
            </a:r>
            <a:endParaRPr lang="en-US" sz="1200" dirty="0"/>
          </a:p>
        </p:txBody>
      </p:sp>
      <p:sp>
        <p:nvSpPr>
          <p:cNvPr id="17" name="Text 13"/>
          <p:cNvSpPr txBox="1"/>
          <p:nvPr/>
        </p:nvSpPr>
        <p:spPr>
          <a:xfrm>
            <a:off x="868680" y="4023360"/>
            <a:ext cx="6446520" cy="640080"/>
          </a:xfrm>
          <a:prstGeom prst="rect">
            <a:avLst/>
          </a:prstGeom>
          <a:noFill/>
          <a:ln/>
        </p:spPr>
        <p:txBody>
          <a:bodyPr wrap="square" lIns="0" tIns="0" rIns="0" bIns="0" rtlCol="0" anchor="t"/>
          <a:lstStyle/>
          <a:p>
            <a:pPr marL="0" indent="0">
              <a:buNone/>
            </a:pPr>
            <a:r>
              <a:rPr lang="en-US" sz="1050" dirty="0">
                <a:solidFill>
                  <a:srgbClr val="55637A"/>
                </a:solidFill>
                <a:latin typeface="Calibri" pitchFamily="34" charset="0"/>
                <a:ea typeface="Calibri" pitchFamily="34" charset="-122"/>
                <a:cs typeface="Calibri" pitchFamily="34" charset="-120"/>
              </a:rPr>
              <a:t>Aggregate MemberOrder first (COUNT_BIG, SUM), then INNER JOIN to Members - text columns never enter the aggregation, and the join is one-to-one.</a:t>
            </a:r>
            <a:endParaRPr lang="en-US" sz="1050" dirty="0"/>
          </a:p>
        </p:txBody>
      </p:sp>
      <p:sp>
        <p:nvSpPr>
          <p:cNvPr id="18" name="Shape 14"/>
          <p:cNvSpPr/>
          <p:nvPr/>
        </p:nvSpPr>
        <p:spPr>
          <a:xfrm>
            <a:off x="685800" y="4846320"/>
            <a:ext cx="6766560" cy="1097280"/>
          </a:xfrm>
          <a:prstGeom prst="roundRect">
            <a:avLst>
              <a:gd name="adj" fmla="val 6667"/>
            </a:avLst>
          </a:prstGeom>
          <a:solidFill>
            <a:srgbClr val="F3F7F9"/>
          </a:solidFill>
          <a:ln w="6350">
            <a:solidFill>
              <a:srgbClr val="DCE5EC"/>
            </a:solidFill>
            <a:prstDash val="solid"/>
          </a:ln>
        </p:spPr>
        <p:txBody>
          <a:bodyPr/>
          <a:lstStyle/>
          <a:p>
            <a:endParaRPr lang="en-US"/>
          </a:p>
        </p:txBody>
      </p:sp>
      <p:sp>
        <p:nvSpPr>
          <p:cNvPr id="19" name="Text 15"/>
          <p:cNvSpPr txBox="1"/>
          <p:nvPr/>
        </p:nvSpPr>
        <p:spPr>
          <a:xfrm>
            <a:off x="868680" y="4919472"/>
            <a:ext cx="1097280" cy="274320"/>
          </a:xfrm>
          <a:prstGeom prst="rect">
            <a:avLst/>
          </a:prstGeom>
          <a:noFill/>
          <a:ln/>
        </p:spPr>
        <p:txBody>
          <a:bodyPr wrap="square" lIns="0" tIns="0" rIns="0" bIns="0" rtlCol="0" anchor="ctr"/>
          <a:lstStyle/>
          <a:p>
            <a:pPr marL="0" indent="0">
              <a:buNone/>
            </a:pPr>
            <a:r>
              <a:rPr lang="en-US" sz="1000" b="1" kern="0" spc="200" dirty="0">
                <a:solidFill>
                  <a:srgbClr val="4BA38C"/>
                </a:solidFill>
                <a:latin typeface="Calibri" pitchFamily="34" charset="0"/>
                <a:ea typeface="Calibri" pitchFamily="34" charset="-122"/>
                <a:cs typeface="Calibri" pitchFamily="34" charset="-120"/>
              </a:rPr>
              <a:t>Query 3</a:t>
            </a:r>
            <a:endParaRPr lang="en-US" sz="1000" dirty="0"/>
          </a:p>
        </p:txBody>
      </p:sp>
      <p:sp>
        <p:nvSpPr>
          <p:cNvPr id="20" name="Text 16"/>
          <p:cNvSpPr txBox="1"/>
          <p:nvPr/>
        </p:nvSpPr>
        <p:spPr>
          <a:xfrm>
            <a:off x="1920240" y="4901184"/>
            <a:ext cx="5394960" cy="320040"/>
          </a:xfrm>
          <a:prstGeom prst="rect">
            <a:avLst/>
          </a:prstGeom>
          <a:noFill/>
          <a:ln/>
        </p:spPr>
        <p:txBody>
          <a:bodyPr wrap="square" lIns="0" tIns="0" rIns="0" bIns="0" rtlCol="0" anchor="ctr"/>
          <a:lstStyle/>
          <a:p>
            <a:pPr marL="0" indent="0">
              <a:buNone/>
            </a:pPr>
            <a:r>
              <a:rPr lang="en-US" sz="1200" b="1" dirty="0">
                <a:solidFill>
                  <a:srgbClr val="33404F"/>
                </a:solidFill>
                <a:latin typeface="Calibri" pitchFamily="34" charset="0"/>
                <a:ea typeface="Calibri" pitchFamily="34" charset="-122"/>
                <a:cs typeface="Calibri" pitchFamily="34" charset="-120"/>
              </a:rPr>
              <a:t>Order details with the member's name and the promotion, if it exists</a:t>
            </a:r>
            <a:endParaRPr lang="en-US" sz="1200" dirty="0"/>
          </a:p>
        </p:txBody>
      </p:sp>
      <p:sp>
        <p:nvSpPr>
          <p:cNvPr id="21" name="Text 17"/>
          <p:cNvSpPr txBox="1"/>
          <p:nvPr/>
        </p:nvSpPr>
        <p:spPr>
          <a:xfrm>
            <a:off x="868680" y="5257800"/>
            <a:ext cx="6446520" cy="640080"/>
          </a:xfrm>
          <a:prstGeom prst="rect">
            <a:avLst/>
          </a:prstGeom>
          <a:noFill/>
          <a:ln/>
        </p:spPr>
        <p:txBody>
          <a:bodyPr wrap="square" lIns="0" tIns="0" rIns="0" bIns="0" rtlCol="0" anchor="t"/>
          <a:lstStyle/>
          <a:p>
            <a:pPr marL="0" indent="0">
              <a:buNone/>
            </a:pPr>
            <a:r>
              <a:rPr lang="en-US" sz="1050" dirty="0">
                <a:solidFill>
                  <a:srgbClr val="55637A"/>
                </a:solidFill>
                <a:latin typeface="Calibri" pitchFamily="34" charset="0"/>
                <a:ea typeface="Calibri" pitchFamily="34" charset="-122"/>
                <a:cs typeface="Calibri" pitchFamily="34" charset="-120"/>
              </a:rPr>
              <a:t>MemberOrder drives the query, INNER JOIN Members (a member is mandatory), LEFT JOIN Promotion (a promotion is optional).</a:t>
            </a:r>
            <a:endParaRPr lang="en-US" sz="1050" dirty="0"/>
          </a:p>
        </p:txBody>
      </p:sp>
      <p:sp>
        <p:nvSpPr>
          <p:cNvPr id="22" name="Shape 18"/>
          <p:cNvSpPr/>
          <p:nvPr/>
        </p:nvSpPr>
        <p:spPr>
          <a:xfrm>
            <a:off x="7909560" y="1691640"/>
            <a:ext cx="3840480" cy="4617720"/>
          </a:xfrm>
          <a:prstGeom prst="roundRect">
            <a:avLst>
              <a:gd name="adj" fmla="val 2857"/>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3" name="Text 19"/>
          <p:cNvSpPr txBox="1"/>
          <p:nvPr/>
        </p:nvSpPr>
        <p:spPr>
          <a:xfrm>
            <a:off x="8138160" y="1810512"/>
            <a:ext cx="3474720" cy="457200"/>
          </a:xfrm>
          <a:prstGeom prst="rect">
            <a:avLst/>
          </a:prstGeom>
          <a:noFill/>
          <a:ln/>
        </p:spPr>
        <p:txBody>
          <a:bodyPr wrap="square" lIns="0" tIns="0" rIns="0" bIns="0" rtlCol="0" anchor="ctr"/>
          <a:lstStyle/>
          <a:p>
            <a:pPr marL="0" indent="0">
              <a:buNone/>
            </a:pPr>
            <a:r>
              <a:rPr lang="en-US" sz="1200" b="1" dirty="0">
                <a:solidFill>
                  <a:srgbClr val="203370"/>
                </a:solidFill>
                <a:latin typeface="Calibri" pitchFamily="34" charset="0"/>
                <a:ea typeface="Calibri" pitchFamily="34" charset="-122"/>
                <a:cs typeface="Calibri" pitchFamily="34" charset="-120"/>
              </a:rPr>
              <a:t>Graded on optimisation and load time</a:t>
            </a:r>
            <a:endParaRPr lang="en-US" sz="1200" dirty="0"/>
          </a:p>
        </p:txBody>
      </p:sp>
      <p:sp>
        <p:nvSpPr>
          <p:cNvPr id="24" name="Text 20"/>
          <p:cNvSpPr txBox="1"/>
          <p:nvPr/>
        </p:nvSpPr>
        <p:spPr>
          <a:xfrm>
            <a:off x="8138160" y="2331720"/>
            <a:ext cx="3429000" cy="2286000"/>
          </a:xfrm>
          <a:prstGeom prst="rect">
            <a:avLst/>
          </a:prstGeom>
          <a:noFill/>
          <a:ln/>
        </p:spPr>
        <p:txBody>
          <a:bodyPr wrap="square" lIns="0" tIns="0" rIns="0" bIns="0" rtlCol="0" anchor="t"/>
          <a:lstStyle/>
          <a:p>
            <a:pPr marL="0" indent="0">
              <a:spcAft>
                <a:spcPts val="400"/>
              </a:spcAft>
              <a:buNone/>
            </a:pPr>
            <a:r>
              <a:rPr lang="en-US" sz="1050" b="1" dirty="0">
                <a:solidFill>
                  <a:srgbClr val="33404F"/>
                </a:solidFill>
                <a:latin typeface="Calibri" pitchFamily="34" charset="0"/>
                <a:ea typeface="Calibri" pitchFamily="34" charset="-122"/>
                <a:cs typeface="Calibri" pitchFamily="34" charset="-120"/>
              </a:rPr>
              <a:t>Two supporting indexes proposed: </a:t>
            </a:r>
            <a:endParaRPr lang="en-US" sz="1050" dirty="0"/>
          </a:p>
          <a:p>
            <a:pPr marL="342900" indent="-342900">
              <a:spcAft>
                <a:spcPts val="400"/>
              </a:spcAft>
              <a:buSzPct val="100000"/>
              <a:buChar char="•"/>
            </a:pPr>
            <a:r>
              <a:rPr lang="en-US" sz="1050" dirty="0">
                <a:solidFill>
                  <a:srgbClr val="33404F"/>
                </a:solidFill>
                <a:latin typeface="Calibri" pitchFamily="34" charset="0"/>
                <a:ea typeface="Calibri" pitchFamily="34" charset="-122"/>
                <a:cs typeface="Calibri" pitchFamily="34" charset="-120"/>
              </a:rPr>
              <a:t>IX_MemberOrder_MemberNo ON MemberOrder (MemberNo) INCLUDE (Price) - covering index for Query 2</a:t>
            </a:r>
            <a:endParaRPr lang="en-US" sz="1050" dirty="0"/>
          </a:p>
          <a:p>
            <a:pPr marL="342900" indent="-342900">
              <a:spcAft>
                <a:spcPts val="400"/>
              </a:spcAft>
              <a:buSzPct val="100000"/>
              <a:buChar char="•"/>
            </a:pPr>
            <a:r>
              <a:rPr lang="en-US" sz="1050" dirty="0">
                <a:solidFill>
                  <a:srgbClr val="33404F"/>
                </a:solidFill>
                <a:latin typeface="Calibri" pitchFamily="34" charset="0"/>
                <a:ea typeface="Calibri" pitchFamily="34" charset="-122"/>
                <a:cs typeface="Calibri" pitchFamily="34" charset="-120"/>
              </a:rPr>
              <a:t>IX_MemberOrder_PromotionID ON MemberOrder (PromotionID) - supports the LEFT JOIN in Query 3</a:t>
            </a:r>
            <a:endParaRPr lang="en-US" sz="1050" dirty="0"/>
          </a:p>
          <a:p>
            <a:pPr marL="0" indent="0">
              <a:spcAft>
                <a:spcPts val="400"/>
              </a:spcAft>
              <a:buNone/>
            </a:pPr>
            <a:r>
              <a:rPr lang="en-US" sz="1050" dirty="0">
                <a:solidFill>
                  <a:srgbClr val="33404F"/>
                </a:solidFill>
                <a:latin typeface="Calibri" pitchFamily="34" charset="0"/>
                <a:ea typeface="Calibri" pitchFamily="34" charset="-122"/>
                <a:cs typeface="Calibri" pitchFamily="34" charset="-120"/>
              </a:rPr>
              <a:t> </a:t>
            </a:r>
            <a:endParaRPr lang="en-US" sz="1050" dirty="0"/>
          </a:p>
          <a:p>
            <a:pPr marL="0" indent="0">
              <a:spcAft>
                <a:spcPts val="400"/>
              </a:spcAft>
              <a:buNone/>
            </a:pPr>
            <a:r>
              <a:rPr lang="en-US" sz="1050" i="1" dirty="0">
                <a:solidFill>
                  <a:srgbClr val="55637A"/>
                </a:solidFill>
                <a:latin typeface="Calibri" pitchFamily="34" charset="0"/>
                <a:ea typeface="Calibri" pitchFamily="34" charset="-122"/>
                <a:cs typeface="Calibri" pitchFamily="34" charset="-120"/>
              </a:rPr>
              <a:t>Verify with execution plans and SET STATISTICS IO, not by eye.</a:t>
            </a:r>
            <a:endParaRPr lang="en-US" sz="1050" dirty="0"/>
          </a:p>
        </p:txBody>
      </p:sp>
      <p:sp>
        <p:nvSpPr>
          <p:cNvPr id="25" name="Shape 21"/>
          <p:cNvSpPr/>
          <p:nvPr/>
        </p:nvSpPr>
        <p:spPr>
          <a:xfrm>
            <a:off x="8138160" y="4754880"/>
            <a:ext cx="3429000" cy="1371600"/>
          </a:xfrm>
          <a:prstGeom prst="roundRect">
            <a:avLst>
              <a:gd name="adj" fmla="val 5333"/>
            </a:avLst>
          </a:prstGeom>
          <a:solidFill>
            <a:srgbClr val="203370"/>
          </a:solidFill>
          <a:ln w="12700">
            <a:solidFill>
              <a:srgbClr val="203370"/>
            </a:solidFill>
            <a:prstDash val="solid"/>
          </a:ln>
        </p:spPr>
        <p:txBody>
          <a:bodyPr/>
          <a:lstStyle/>
          <a:p>
            <a:endParaRPr lang="en-US"/>
          </a:p>
        </p:txBody>
      </p:sp>
      <p:sp>
        <p:nvSpPr>
          <p:cNvPr id="26" name="Text 22"/>
          <p:cNvSpPr txBox="1"/>
          <p:nvPr/>
        </p:nvSpPr>
        <p:spPr>
          <a:xfrm>
            <a:off x="8275320" y="4828032"/>
            <a:ext cx="3154680" cy="12344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SQL Answer-Task3.pdf</a:t>
            </a:r>
            <a:endParaRPr lang="en-US" sz="1200" dirty="0"/>
          </a:p>
          <a:p>
            <a:pPr marL="0" indent="0">
              <a:buNone/>
            </a:pPr>
            <a:r>
              <a:rPr lang="en-US" sz="1000" dirty="0">
                <a:solidFill>
                  <a:srgbClr val="FFFFFF"/>
                </a:solidFill>
                <a:latin typeface="Calibri" pitchFamily="34" charset="0"/>
                <a:ea typeface="Calibri" pitchFamily="34" charset="-122"/>
                <a:cs typeface="Calibri" pitchFamily="34" charset="-120"/>
              </a:rPr>
              <a:t>Walk the three queries in order, one sentence on the 'why' behind each - about 10 minutes including questions.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pl/allianz.png"/>
          <p:cNvPicPr>
            <a:picLocks noChangeAspect="1"/>
          </p:cNvPicPr>
          <p:nvPr/>
        </p:nvPicPr>
        <p:blipFill>
          <a:blip r:embed="rId4"/>
          <a:stretch>
            <a:fillRect/>
          </a:stretch>
        </p:blipFill>
        <p:spPr>
          <a:xfrm>
            <a:off x="411480" y="256032"/>
            <a:ext cx="2148840" cy="660961"/>
          </a:xfrm>
          <a:prstGeom prst="rect">
            <a:avLst/>
          </a:prstGeom>
        </p:spPr>
      </p:pic>
      <p:pic>
        <p:nvPicPr>
          <p:cNvPr id="3" name="Image 1" descr="tpl/panel/ppt/media/image2.png"/>
          <p:cNvPicPr>
            <a:picLocks noChangeAspect="1"/>
          </p:cNvPicPr>
          <p:nvPr/>
        </p:nvPicPr>
        <p:blipFill>
          <a:blip r:embed="rId5"/>
          <a:stretch>
            <a:fillRect/>
          </a:stretch>
        </p:blipFill>
        <p:spPr>
          <a:xfrm>
            <a:off x="9326880" y="310896"/>
            <a:ext cx="2468880" cy="524558"/>
          </a:xfrm>
          <a:prstGeom prst="rect">
            <a:avLst/>
          </a:prstGeom>
        </p:spPr>
      </p:pic>
      <p:sp>
        <p:nvSpPr>
          <p:cNvPr id="4" name="Text 0"/>
          <p:cNvSpPr txBox="1"/>
          <p:nvPr/>
        </p:nvSpPr>
        <p:spPr>
          <a:xfrm>
            <a:off x="457200" y="960120"/>
            <a:ext cx="8138160" cy="566928"/>
          </a:xfrm>
          <a:prstGeom prst="rect">
            <a:avLst/>
          </a:prstGeom>
          <a:noFill/>
          <a:ln/>
        </p:spPr>
        <p:txBody>
          <a:bodyPr wrap="square" lIns="0" tIns="0" rIns="0" bIns="0" rtlCol="0" anchor="ctr"/>
          <a:lstStyle/>
          <a:p>
            <a:pPr marL="0" indent="0">
              <a:buNone/>
            </a:pPr>
            <a:r>
              <a:rPr lang="en-US" sz="2500" b="1" dirty="0">
                <a:solidFill>
                  <a:srgbClr val="203370"/>
                </a:solidFill>
                <a:latin typeface="Calibri" pitchFamily="34" charset="0"/>
                <a:ea typeface="Calibri" pitchFamily="34" charset="-122"/>
                <a:cs typeface="Calibri" pitchFamily="34" charset="-120"/>
              </a:rPr>
              <a:t>In one line each - and over to you</a:t>
            </a:r>
            <a:endParaRPr lang="en-US" sz="2500" dirty="0"/>
          </a:p>
        </p:txBody>
      </p:sp>
      <p:sp>
        <p:nvSpPr>
          <p:cNvPr id="5" name="Shape 1"/>
          <p:cNvSpPr/>
          <p:nvPr/>
        </p:nvSpPr>
        <p:spPr>
          <a:xfrm>
            <a:off x="9409176" y="1069848"/>
            <a:ext cx="2340864" cy="347472"/>
          </a:xfrm>
          <a:prstGeom prst="roundRect">
            <a:avLst>
              <a:gd name="adj" fmla="val 50000"/>
            </a:avLst>
          </a:prstGeom>
          <a:solidFill>
            <a:srgbClr val="FFFFFF"/>
          </a:solidFill>
          <a:ln w="6350">
            <a:solidFill>
              <a:srgbClr val="DCE5EC"/>
            </a:solidFill>
            <a:prstDash val="solid"/>
          </a:ln>
        </p:spPr>
        <p:txBody>
          <a:bodyPr/>
          <a:lstStyle/>
          <a:p>
            <a:endParaRPr lang="en-US"/>
          </a:p>
        </p:txBody>
      </p:sp>
      <p:sp>
        <p:nvSpPr>
          <p:cNvPr id="6" name="Text 2"/>
          <p:cNvSpPr txBox="1"/>
          <p:nvPr/>
        </p:nvSpPr>
        <p:spPr>
          <a:xfrm>
            <a:off x="9409176" y="1069848"/>
            <a:ext cx="2340864" cy="347472"/>
          </a:xfrm>
          <a:prstGeom prst="rect">
            <a:avLst/>
          </a:prstGeom>
          <a:noFill/>
          <a:ln/>
        </p:spPr>
        <p:txBody>
          <a:bodyPr wrap="square" lIns="0" tIns="0" rIns="0" bIns="0" rtlCol="0" anchor="ctr"/>
          <a:lstStyle/>
          <a:p>
            <a:pPr marL="0" indent="0" algn="ctr">
              <a:buNone/>
            </a:pPr>
            <a:r>
              <a:rPr lang="en-US" sz="950" b="1" kern="0" spc="150" dirty="0">
                <a:solidFill>
                  <a:srgbClr val="33404F"/>
                </a:solidFill>
                <a:latin typeface="Calibri" pitchFamily="34" charset="0"/>
                <a:ea typeface="Calibri" pitchFamily="34" charset="-122"/>
                <a:cs typeface="Calibri" pitchFamily="34" charset="-120"/>
              </a:rPr>
              <a:t>CLOSE  ·  DISCUSSION &amp; Q&amp;A</a:t>
            </a:r>
            <a:endParaRPr lang="en-US" sz="950" dirty="0"/>
          </a:p>
        </p:txBody>
      </p:sp>
      <p:sp>
        <p:nvSpPr>
          <p:cNvPr id="7" name="Text 3"/>
          <p:cNvSpPr txBox="1"/>
          <p:nvPr/>
        </p:nvSpPr>
        <p:spPr>
          <a:xfrm>
            <a:off x="10972800" y="6446520"/>
            <a:ext cx="822960" cy="274320"/>
          </a:xfrm>
          <a:prstGeom prst="rect">
            <a:avLst/>
          </a:prstGeom>
          <a:noFill/>
          <a:ln/>
        </p:spPr>
        <p:txBody>
          <a:bodyPr wrap="square" lIns="0" tIns="0" rIns="0" bIns="0" rtlCol="0" anchor="ctr"/>
          <a:lstStyle/>
          <a:p>
            <a:pPr marL="0" indent="0" algn="r">
              <a:buNone/>
            </a:pPr>
            <a:r>
              <a:rPr lang="en-US" sz="900" dirty="0">
                <a:solidFill>
                  <a:srgbClr val="55637A"/>
                </a:solidFill>
                <a:latin typeface="Calibri" pitchFamily="34" charset="0"/>
                <a:ea typeface="Calibri" pitchFamily="34" charset="-122"/>
                <a:cs typeface="Calibri" pitchFamily="34" charset="-120"/>
              </a:rPr>
              <a:t>24 / 24</a:t>
            </a:r>
            <a:endParaRPr lang="en-US" sz="900" dirty="0"/>
          </a:p>
        </p:txBody>
      </p:sp>
      <p:sp>
        <p:nvSpPr>
          <p:cNvPr id="8" name="Shape 4"/>
          <p:cNvSpPr/>
          <p:nvPr/>
        </p:nvSpPr>
        <p:spPr>
          <a:xfrm>
            <a:off x="457200" y="1691640"/>
            <a:ext cx="7680960" cy="1097280"/>
          </a:xfrm>
          <a:prstGeom prst="roundRect">
            <a:avLst>
              <a:gd name="adj" fmla="val 10000"/>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5"/>
          <p:cNvSpPr txBox="1"/>
          <p:nvPr/>
        </p:nvSpPr>
        <p:spPr>
          <a:xfrm>
            <a:off x="685800" y="1783080"/>
            <a:ext cx="1828800" cy="914400"/>
          </a:xfrm>
          <a:prstGeom prst="rect">
            <a:avLst/>
          </a:prstGeom>
          <a:noFill/>
          <a:ln/>
        </p:spPr>
        <p:txBody>
          <a:bodyPr wrap="square" lIns="0" tIns="0" rIns="0" bIns="0" rtlCol="0" anchor="ctr"/>
          <a:lstStyle/>
          <a:p>
            <a:pPr marL="0" indent="0">
              <a:buNone/>
            </a:pPr>
            <a:r>
              <a:rPr lang="en-US" sz="1300" b="1" dirty="0">
                <a:solidFill>
                  <a:srgbClr val="203370"/>
                </a:solidFill>
                <a:latin typeface="Calibri" pitchFamily="34" charset="0"/>
                <a:ea typeface="Calibri" pitchFamily="34" charset="-122"/>
                <a:cs typeface="Calibri" pitchFamily="34" charset="-120"/>
              </a:rPr>
              <a:t>Task 1 · Claims</a:t>
            </a:r>
            <a:endParaRPr lang="en-US" sz="1300" dirty="0"/>
          </a:p>
        </p:txBody>
      </p:sp>
      <p:sp>
        <p:nvSpPr>
          <p:cNvPr id="10" name="Text 6"/>
          <p:cNvSpPr txBox="1"/>
          <p:nvPr/>
        </p:nvSpPr>
        <p:spPr>
          <a:xfrm>
            <a:off x="2560320" y="1783080"/>
            <a:ext cx="5394960" cy="640080"/>
          </a:xfrm>
          <a:prstGeom prst="rect">
            <a:avLst/>
          </a:prstGeom>
          <a:noFill/>
          <a:ln/>
        </p:spPr>
        <p:txBody>
          <a:bodyPr wrap="square" lIns="0" tIns="0" rIns="0" bIns="0" rtlCol="0" anchor="t"/>
          <a:lstStyle/>
          <a:p>
            <a:pPr marL="0" indent="0">
              <a:buNone/>
            </a:pPr>
            <a:r>
              <a:rPr lang="en-US" sz="1000" dirty="0">
                <a:solidFill>
                  <a:srgbClr val="33404F"/>
                </a:solidFill>
                <a:latin typeface="Calibri" pitchFamily="34" charset="0"/>
                <a:ea typeface="Calibri" pitchFamily="34" charset="-122"/>
                <a:cs typeface="Calibri" pitchFamily="34" charset="-120"/>
              </a:rPr>
              <a:t>Costs are up 5.4% per member from more visits and pricier visits, 10% of members carry 42% of spend, back and neck pain alone are 8.9% and growing 38%; October repeats at +25%; half the book is automated and 12 days faster.</a:t>
            </a:r>
            <a:endParaRPr lang="en-US" sz="1000" dirty="0"/>
          </a:p>
        </p:txBody>
      </p:sp>
      <p:sp>
        <p:nvSpPr>
          <p:cNvPr id="11" name="Text 7"/>
          <p:cNvSpPr txBox="1"/>
          <p:nvPr/>
        </p:nvSpPr>
        <p:spPr>
          <a:xfrm>
            <a:off x="2560320" y="2441448"/>
            <a:ext cx="5394960" cy="274320"/>
          </a:xfrm>
          <a:prstGeom prst="rect">
            <a:avLst/>
          </a:prstGeom>
          <a:noFill/>
          <a:ln/>
        </p:spPr>
        <p:txBody>
          <a:bodyPr wrap="square" lIns="0" tIns="0" rIns="0" bIns="0" rtlCol="0" anchor="t"/>
          <a:lstStyle/>
          <a:p>
            <a:pPr marL="0" indent="0">
              <a:buNone/>
            </a:pPr>
            <a:r>
              <a:rPr lang="en-US" sz="1000" b="1" dirty="0">
                <a:solidFill>
                  <a:srgbClr val="2E8B78"/>
                </a:solidFill>
                <a:latin typeface="Calibri" pitchFamily="34" charset="0"/>
                <a:ea typeface="Calibri" pitchFamily="34" charset="-122"/>
                <a:cs typeface="Calibri" pitchFamily="34" charset="-120"/>
              </a:rPr>
              <a:t>Review therapy claims · case-manage the top list · redesign October</a:t>
            </a:r>
            <a:endParaRPr lang="en-US" sz="1000" dirty="0"/>
          </a:p>
        </p:txBody>
      </p:sp>
      <p:sp>
        <p:nvSpPr>
          <p:cNvPr id="12" name="Shape 8"/>
          <p:cNvSpPr/>
          <p:nvPr/>
        </p:nvSpPr>
        <p:spPr>
          <a:xfrm>
            <a:off x="457200" y="2926080"/>
            <a:ext cx="7680960" cy="1097280"/>
          </a:xfrm>
          <a:prstGeom prst="roundRect">
            <a:avLst>
              <a:gd name="adj" fmla="val 10000"/>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9"/>
          <p:cNvSpPr txBox="1"/>
          <p:nvPr/>
        </p:nvSpPr>
        <p:spPr>
          <a:xfrm>
            <a:off x="685800" y="3017520"/>
            <a:ext cx="1828800" cy="914400"/>
          </a:xfrm>
          <a:prstGeom prst="rect">
            <a:avLst/>
          </a:prstGeom>
          <a:noFill/>
          <a:ln/>
        </p:spPr>
        <p:txBody>
          <a:bodyPr wrap="square" lIns="0" tIns="0" rIns="0" bIns="0" rtlCol="0" anchor="ctr"/>
          <a:lstStyle/>
          <a:p>
            <a:pPr marL="0" indent="0">
              <a:buNone/>
            </a:pPr>
            <a:r>
              <a:rPr lang="en-US" sz="1300" b="1" dirty="0">
                <a:solidFill>
                  <a:srgbClr val="203370"/>
                </a:solidFill>
                <a:latin typeface="Calibri" pitchFamily="34" charset="0"/>
                <a:ea typeface="Calibri" pitchFamily="34" charset="-122"/>
                <a:cs typeface="Calibri" pitchFamily="34" charset="-120"/>
              </a:rPr>
              <a:t>Task 2 · Helpline</a:t>
            </a:r>
            <a:endParaRPr lang="en-US" sz="1300" dirty="0"/>
          </a:p>
        </p:txBody>
      </p:sp>
      <p:sp>
        <p:nvSpPr>
          <p:cNvPr id="14" name="Text 10"/>
          <p:cNvSpPr txBox="1"/>
          <p:nvPr/>
        </p:nvSpPr>
        <p:spPr>
          <a:xfrm>
            <a:off x="2560320" y="3017520"/>
            <a:ext cx="5394960" cy="640080"/>
          </a:xfrm>
          <a:prstGeom prst="rect">
            <a:avLst/>
          </a:prstGeom>
          <a:noFill/>
          <a:ln/>
        </p:spPr>
        <p:txBody>
          <a:bodyPr wrap="square" lIns="0" tIns="0" rIns="0" bIns="0" rtlCol="0" anchor="t"/>
          <a:lstStyle/>
          <a:p>
            <a:pPr marL="0" indent="0">
              <a:buNone/>
            </a:pPr>
            <a:r>
              <a:rPr lang="en-US" sz="1000" dirty="0">
                <a:solidFill>
                  <a:srgbClr val="33404F"/>
                </a:solidFill>
                <a:latin typeface="Calibri" pitchFamily="34" charset="0"/>
                <a:ea typeface="Calibri" pitchFamily="34" charset="-122"/>
                <a:cs typeface="Calibri" pitchFamily="34" charset="-120"/>
              </a:rPr>
              <a:t>One in five callers hangs up - 43% by 11 pm, on every day of the week - while answered calls are served in 42 seconds and handled in 3.5 minutes on all three queues. A timing problem, not a size problem.</a:t>
            </a:r>
            <a:endParaRPr lang="en-US" sz="1000" dirty="0"/>
          </a:p>
        </p:txBody>
      </p:sp>
      <p:sp>
        <p:nvSpPr>
          <p:cNvPr id="15" name="Text 11"/>
          <p:cNvSpPr txBox="1"/>
          <p:nvPr/>
        </p:nvSpPr>
        <p:spPr>
          <a:xfrm>
            <a:off x="2560320" y="3675888"/>
            <a:ext cx="5394960" cy="274320"/>
          </a:xfrm>
          <a:prstGeom prst="rect">
            <a:avLst/>
          </a:prstGeom>
          <a:noFill/>
          <a:ln/>
        </p:spPr>
        <p:txBody>
          <a:bodyPr wrap="square" lIns="0" tIns="0" rIns="0" bIns="0" rtlCol="0" anchor="t"/>
          <a:lstStyle/>
          <a:p>
            <a:pPr marL="0" indent="0">
              <a:buNone/>
            </a:pPr>
            <a:r>
              <a:rPr lang="en-US" sz="1000" b="1" dirty="0">
                <a:solidFill>
                  <a:srgbClr val="2E8B78"/>
                </a:solidFill>
                <a:latin typeface="Calibri" pitchFamily="34" charset="0"/>
                <a:ea typeface="Calibri" pitchFamily="34" charset="-122"/>
                <a:cs typeface="Calibri" pitchFamily="34" charset="-120"/>
              </a:rPr>
              <a:t>Evening coverage · Monday coverage · Hotline #1 first</a:t>
            </a:r>
            <a:endParaRPr lang="en-US" sz="1000" dirty="0"/>
          </a:p>
        </p:txBody>
      </p:sp>
      <p:sp>
        <p:nvSpPr>
          <p:cNvPr id="16" name="Shape 12"/>
          <p:cNvSpPr/>
          <p:nvPr/>
        </p:nvSpPr>
        <p:spPr>
          <a:xfrm>
            <a:off x="457200" y="4160520"/>
            <a:ext cx="7680960" cy="1097280"/>
          </a:xfrm>
          <a:prstGeom prst="roundRect">
            <a:avLst>
              <a:gd name="adj" fmla="val 10000"/>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3"/>
          <p:cNvSpPr txBox="1"/>
          <p:nvPr/>
        </p:nvSpPr>
        <p:spPr>
          <a:xfrm>
            <a:off x="685800" y="4251960"/>
            <a:ext cx="1828800" cy="914400"/>
          </a:xfrm>
          <a:prstGeom prst="rect">
            <a:avLst/>
          </a:prstGeom>
          <a:noFill/>
          <a:ln/>
        </p:spPr>
        <p:txBody>
          <a:bodyPr wrap="square" lIns="0" tIns="0" rIns="0" bIns="0" rtlCol="0" anchor="ctr"/>
          <a:lstStyle/>
          <a:p>
            <a:pPr marL="0" indent="0">
              <a:buNone/>
            </a:pPr>
            <a:r>
              <a:rPr lang="en-US" sz="1300" b="1" dirty="0">
                <a:solidFill>
                  <a:srgbClr val="203370"/>
                </a:solidFill>
                <a:latin typeface="Calibri" pitchFamily="34" charset="0"/>
                <a:ea typeface="Calibri" pitchFamily="34" charset="-122"/>
                <a:cs typeface="Calibri" pitchFamily="34" charset="-120"/>
              </a:rPr>
              <a:t>Task 3 · SQL</a:t>
            </a:r>
            <a:endParaRPr lang="en-US" sz="1300" dirty="0"/>
          </a:p>
        </p:txBody>
      </p:sp>
      <p:sp>
        <p:nvSpPr>
          <p:cNvPr id="18" name="Text 14"/>
          <p:cNvSpPr txBox="1"/>
          <p:nvPr/>
        </p:nvSpPr>
        <p:spPr>
          <a:xfrm>
            <a:off x="2560320" y="4251960"/>
            <a:ext cx="5394960" cy="640080"/>
          </a:xfrm>
          <a:prstGeom prst="rect">
            <a:avLst/>
          </a:prstGeom>
          <a:noFill/>
          <a:ln/>
        </p:spPr>
        <p:txBody>
          <a:bodyPr wrap="square" lIns="0" tIns="0" rIns="0" bIns="0" rtlCol="0" anchor="t"/>
          <a:lstStyle/>
          <a:p>
            <a:pPr marL="0" indent="0">
              <a:buNone/>
            </a:pPr>
            <a:r>
              <a:rPr lang="en-US" sz="1000" dirty="0">
                <a:solidFill>
                  <a:srgbClr val="33404F"/>
                </a:solidFill>
                <a:latin typeface="Calibri" pitchFamily="34" charset="0"/>
                <a:ea typeface="Calibri" pitchFamily="34" charset="-122"/>
                <a:cs typeface="Calibri" pitchFamily="34" charset="-120"/>
              </a:rPr>
              <a:t>Three queries written for the optimiser: explicit columns, aggregate-before-join, INNER where mandatory and LEFT were optional, plus two supporting indexes.</a:t>
            </a:r>
            <a:endParaRPr lang="en-US" sz="1000" dirty="0"/>
          </a:p>
        </p:txBody>
      </p:sp>
      <p:sp>
        <p:nvSpPr>
          <p:cNvPr id="19" name="Text 15"/>
          <p:cNvSpPr txBox="1"/>
          <p:nvPr/>
        </p:nvSpPr>
        <p:spPr>
          <a:xfrm>
            <a:off x="2560320" y="4910328"/>
            <a:ext cx="5394960" cy="274320"/>
          </a:xfrm>
          <a:prstGeom prst="rect">
            <a:avLst/>
          </a:prstGeom>
          <a:noFill/>
          <a:ln/>
        </p:spPr>
        <p:txBody>
          <a:bodyPr wrap="square" lIns="0" tIns="0" rIns="0" bIns="0" rtlCol="0" anchor="t"/>
          <a:lstStyle/>
          <a:p>
            <a:pPr marL="0" indent="0">
              <a:buNone/>
            </a:pPr>
            <a:r>
              <a:rPr lang="en-US" sz="1000" b="1" dirty="0">
                <a:solidFill>
                  <a:srgbClr val="2E8B78"/>
                </a:solidFill>
                <a:latin typeface="Calibri" pitchFamily="34" charset="0"/>
                <a:ea typeface="Calibri" pitchFamily="34" charset="-122"/>
                <a:cs typeface="Calibri" pitchFamily="34" charset="-120"/>
              </a:rPr>
              <a:t>Verify with execution plans</a:t>
            </a:r>
            <a:endParaRPr lang="en-US" sz="1000" dirty="0"/>
          </a:p>
        </p:txBody>
      </p:sp>
      <p:sp>
        <p:nvSpPr>
          <p:cNvPr id="20" name="Shape 16"/>
          <p:cNvSpPr/>
          <p:nvPr/>
        </p:nvSpPr>
        <p:spPr>
          <a:xfrm>
            <a:off x="8366760" y="1691640"/>
            <a:ext cx="3383280" cy="3566160"/>
          </a:xfrm>
          <a:prstGeom prst="roundRect">
            <a:avLst>
              <a:gd name="adj" fmla="val 3243"/>
            </a:avLst>
          </a:prstGeom>
          <a:solidFill>
            <a:srgbClr val="FFFFFF"/>
          </a:solidFill>
          <a:ln w="9525">
            <a:solidFill>
              <a:srgbClr val="DCE5EC"/>
            </a:solidFill>
            <a:prstDash val="solid"/>
          </a:ln>
          <a:effectLst>
            <a:outerShdw blurRad="76200" dist="25400" dir="5400000" algn="bl" rotWithShape="0">
              <a:srgbClr val="000000">
                <a:alpha val="12000"/>
              </a:srgbClr>
            </a:outerShdw>
          </a:effectLst>
        </p:spPr>
        <p:txBody>
          <a:bodyPr/>
          <a:lstStyle/>
          <a:p>
            <a:endParaRPr lang="en-US"/>
          </a:p>
        </p:txBody>
      </p:sp>
      <p:sp>
        <p:nvSpPr>
          <p:cNvPr id="21" name="Text 17"/>
          <p:cNvSpPr txBox="1"/>
          <p:nvPr/>
        </p:nvSpPr>
        <p:spPr>
          <a:xfrm>
            <a:off x="8595360" y="1810512"/>
            <a:ext cx="3017520" cy="320040"/>
          </a:xfrm>
          <a:prstGeom prst="rect">
            <a:avLst/>
          </a:prstGeom>
          <a:noFill/>
          <a:ln/>
        </p:spPr>
        <p:txBody>
          <a:bodyPr wrap="square" lIns="0" tIns="0" rIns="0" bIns="0" rtlCol="0" anchor="ctr"/>
          <a:lstStyle/>
          <a:p>
            <a:pPr marL="0" indent="0">
              <a:buNone/>
            </a:pPr>
            <a:r>
              <a:rPr lang="en-US" sz="1200" b="1" dirty="0">
                <a:solidFill>
                  <a:srgbClr val="203370"/>
                </a:solidFill>
                <a:latin typeface="Calibri" pitchFamily="34" charset="0"/>
                <a:ea typeface="Calibri" pitchFamily="34" charset="-122"/>
                <a:cs typeface="Calibri" pitchFamily="34" charset="-120"/>
              </a:rPr>
              <a:t>Happy to go deeper on</a:t>
            </a:r>
            <a:endParaRPr lang="en-US" sz="1200" dirty="0"/>
          </a:p>
        </p:txBody>
      </p:sp>
      <p:sp>
        <p:nvSpPr>
          <p:cNvPr id="22" name="Text 18"/>
          <p:cNvSpPr txBox="1"/>
          <p:nvPr/>
        </p:nvSpPr>
        <p:spPr>
          <a:xfrm>
            <a:off x="8595360" y="2194560"/>
            <a:ext cx="3017520" cy="29260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04F"/>
                </a:solidFill>
                <a:latin typeface="Calibri" pitchFamily="34" charset="0"/>
                <a:ea typeface="Calibri" pitchFamily="34" charset="-122"/>
                <a:cs typeface="Calibri" pitchFamily="34" charset="-120"/>
              </a:rPr>
              <a:t>Any visual, live in the .pbix files</a:t>
            </a:r>
            <a:endParaRPr lang="en-US" sz="1100" dirty="0"/>
          </a:p>
          <a:p>
            <a:pPr marL="342900" indent="-342900">
              <a:spcAft>
                <a:spcPts val="600"/>
              </a:spcAft>
              <a:buSzPct val="100000"/>
              <a:buChar char="•"/>
            </a:pPr>
            <a:r>
              <a:rPr lang="en-US" sz="1100" dirty="0">
                <a:solidFill>
                  <a:srgbClr val="33404F"/>
                </a:solidFill>
                <a:latin typeface="Calibri" pitchFamily="34" charset="0"/>
                <a:ea typeface="Calibri" pitchFamily="34" charset="-122"/>
                <a:cs typeface="Calibri" pitchFamily="34" charset="-120"/>
              </a:rPr>
              <a:t>How each measure was defined</a:t>
            </a:r>
            <a:endParaRPr lang="en-US" sz="1100" dirty="0"/>
          </a:p>
          <a:p>
            <a:pPr marL="342900" indent="-342900">
              <a:spcAft>
                <a:spcPts val="600"/>
              </a:spcAft>
              <a:buSzPct val="100000"/>
              <a:buChar char="•"/>
            </a:pPr>
            <a:r>
              <a:rPr lang="en-US" sz="1100" dirty="0">
                <a:solidFill>
                  <a:srgbClr val="33404F"/>
                </a:solidFill>
                <a:latin typeface="Calibri" pitchFamily="34" charset="0"/>
                <a:ea typeface="Calibri" pitchFamily="34" charset="-122"/>
                <a:cs typeface="Calibri" pitchFamily="34" charset="-120"/>
              </a:rPr>
              <a:t>Loss ratio, once premium data exists</a:t>
            </a:r>
            <a:endParaRPr lang="en-US" sz="1100" dirty="0"/>
          </a:p>
          <a:p>
            <a:pPr marL="342900" indent="-342900">
              <a:spcAft>
                <a:spcPts val="600"/>
              </a:spcAft>
              <a:buSzPct val="100000"/>
              <a:buChar char="•"/>
            </a:pPr>
            <a:r>
              <a:rPr lang="en-US" sz="1100" dirty="0">
                <a:solidFill>
                  <a:srgbClr val="33404F"/>
                </a:solidFill>
                <a:latin typeface="Calibri" pitchFamily="34" charset="0"/>
                <a:ea typeface="Calibri" pitchFamily="34" charset="-122"/>
                <a:cs typeface="Calibri" pitchFamily="34" charset="-120"/>
              </a:rPr>
              <a:t>Linking helpline effort to claims outcomes (the bonus productivity model)</a:t>
            </a:r>
            <a:endParaRPr lang="en-US" sz="1100" dirty="0"/>
          </a:p>
          <a:p>
            <a:pPr marL="342900" indent="-342900">
              <a:spcAft>
                <a:spcPts val="600"/>
              </a:spcAft>
              <a:buSzPct val="100000"/>
              <a:buChar char="•"/>
            </a:pPr>
            <a:r>
              <a:rPr lang="en-US" sz="1100" dirty="0">
                <a:solidFill>
                  <a:srgbClr val="33404F"/>
                </a:solidFill>
                <a:latin typeface="Calibri" pitchFamily="34" charset="0"/>
                <a:ea typeface="Calibri" pitchFamily="34" charset="-122"/>
                <a:cs typeface="Calibri" pitchFamily="34" charset="-120"/>
              </a:rPr>
              <a:t>Query plans for the SQL answers</a:t>
            </a:r>
            <a:endParaRPr lang="en-US" sz="1100" dirty="0"/>
          </a:p>
        </p:txBody>
      </p:sp>
      <p:sp>
        <p:nvSpPr>
          <p:cNvPr id="23" name="Shape 19"/>
          <p:cNvSpPr/>
          <p:nvPr/>
        </p:nvSpPr>
        <p:spPr>
          <a:xfrm>
            <a:off x="457200" y="5440680"/>
            <a:ext cx="11292840" cy="868680"/>
          </a:xfrm>
          <a:prstGeom prst="roundRect">
            <a:avLst>
              <a:gd name="adj" fmla="val 10526"/>
            </a:avLst>
          </a:prstGeom>
          <a:solidFill>
            <a:srgbClr val="203370"/>
          </a:solidFill>
          <a:ln w="12700">
            <a:solidFill>
              <a:srgbClr val="203370"/>
            </a:solidFill>
            <a:prstDash val="solid"/>
          </a:ln>
        </p:spPr>
        <p:txBody>
          <a:bodyPr/>
          <a:lstStyle/>
          <a:p>
            <a:endParaRPr lang="en-US"/>
          </a:p>
        </p:txBody>
      </p:sp>
      <p:sp>
        <p:nvSpPr>
          <p:cNvPr id="24" name="Text 20"/>
          <p:cNvSpPr txBox="1"/>
          <p:nvPr/>
        </p:nvSpPr>
        <p:spPr>
          <a:xfrm>
            <a:off x="685800" y="5440680"/>
            <a:ext cx="1088136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Thank you - Mahmoud Abdallah</a:t>
            </a:r>
          </a:p>
          <a:p>
            <a:pPr marL="0" indent="0" algn="ctr">
              <a:buNone/>
            </a:pPr>
            <a:r>
              <a:rPr lang="en-US" sz="1400" b="1" dirty="0">
                <a:solidFill>
                  <a:srgbClr val="FFFFFF"/>
                </a:solidFill>
                <a:latin typeface="Calibri" pitchFamily="34" charset="0"/>
                <a:ea typeface="Calibri" pitchFamily="34" charset="-122"/>
                <a:cs typeface="Calibri" pitchFamily="34" charset="-120"/>
              </a:rPr>
              <a:t>   Data Intelligence Reporting Specialist – IPMI</a:t>
            </a:r>
          </a:p>
          <a:p>
            <a:pPr marL="0" indent="0" algn="ctr">
              <a:buNone/>
            </a:pPr>
            <a:r>
              <a:rPr lang="en-US" sz="1400" b="1" dirty="0">
                <a:solidFill>
                  <a:srgbClr val="FFFFFF"/>
                </a:solidFill>
                <a:latin typeface="Calibri" pitchFamily="34" charset="0"/>
                <a:ea typeface="Calibri" pitchFamily="34" charset="-122"/>
                <a:cs typeface="Calibri" pitchFamily="34" charset="-120"/>
              </a:rPr>
              <a:t>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2816</TotalTime>
  <Words>11769</Words>
  <Application>Microsoft Office PowerPoint</Application>
  <PresentationFormat>Widescreen</PresentationFormat>
  <Paragraphs>553</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Panel Interview — Claims &amp; Helpline Dashboards</dc:title>
  <dc:subject>PptxGenJS Presentation</dc:subject>
  <dc:creator>Mahmoud Abdallah</dc:creator>
  <cp:lastModifiedBy>MAHMOUD ABDALLAH</cp:lastModifiedBy>
  <cp:revision>31</cp:revision>
  <dcterms:created xsi:type="dcterms:W3CDTF">2026-09-25T14:36:37Z</dcterms:created>
  <dcterms:modified xsi:type="dcterms:W3CDTF">2026-09-27T23:23:40Z</dcterms:modified>
</cp:coreProperties>
</file>