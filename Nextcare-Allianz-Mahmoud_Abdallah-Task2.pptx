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1DD7-86F1-C81C-FA80-04C80B6FF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7F971-390C-6546-84FD-A9CE85343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84013-ADB4-0027-BDB9-01CEA7F8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8F36-BECE-4F27-355B-54E9CE0E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B50B-6ED8-570E-3937-5D1A91FE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B356-1267-C9F5-F8E1-E8D67C0D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8D1DF-5448-7C71-8C80-128944A46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A579-865A-1E06-41EB-2840D170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D2B62-637D-ACEC-F763-D7F0109A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5B941-1E64-578D-9A5D-42A0CECF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9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03F8-CEB8-D02D-D7C0-3FECA25E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E5F11-EAFD-459C-0D45-3CAFE4945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271DB-C805-379F-BBB2-6C1F607E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6359F-0DB3-FC99-145B-A22C02CC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4DE2B-2BF7-0BDB-11DE-E9660750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8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12F6-9B39-1AA3-1E5F-FBD4B1A8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78C4-7642-C31A-1D35-5529BA1EA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D0A3D-7E82-4220-15E0-1809444E6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92AD8-D528-E139-7E9A-7B5F8561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4D0DF-B647-6765-D780-D19B2A6E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5E02D-84A6-FF4C-CDA2-5DA3EF2B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5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B703-7976-690A-4488-D31CE43A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0046B-55C0-7375-149F-E2BDF2814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0C4CB-4E05-53D3-E75C-75E6F5E38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6EAD0-D21E-6B7C-C128-DACD61C67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D6755-C9B9-3108-ED0D-27CAC698C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3D40B-BC56-21D5-DEFE-8F7307AB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6B06C-17A9-F068-44F2-5C2E61AF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8F7BC-7A7C-F175-1EE5-EBFA2EAE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8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8CC6-5584-FDB8-DE67-CD338C1A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7C03C-9A0A-B5E9-F213-A2997CB16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80935-9BFF-6270-DE96-DA75CB40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88256-AC9F-6397-E6B4-C82DB349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123D0-63D9-9D99-D86B-B4306B89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C9B82-D96A-FEAC-A897-9C2CAA6F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EECA2-724C-B837-A3BB-3F663CD0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1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61D4-BF71-9A44-ACF0-3F36F1CB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C90B5-0CF4-AA75-E875-FFD3C4D74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F1E77-9E76-FE3B-B9B4-88A6A08D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89F25-8FFF-88DD-988C-BC4518C3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C1EBA-CA4A-18D0-960A-11A6E016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D7B96-2552-C39B-26C9-8191AC77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4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33A5-642B-BC56-4B6E-D6FA8A3A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080F5-5159-5A0B-8F03-E50796068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6BAF6-8956-745C-2E4D-D028C63F5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B2CF6-9364-4FA7-09CB-76FDE34E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BAD71-AA53-E9FE-4978-00460123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4D5EA-243A-183B-A992-A652743E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3AEB-6DB2-3925-05F0-43ECFC76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19D11-A99B-6925-4D23-A0E27DB5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49D14-2970-2892-1656-AE10021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D3CA1-00C2-7E5F-DCFD-57DB5333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A3E0-C10C-9695-B81A-CD9B7CB0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3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177CA-BF13-073C-9E1D-DF4876A22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9D0BA-7D1E-8A86-7213-25DD1B8B0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DF36-6B19-D86F-F7D7-85F5850C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FF2E6-F2CD-B828-8C3B-07D8633A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CAEB6-5149-EAF6-DBCC-EF52F1B9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E00A1-B34C-493F-A1B8-E80DE8C2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DEAA8-A91C-1C8D-731F-1A350AE02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78609-15B4-E28D-61F4-6E2CA7BA5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320F0-B15E-B0B3-4375-3B56AB1B8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29A4D-E830-141E-0245-E9BC8AA5C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81DC6-05CB-13DC-7697-E3FFBD387D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" r="37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D718EF-092D-C4E6-A5D3-94A813A020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672" y="140874"/>
            <a:ext cx="2792479" cy="5933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883FB3F-C8E4-D95B-0462-DF7FBF5BE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69" y="41880"/>
            <a:ext cx="3007155" cy="918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131AE5-D051-65B0-7522-0CAA2BCD8B91}"/>
              </a:ext>
            </a:extLst>
          </p:cNvPr>
          <p:cNvSpPr txBox="1"/>
          <p:nvPr/>
        </p:nvSpPr>
        <p:spPr>
          <a:xfrm>
            <a:off x="4146211" y="734187"/>
            <a:ext cx="337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Helpline 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1C8D9-620D-6BAE-3A58-76FA8AC478B7}"/>
              </a:ext>
            </a:extLst>
          </p:cNvPr>
          <p:cNvSpPr txBox="1"/>
          <p:nvPr/>
        </p:nvSpPr>
        <p:spPr>
          <a:xfrm>
            <a:off x="167523" y="1207566"/>
            <a:ext cx="1184262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3"/>
                </a:solidFill>
              </a:rPr>
              <a:t>We handled 37K calls in nine days. </a:t>
            </a:r>
            <a:br>
              <a:rPr lang="en-US" sz="2500" dirty="0">
                <a:solidFill>
                  <a:schemeClr val="accent3"/>
                </a:solidFill>
              </a:rPr>
            </a:br>
            <a:r>
              <a:rPr lang="en-US" sz="2500" dirty="0">
                <a:solidFill>
                  <a:schemeClr val="accent3"/>
                </a:solidFill>
              </a:rPr>
              <a:t>One in five callers hung up before we answered  and it's worse than it looks, because it's not spread evenly.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67F6A-652F-2BB0-E960-A10FC8650D51}"/>
              </a:ext>
            </a:extLst>
          </p:cNvPr>
          <p:cNvSpPr txBox="1"/>
          <p:nvPr/>
        </p:nvSpPr>
        <p:spPr>
          <a:xfrm>
            <a:off x="279569" y="2628562"/>
            <a:ext cx="90012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Abandonment triples late in the day.</a:t>
            </a:r>
            <a:r>
              <a:rPr lang="en-US" dirty="0"/>
              <a:t> Around 20% during business hours, climbing to </a:t>
            </a:r>
            <a:r>
              <a:rPr lang="en-US" b="1" dirty="0"/>
              <a:t>43% by 11pm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This is a staffing timing problem, not a staffing size problem.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Mondays are almost double any other day</a:t>
            </a:r>
            <a:r>
              <a:rPr lang="en-US" dirty="0"/>
              <a:t> 9,500 calls versus roughly 4,000 to 5,000 the rest of the week.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Nearly all our volume comes through one line.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Hotline #1 </a:t>
            </a:r>
            <a:r>
              <a:rPr lang="en-US" dirty="0"/>
              <a:t>carries 83% of every call we get; that's where monitoring and resourcing should be focused.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When we do answer, service is fine.</a:t>
            </a:r>
            <a:r>
              <a:rPr lang="en-US" dirty="0"/>
              <a:t> 42 seconds average wait, about 3.5 minutes to resolve the problem is entirely upstream, in coverage, not in how agents handle the call once connected.</a:t>
            </a:r>
          </a:p>
        </p:txBody>
      </p:sp>
    </p:spTree>
    <p:extLst>
      <p:ext uri="{BB962C8B-B14F-4D97-AF65-F5344CB8AC3E}">
        <p14:creationId xmlns:p14="http://schemas.microsoft.com/office/powerpoint/2010/main" val="301394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0264C-06BB-EAA0-5DB7-BB030D21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FF7945-5883-B674-EE0B-194069857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5544F-CA87-C9D9-A603-CAD1787184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" r="37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E90DA-7F4E-2F1A-B802-657B6F2E70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672" y="140874"/>
            <a:ext cx="2792479" cy="5933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6AE0039-A148-2709-F22F-9F002BDAD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69" y="41880"/>
            <a:ext cx="3007155" cy="918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EEEAC-F735-39DE-1778-CE96125ABE9D}"/>
              </a:ext>
            </a:extLst>
          </p:cNvPr>
          <p:cNvSpPr txBox="1"/>
          <p:nvPr/>
        </p:nvSpPr>
        <p:spPr>
          <a:xfrm>
            <a:off x="4146211" y="734187"/>
            <a:ext cx="337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8B4B1D-DD81-DA73-D532-C4A59EE87A1C}"/>
              </a:ext>
            </a:extLst>
          </p:cNvPr>
          <p:cNvSpPr txBox="1"/>
          <p:nvPr/>
        </p:nvSpPr>
        <p:spPr>
          <a:xfrm>
            <a:off x="279569" y="4363599"/>
            <a:ext cx="90990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Same team, same skill just point more of them at the hours we're actually losing callers.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06A2A-B396-D2B2-1D30-13EE4E1EC891}"/>
              </a:ext>
            </a:extLst>
          </p:cNvPr>
          <p:cNvSpPr txBox="1"/>
          <p:nvPr/>
        </p:nvSpPr>
        <p:spPr>
          <a:xfrm>
            <a:off x="265246" y="2010284"/>
            <a:ext cx="9001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Shift some staff coverage into the evening window.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coverage on Mondays specifically.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Keep </a:t>
            </a:r>
            <a:r>
              <a:rPr lang="en-US" b="1" dirty="0"/>
              <a:t>Hotline #1 </a:t>
            </a:r>
            <a:r>
              <a:rPr lang="en-US" dirty="0"/>
              <a:t>as the priority for any staffing or system investment.</a:t>
            </a:r>
          </a:p>
        </p:txBody>
      </p:sp>
    </p:spTree>
    <p:extLst>
      <p:ext uri="{BB962C8B-B14F-4D97-AF65-F5344CB8AC3E}">
        <p14:creationId xmlns:p14="http://schemas.microsoft.com/office/powerpoint/2010/main" val="138430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ABDALLAH</dc:creator>
  <cp:lastModifiedBy>MAHMOUD ABDALLAH</cp:lastModifiedBy>
  <cp:revision>2</cp:revision>
  <dcterms:created xsi:type="dcterms:W3CDTF">2026-09-20T06:50:09Z</dcterms:created>
  <dcterms:modified xsi:type="dcterms:W3CDTF">2026-09-20T07:50:52Z</dcterms:modified>
</cp:coreProperties>
</file>